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B12"/>
        </a:solidFill>
      </p:bgPr>
    </p:bg>
    <p:spTree>
      <p:nvGrpSpPr>
        <p:cNvPr id="1" name=""/>
        <p:cNvGrpSpPr/>
        <p:nvPr/>
      </p:nvGrpSpPr>
      <p:grpSpPr>
        <a:xfrm>
          <a:off x="0" y="0"/>
          <a:ext cx="0" cy="0"/>
          <a:chOff x="0" y="0"/>
          <a:chExt cx="0" cy="0"/>
        </a:xfrm>
      </p:grpSpPr>
      <p:sp>
        <p:nvSpPr>
          <p:cNvPr id="2" name="Shape 0"/>
          <p:cNvSpPr/>
          <p:nvPr/>
        </p:nvSpPr>
        <p:spPr>
          <a:xfrm>
            <a:off x="731520" y="411480"/>
            <a:ext cx="7680960" cy="27432"/>
          </a:xfrm>
          <a:prstGeom prst="rect">
            <a:avLst/>
          </a:prstGeom>
          <a:solidFill>
            <a:srgbClr val="F59E0B"/>
          </a:solidFill>
          <a:ln/>
        </p:spPr>
      </p:sp>
      <p:sp>
        <p:nvSpPr>
          <p:cNvPr id="3" name="Text 1"/>
          <p:cNvSpPr/>
          <p:nvPr/>
        </p:nvSpPr>
        <p:spPr>
          <a:xfrm>
            <a:off x="731520" y="548640"/>
            <a:ext cx="4572000" cy="228600"/>
          </a:xfrm>
          <a:prstGeom prst="rect">
            <a:avLst/>
          </a:prstGeom>
          <a:noFill/>
          <a:ln/>
        </p:spPr>
        <p:txBody>
          <a:bodyPr wrap="square" rtlCol="0" anchor="ctr"/>
          <a:lstStyle/>
          <a:p>
            <a:pPr indent="0" marL="0">
              <a:buNone/>
            </a:pPr>
            <a:r>
              <a:rPr lang="en-US" sz="850" b="1" dirty="0">
                <a:solidFill>
                  <a:srgbClr val="38BDF8"/>
                </a:solidFill>
                <a:latin typeface="Segoe UI" pitchFamily="34" charset="0"/>
                <a:ea typeface="Segoe UI" pitchFamily="34" charset="-122"/>
                <a:cs typeface="Segoe UI" pitchFamily="34" charset="-120"/>
              </a:rPr>
              <a:t>NEO GEN TECHNOLOGIES  •  CREATIVE &amp; 2D ANIMATION DIVISION</a:t>
            </a:r>
            <a:endParaRPr lang="en-US" sz="850" dirty="0"/>
          </a:p>
        </p:txBody>
      </p:sp>
      <p:sp>
        <p:nvSpPr>
          <p:cNvPr id="4" name="Text 2"/>
          <p:cNvSpPr/>
          <p:nvPr/>
        </p:nvSpPr>
        <p:spPr>
          <a:xfrm>
            <a:off x="4389120" y="548640"/>
            <a:ext cx="4023360" cy="228600"/>
          </a:xfrm>
          <a:prstGeom prst="rect">
            <a:avLst/>
          </a:prstGeom>
          <a:noFill/>
          <a:ln/>
        </p:spPr>
        <p:txBody>
          <a:bodyPr wrap="square" rtlCol="0" anchor="ctr"/>
          <a:lstStyle/>
          <a:p>
            <a:pPr algn="r" indent="0" marL="0">
              <a:buNone/>
            </a:pPr>
            <a:r>
              <a:rPr lang="en-US" sz="850" b="1" dirty="0">
                <a:solidFill>
                  <a:srgbClr val="FBBF24"/>
                </a:solidFill>
                <a:latin typeface="Segoe UI" pitchFamily="34" charset="0"/>
                <a:ea typeface="Segoe UI" pitchFamily="34" charset="-122"/>
                <a:cs typeface="Segoe UI" pitchFamily="34" charset="-120"/>
              </a:rPr>
              <a:t>CONFIDENTIAL MASTER PROPOSAL  |  NGT-SOW-2026-ROCKY-V1</a:t>
            </a:r>
            <a:endParaRPr lang="en-US" sz="850" dirty="0"/>
          </a:p>
        </p:txBody>
      </p:sp>
      <p:sp>
        <p:nvSpPr>
          <p:cNvPr id="5" name="Text 3"/>
          <p:cNvSpPr/>
          <p:nvPr/>
        </p:nvSpPr>
        <p:spPr>
          <a:xfrm>
            <a:off x="731520" y="1143000"/>
            <a:ext cx="4754880" cy="274320"/>
          </a:xfrm>
          <a:prstGeom prst="rect">
            <a:avLst/>
          </a:prstGeom>
          <a:noFill/>
          <a:ln/>
        </p:spPr>
        <p:txBody>
          <a:bodyPr wrap="square" rtlCol="0" anchor="ctr"/>
          <a:lstStyle/>
          <a:p>
            <a:pPr indent="0" marL="0">
              <a:buNone/>
            </a:pPr>
            <a:r>
              <a:rPr lang="en-US" sz="1200" b="1" dirty="0">
                <a:solidFill>
                  <a:srgbClr val="38BDF8"/>
                </a:solidFill>
                <a:latin typeface="Segoe UI" pitchFamily="34" charset="0"/>
                <a:ea typeface="Segoe UI" pitchFamily="34" charset="-122"/>
                <a:cs typeface="Segoe UI" pitchFamily="34" charset="-120"/>
              </a:rPr>
              <a:t>Official Scope of Work &amp; Production Agreement</a:t>
            </a:r>
            <a:endParaRPr lang="en-US" sz="1200" dirty="0"/>
          </a:p>
        </p:txBody>
      </p:sp>
      <p:sp>
        <p:nvSpPr>
          <p:cNvPr id="6" name="Text 4"/>
          <p:cNvSpPr/>
          <p:nvPr/>
        </p:nvSpPr>
        <p:spPr>
          <a:xfrm>
            <a:off x="731520" y="1417320"/>
            <a:ext cx="4754880" cy="731520"/>
          </a:xfrm>
          <a:prstGeom prst="rect">
            <a:avLst/>
          </a:prstGeom>
          <a:noFill/>
          <a:ln/>
        </p:spPr>
        <p:txBody>
          <a:bodyPr wrap="square" rtlCol="0" anchor="t"/>
          <a:lstStyle/>
          <a:p>
            <a:pPr indent="0" marL="0">
              <a:buNone/>
            </a:pPr>
            <a:r>
              <a:rPr lang="en-US" sz="2200" b="1" dirty="0">
                <a:solidFill>
                  <a:srgbClr val="FBBF24"/>
                </a:solidFill>
                <a:latin typeface="Segoe UI" pitchFamily="34" charset="0"/>
                <a:ea typeface="Segoe UI" pitchFamily="34" charset="-122"/>
                <a:cs typeface="Segoe UI" pitchFamily="34" charset="-120"/>
              </a:rPr>
              <a:t>ROCKY: THE ROCKEFELLER CHRISTMAS TREE</a:t>
            </a:r>
            <a:endParaRPr lang="en-US" sz="2200" dirty="0"/>
          </a:p>
        </p:txBody>
      </p:sp>
      <p:sp>
        <p:nvSpPr>
          <p:cNvPr id="7" name="Text 5"/>
          <p:cNvSpPr/>
          <p:nvPr/>
        </p:nvSpPr>
        <p:spPr>
          <a:xfrm>
            <a:off x="731520" y="2148840"/>
            <a:ext cx="4754880" cy="32004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2D Animated Master Movie &amp; 10 Viral Highlights Series Adaptation</a:t>
            </a:r>
            <a:endParaRPr lang="en-US" sz="1100" dirty="0"/>
          </a:p>
        </p:txBody>
      </p:sp>
      <p:sp>
        <p:nvSpPr>
          <p:cNvPr id="8" name="Text 6"/>
          <p:cNvSpPr/>
          <p:nvPr/>
        </p:nvSpPr>
        <p:spPr>
          <a:xfrm>
            <a:off x="731520" y="2514600"/>
            <a:ext cx="4572000" cy="868680"/>
          </a:xfrm>
          <a:prstGeom prst="rect">
            <a:avLst/>
          </a:prstGeom>
          <a:noFill/>
          <a:ln/>
        </p:spPr>
        <p:txBody>
          <a:bodyPr wrap="square" rtlCol="0" anchor="t"/>
          <a:lstStyle/>
          <a:p>
            <a:pPr indent="0" marL="0">
              <a:lnSpc>
                <a:spcPct val="125000"/>
              </a:lnSpc>
              <a:buNone/>
            </a:pPr>
            <a:r>
              <a:rPr lang="en-US" sz="900" dirty="0">
                <a:solidFill>
                  <a:srgbClr val="CBD5E1"/>
                </a:solidFill>
                <a:latin typeface="Segoe UI" pitchFamily="34" charset="0"/>
                <a:ea typeface="Segoe UI" pitchFamily="34" charset="-122"/>
                <a:cs typeface="Segoe UI" pitchFamily="34" charset="-120"/>
              </a:rPr>
              <a:t>A comprehensive broadcast-grade production and digital distribution plan engineered by Neo Gen Technologies for creator and screenwriter Jennie E. Nicassio. Delivering 16:9 Cinema 4K animation, high-retention 9:16 vertical series adaptation, dedicated 6-actor voice cast, bespoke sound design, and turnkey YouTube channel management.</a:t>
            </a:r>
            <a:endParaRPr lang="en-US" sz="900" dirty="0"/>
          </a:p>
        </p:txBody>
      </p:sp>
      <p:sp>
        <p:nvSpPr>
          <p:cNvPr id="9" name="Shape 7"/>
          <p:cNvSpPr/>
          <p:nvPr/>
        </p:nvSpPr>
        <p:spPr>
          <a:xfrm>
            <a:off x="731520" y="3520440"/>
            <a:ext cx="4572000" cy="1234440"/>
          </a:xfrm>
          <a:prstGeom prst="roundRect">
            <a:avLst/>
          </a:prstGeom>
          <a:solidFill>
            <a:srgbClr val="0D1524"/>
          </a:solidFill>
          <a:ln w="12700">
            <a:solidFill>
              <a:srgbClr val="24334C"/>
            </a:solidFill>
            <a:prstDash val="solid"/>
          </a:ln>
        </p:spPr>
      </p:sp>
      <p:sp>
        <p:nvSpPr>
          <p:cNvPr id="10" name="Text 8"/>
          <p:cNvSpPr/>
          <p:nvPr/>
        </p:nvSpPr>
        <p:spPr>
          <a:xfrm>
            <a:off x="914400" y="3611880"/>
            <a:ext cx="4206240" cy="1051560"/>
          </a:xfrm>
          <a:prstGeom prst="rect">
            <a:avLst/>
          </a:prstGeom>
          <a:noFill/>
          <a:ln/>
        </p:spPr>
        <p:txBody>
          <a:bodyPr wrap="square" rtlCol="0" anchor="ctr"/>
          <a:lstStyle/>
          <a:p>
            <a:pPr indent="0" marL="0">
              <a:lnSpc>
                <a:spcPct val="125000"/>
              </a:lnSpc>
              <a:buNone/>
            </a:pPr>
            <a:r>
              <a:rPr lang="en-US" sz="850" b="1" dirty="0">
                <a:solidFill>
                  <a:srgbClr val="FFFFFF"/>
                </a:solidFill>
                <a:latin typeface="Segoe UI" pitchFamily="34" charset="0"/>
                <a:ea typeface="Segoe UI" pitchFamily="34" charset="-122"/>
                <a:cs typeface="Segoe UI" pitchFamily="34" charset="-120"/>
              </a:rPr>
              <a:t>IP Creator &amp; Client: </a:t>
            </a:r>
            <a:pPr indent="0" marL="0">
              <a:lnSpc>
                <a:spcPct val="125000"/>
              </a:lnSpc>
              <a:buNone/>
            </a:pPr>
            <a:r>
              <a:rPr lang="en-US" sz="850" dirty="0">
                <a:solidFill>
                  <a:srgbClr val="FDE68A"/>
                </a:solidFill>
                <a:latin typeface="Segoe UI" pitchFamily="34" charset="0"/>
                <a:ea typeface="Segoe UI" pitchFamily="34" charset="-122"/>
                <a:cs typeface="Segoe UI" pitchFamily="34" charset="-120"/>
              </a:rPr>
              <a:t>Jennie E. Nicassio (Author, Creator &amp; Screenwriter)
</a:t>
            </a:r>
            <a:pPr indent="0" marL="0">
              <a:lnSpc>
                <a:spcPct val="125000"/>
              </a:lnSpc>
              <a:buNone/>
            </a:pPr>
            <a:r>
              <a:rPr lang="en-US" sz="850" b="1" dirty="0">
                <a:solidFill>
                  <a:srgbClr val="FFFFFF"/>
                </a:solidFill>
                <a:latin typeface="Segoe UI" pitchFamily="34" charset="0"/>
                <a:ea typeface="Segoe UI" pitchFamily="34" charset="-122"/>
                <a:cs typeface="Segoe UI" pitchFamily="34" charset="-120"/>
              </a:rPr>
              <a:t>Book Title: </a:t>
            </a:r>
            <a:pPr indent="0" marL="0">
              <a:lnSpc>
                <a:spcPct val="125000"/>
              </a:lnSpc>
              <a:buNone/>
            </a:pPr>
            <a:r>
              <a:rPr lang="en-US" sz="850" dirty="0">
                <a:solidFill>
                  <a:srgbClr val="CBD5E1"/>
                </a:solidFill>
                <a:latin typeface="Segoe UI" pitchFamily="34" charset="0"/>
                <a:ea typeface="Segoe UI" pitchFamily="34" charset="-122"/>
                <a:cs typeface="Segoe UI" pitchFamily="34" charset="-120"/>
              </a:rPr>
              <a:t>Rocky: The Rockefeller Christmas Tree (ISBN 979-8-218-55830-7)
</a:t>
            </a:r>
            <a:pPr indent="0" marL="0">
              <a:lnSpc>
                <a:spcPct val="125000"/>
              </a:lnSpc>
              <a:buNone/>
            </a:pPr>
            <a:r>
              <a:rPr lang="en-US" sz="850" b="1" dirty="0">
                <a:solidFill>
                  <a:srgbClr val="FFFFFF"/>
                </a:solidFill>
                <a:latin typeface="Segoe UI" pitchFamily="34" charset="0"/>
                <a:ea typeface="Segoe UI" pitchFamily="34" charset="-122"/>
                <a:cs typeface="Segoe UI" pitchFamily="34" charset="-120"/>
              </a:rPr>
              <a:t>Production Agency: </a:t>
            </a:r>
            <a:pPr indent="0" marL="0">
              <a:lnSpc>
                <a:spcPct val="125000"/>
              </a:lnSpc>
              <a:buNone/>
            </a:pPr>
            <a:r>
              <a:rPr lang="en-US" sz="850" dirty="0">
                <a:solidFill>
                  <a:srgbClr val="38BDF8"/>
                </a:solidFill>
                <a:latin typeface="Segoe UI" pitchFamily="34" charset="0"/>
                <a:ea typeface="Segoe UI" pitchFamily="34" charset="-122"/>
                <a:cs typeface="Segoe UI" pitchFamily="34" charset="-120"/>
              </a:rPr>
              <a:t>Neo Gen Technologies
</a:t>
            </a:r>
            <a:pPr indent="0" marL="0">
              <a:lnSpc>
                <a:spcPct val="125000"/>
              </a:lnSpc>
              <a:buNone/>
            </a:pPr>
            <a:r>
              <a:rPr lang="en-US" sz="850" b="1" dirty="0">
                <a:solidFill>
                  <a:srgbClr val="FFFFFF"/>
                </a:solidFill>
                <a:latin typeface="Segoe UI" pitchFamily="34" charset="0"/>
                <a:ea typeface="Segoe UI" pitchFamily="34" charset="-122"/>
                <a:cs typeface="Segoe UI" pitchFamily="34" charset="-120"/>
              </a:rPr>
              <a:t>Executive Producer &amp; AM: </a:t>
            </a:r>
            <a:pPr indent="0" marL="0">
              <a:lnSpc>
                <a:spcPct val="125000"/>
              </a:lnSpc>
              <a:buNone/>
            </a:pPr>
            <a:r>
              <a:rPr lang="en-US" sz="850" dirty="0">
                <a:solidFill>
                  <a:srgbClr val="FFFFFF"/>
                </a:solidFill>
                <a:latin typeface="Segoe UI" pitchFamily="34" charset="0"/>
                <a:ea typeface="Segoe UI" pitchFamily="34" charset="-122"/>
                <a:cs typeface="Segoe UI" pitchFamily="34" charset="-120"/>
              </a:rPr>
              <a:t>Ayaz (ayaz@neogentechnologies.com)</a:t>
            </a:r>
            <a:endParaRPr lang="en-US" sz="850" dirty="0"/>
          </a:p>
        </p:txBody>
      </p:sp>
      <p:sp>
        <p:nvSpPr>
          <p:cNvPr id="11" name="Shape 9"/>
          <p:cNvSpPr/>
          <p:nvPr/>
        </p:nvSpPr>
        <p:spPr>
          <a:xfrm>
            <a:off x="5577840" y="1143000"/>
            <a:ext cx="2834640" cy="3611880"/>
          </a:xfrm>
          <a:prstGeom prst="roundRect">
            <a:avLst/>
          </a:prstGeom>
          <a:solidFill>
            <a:srgbClr val="0D1524"/>
          </a:solidFill>
          <a:ln w="19050">
            <a:solidFill>
              <a:srgbClr val="F59E0B"/>
            </a:solidFill>
            <a:prstDash val="solid"/>
          </a:ln>
        </p:spPr>
      </p:sp>
      <p:pic>
        <p:nvPicPr>
          <p:cNvPr id="12" name="Image 0" descr="D:\Projects\Rocky-The Rockefeller Christmas Tree\assets\rocky_cover_title_clean.png">    </p:cNvPr>
          <p:cNvPicPr>
            <a:picLocks noChangeAspect="1"/>
          </p:cNvPicPr>
          <p:nvPr/>
        </p:nvPicPr>
        <p:blipFill>
          <a:blip r:embed="rId1"/>
          <a:srcRect l="0" r="0" t="0" b="0"/>
          <a:stretch/>
        </p:blipFill>
        <p:spPr>
          <a:xfrm>
            <a:off x="5760720" y="1325880"/>
            <a:ext cx="2468880" cy="594360"/>
          </a:xfrm>
          <a:prstGeom prst="rect">
            <a:avLst/>
          </a:prstGeom>
        </p:spPr>
      </p:pic>
      <p:pic>
        <p:nvPicPr>
          <p:cNvPr id="13" name="Image 1" descr="D:\Projects\Rocky-The Rockefeller Christmas Tree\assets\rocky_front_cover.png">    </p:cNvPr>
          <p:cNvPicPr>
            <a:picLocks noChangeAspect="1"/>
          </p:cNvPicPr>
          <p:nvPr/>
        </p:nvPicPr>
        <p:blipFill>
          <a:blip r:embed="rId2"/>
          <a:srcRect l="0" r="0" t="0" b="0"/>
          <a:stretch/>
        </p:blipFill>
        <p:spPr>
          <a:xfrm>
            <a:off x="5715000" y="2057400"/>
            <a:ext cx="1234440" cy="2011680"/>
          </a:xfrm>
          <a:prstGeom prst="rect">
            <a:avLst/>
          </a:prstGeom>
        </p:spPr>
      </p:pic>
      <p:pic>
        <p:nvPicPr>
          <p:cNvPr id="14" name="Image 2" descr="D:\Projects\Rocky-The Rockefeller Christmas Tree\assets\rocky_character_spotlight.png">    </p:cNvPr>
          <p:cNvPicPr>
            <a:picLocks noChangeAspect="1"/>
          </p:cNvPicPr>
          <p:nvPr/>
        </p:nvPicPr>
        <p:blipFill>
          <a:blip r:embed="rId3"/>
          <a:srcRect l="0" r="0" t="0" b="0"/>
          <a:stretch/>
        </p:blipFill>
        <p:spPr>
          <a:xfrm>
            <a:off x="7040880" y="2057400"/>
            <a:ext cx="1234440" cy="2011680"/>
          </a:xfrm>
          <a:prstGeom prst="rect">
            <a:avLst/>
          </a:prstGeom>
        </p:spPr>
      </p:pic>
      <p:sp>
        <p:nvSpPr>
          <p:cNvPr id="15" name="Text 10"/>
          <p:cNvSpPr/>
          <p:nvPr/>
        </p:nvSpPr>
        <p:spPr>
          <a:xfrm>
            <a:off x="5577840" y="4343400"/>
            <a:ext cx="2834640" cy="228600"/>
          </a:xfrm>
          <a:prstGeom prst="rect">
            <a:avLst/>
          </a:prstGeom>
          <a:noFill/>
          <a:ln/>
        </p:spPr>
        <p:txBody>
          <a:bodyPr wrap="square" rtlCol="0" anchor="ctr"/>
          <a:lstStyle/>
          <a:p>
            <a:pPr algn="ctr" indent="0" marL="0">
              <a:buNone/>
            </a:pPr>
            <a:r>
              <a:rPr lang="en-US" sz="750" b="1" dirty="0">
                <a:solidFill>
                  <a:srgbClr val="94A3B8"/>
                </a:solidFill>
                <a:latin typeface="Segoe UI" pitchFamily="34" charset="0"/>
                <a:ea typeface="Segoe UI" pitchFamily="34" charset="-122"/>
                <a:cs typeface="Segoe UI" pitchFamily="34" charset="-120"/>
              </a:rPr>
              <a:t>Original Published Book IP &amp; Official Proofs</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B12"/>
        </a:solidFill>
      </p:bgPr>
    </p:bg>
    <p:spTree>
      <p:nvGrpSpPr>
        <p:cNvPr id="1" name=""/>
        <p:cNvGrpSpPr/>
        <p:nvPr/>
      </p:nvGrpSpPr>
      <p:grpSpPr>
        <a:xfrm>
          <a:off x="0" y="0"/>
          <a:ext cx="0" cy="0"/>
          <a:chOff x="0" y="0"/>
          <a:chExt cx="0" cy="0"/>
        </a:xfrm>
      </p:grpSpPr>
      <p:sp>
        <p:nvSpPr>
          <p:cNvPr id="2" name="Shape 0"/>
          <p:cNvSpPr/>
          <p:nvPr/>
        </p:nvSpPr>
        <p:spPr>
          <a:xfrm>
            <a:off x="548640" y="320040"/>
            <a:ext cx="8046720" cy="13716"/>
          </a:xfrm>
          <a:prstGeom prst="rect">
            <a:avLst/>
          </a:prstGeom>
          <a:solidFill>
            <a:srgbClr val="24334C"/>
          </a:solidFill>
          <a:ln/>
        </p:spPr>
      </p:sp>
      <p:sp>
        <p:nvSpPr>
          <p:cNvPr id="3" name="Text 1"/>
          <p:cNvSpPr/>
          <p:nvPr/>
        </p:nvSpPr>
        <p:spPr>
          <a:xfrm>
            <a:off x="548640" y="384048"/>
            <a:ext cx="6217920" cy="201168"/>
          </a:xfrm>
          <a:prstGeom prst="rect">
            <a:avLst/>
          </a:prstGeom>
          <a:noFill/>
          <a:ln/>
        </p:spPr>
        <p:txBody>
          <a:bodyPr wrap="square" rtlCol="0" anchor="ctr"/>
          <a:lstStyle/>
          <a:p>
            <a:pPr indent="0" marL="0">
              <a:buNone/>
            </a:pPr>
            <a:r>
              <a:rPr lang="en-US" sz="800" b="1" dirty="0">
                <a:solidFill>
                  <a:srgbClr val="38BDF8"/>
                </a:solidFill>
                <a:latin typeface="Segoe UI" pitchFamily="34" charset="0"/>
                <a:ea typeface="Segoe UI" pitchFamily="34" charset="-122"/>
                <a:cs typeface="Segoe UI" pitchFamily="34" charset="-120"/>
              </a:rPr>
              <a:t>EXECUTIVE BRIEF &amp; PARTNERSHIP MEMORANDUM</a:t>
            </a:r>
            <a:endParaRPr lang="en-US" sz="800" dirty="0"/>
          </a:p>
        </p:txBody>
      </p:sp>
      <p:sp>
        <p:nvSpPr>
          <p:cNvPr id="4" name="Text 2"/>
          <p:cNvSpPr/>
          <p:nvPr/>
        </p:nvSpPr>
        <p:spPr>
          <a:xfrm>
            <a:off x="548640" y="621792"/>
            <a:ext cx="6583680" cy="411480"/>
          </a:xfrm>
          <a:prstGeom prst="rect">
            <a:avLst/>
          </a:prstGeom>
          <a:noFill/>
          <a:ln/>
        </p:spPr>
        <p:txBody>
          <a:bodyPr wrap="square"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Strategic Vision: From Book to Global Holiday Classic</a:t>
            </a:r>
            <a:endParaRPr lang="en-US" sz="1700" dirty="0"/>
          </a:p>
        </p:txBody>
      </p:sp>
      <p:sp>
        <p:nvSpPr>
          <p:cNvPr id="5" name="Shape 3"/>
          <p:cNvSpPr/>
          <p:nvPr/>
        </p:nvSpPr>
        <p:spPr>
          <a:xfrm>
            <a:off x="7132320" y="411480"/>
            <a:ext cx="1463040" cy="292608"/>
          </a:xfrm>
          <a:prstGeom prst="roundRect">
            <a:avLst/>
          </a:prstGeom>
          <a:solidFill>
            <a:srgbClr val="0D1524"/>
          </a:solidFill>
          <a:ln w="12700">
            <a:solidFill>
              <a:srgbClr val="24334C"/>
            </a:solidFill>
            <a:prstDash val="solid"/>
          </a:ln>
        </p:spPr>
      </p:sp>
      <p:sp>
        <p:nvSpPr>
          <p:cNvPr id="6" name="Text 4"/>
          <p:cNvSpPr/>
          <p:nvPr/>
        </p:nvSpPr>
        <p:spPr>
          <a:xfrm>
            <a:off x="7132320" y="411480"/>
            <a:ext cx="1463040" cy="292608"/>
          </a:xfrm>
          <a:prstGeom prst="rect">
            <a:avLst/>
          </a:prstGeom>
          <a:noFill/>
          <a:ln/>
        </p:spPr>
        <p:txBody>
          <a:bodyPr wrap="square" rtlCol="0" anchor="ctr"/>
          <a:lstStyle/>
          <a:p>
            <a:pPr algn="ctr" indent="0" marL="0">
              <a:buNone/>
            </a:pPr>
            <a:r>
              <a:rPr lang="en-US" sz="750" b="1" dirty="0">
                <a:solidFill>
                  <a:srgbClr val="FBBF24"/>
                </a:solidFill>
                <a:latin typeface="Segoe UI" pitchFamily="34" charset="0"/>
                <a:ea typeface="Segoe UI" pitchFamily="34" charset="-122"/>
                <a:cs typeface="Segoe UI" pitchFamily="34" charset="-120"/>
              </a:rPr>
              <a:t>NEO GEN STUDIOS</a:t>
            </a:r>
            <a:endParaRPr lang="en-US" sz="750" dirty="0"/>
          </a:p>
        </p:txBody>
      </p:sp>
      <p:sp>
        <p:nvSpPr>
          <p:cNvPr id="7" name="Text 5"/>
          <p:cNvSpPr/>
          <p:nvPr/>
        </p:nvSpPr>
        <p:spPr>
          <a:xfrm>
            <a:off x="548640" y="4864608"/>
            <a:ext cx="8046720" cy="182880"/>
          </a:xfrm>
          <a:prstGeom prst="rect">
            <a:avLst/>
          </a:prstGeom>
          <a:noFill/>
          <a:ln/>
        </p:spPr>
        <p:txBody>
          <a:bodyPr wrap="square" rtlCol="0" anchor="ctr"/>
          <a:lstStyle/>
          <a:p>
            <a:pPr indent="0" marL="0">
              <a:buNone/>
            </a:pPr>
            <a:r>
              <a:rPr lang="en-US" sz="750" dirty="0">
                <a:solidFill>
                  <a:srgbClr val="94A3B8"/>
                </a:solidFill>
                <a:latin typeface="Segoe UI" pitchFamily="34" charset="0"/>
                <a:ea typeface="Segoe UI" pitchFamily="34" charset="-122"/>
                <a:cs typeface="Segoe UI" pitchFamily="34" charset="-120"/>
              </a:rPr>
              <a:t>NEO GEN TECHNOLOGIES  |  ROCKY: THE ROCKEFELLER CHRISTMAS TREE  |  EXECUTIVE SOW  |  SLIDE 2</a:t>
            </a:r>
            <a:endParaRPr lang="en-US" sz="750" dirty="0"/>
          </a:p>
        </p:txBody>
      </p:sp>
      <p:sp>
        <p:nvSpPr>
          <p:cNvPr id="8" name="Shape 6"/>
          <p:cNvSpPr/>
          <p:nvPr/>
        </p:nvSpPr>
        <p:spPr>
          <a:xfrm>
            <a:off x="548640" y="1234440"/>
            <a:ext cx="2606040" cy="3474720"/>
          </a:xfrm>
          <a:prstGeom prst="roundRect">
            <a:avLst/>
          </a:prstGeom>
          <a:solidFill>
            <a:srgbClr val="0D1524"/>
          </a:solidFill>
          <a:ln w="19050">
            <a:solidFill>
              <a:srgbClr val="F59E0B"/>
            </a:solidFill>
            <a:prstDash val="solid"/>
          </a:ln>
        </p:spPr>
      </p:sp>
      <p:sp>
        <p:nvSpPr>
          <p:cNvPr id="9" name="Shape 7"/>
          <p:cNvSpPr/>
          <p:nvPr/>
        </p:nvSpPr>
        <p:spPr>
          <a:xfrm>
            <a:off x="685800" y="1380744"/>
            <a:ext cx="2331720" cy="256032"/>
          </a:xfrm>
          <a:prstGeom prst="roundRect">
            <a:avLst/>
          </a:prstGeom>
          <a:solidFill>
            <a:srgbClr val="1E1708"/>
          </a:solidFill>
          <a:ln w="10160">
            <a:solidFill>
              <a:srgbClr val="F59E0B"/>
            </a:solidFill>
            <a:prstDash val="solid"/>
          </a:ln>
        </p:spPr>
      </p:sp>
      <p:sp>
        <p:nvSpPr>
          <p:cNvPr id="10" name="Text 8"/>
          <p:cNvSpPr/>
          <p:nvPr/>
        </p:nvSpPr>
        <p:spPr>
          <a:xfrm>
            <a:off x="685800" y="1380744"/>
            <a:ext cx="2331720" cy="256032"/>
          </a:xfrm>
          <a:prstGeom prst="rect">
            <a:avLst/>
          </a:prstGeom>
          <a:noFill/>
          <a:ln/>
        </p:spPr>
        <p:txBody>
          <a:bodyPr wrap="square" rtlCol="0" anchor="ctr"/>
          <a:lstStyle/>
          <a:p>
            <a:pPr algn="ctr" indent="0" marL="0">
              <a:buNone/>
            </a:pPr>
            <a:r>
              <a:rPr lang="en-US" sz="750" b="1" dirty="0">
                <a:solidFill>
                  <a:srgbClr val="F59E0B"/>
                </a:solidFill>
                <a:latin typeface="Segoe UI" pitchFamily="34" charset="0"/>
                <a:ea typeface="Segoe UI" pitchFamily="34" charset="-122"/>
                <a:cs typeface="Segoe UI" pitchFamily="34" charset="-120"/>
              </a:rPr>
              <a:t>NARRATIVE ARCHITECTURE</a:t>
            </a:r>
            <a:endParaRPr lang="en-US" sz="750" dirty="0"/>
          </a:p>
        </p:txBody>
      </p:sp>
      <p:sp>
        <p:nvSpPr>
          <p:cNvPr id="11" name="Text 9"/>
          <p:cNvSpPr/>
          <p:nvPr/>
        </p:nvSpPr>
        <p:spPr>
          <a:xfrm>
            <a:off x="713232" y="1709928"/>
            <a:ext cx="2276856" cy="502920"/>
          </a:xfrm>
          <a:prstGeom prst="rect">
            <a:avLst/>
          </a:prstGeom>
          <a:noFill/>
          <a:ln/>
        </p:spPr>
        <p:txBody>
          <a:bodyPr wrap="square"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From Storybook to Living Classic</a:t>
            </a:r>
            <a:endParaRPr lang="en-US" sz="1300" dirty="0"/>
          </a:p>
        </p:txBody>
      </p:sp>
      <p:sp>
        <p:nvSpPr>
          <p:cNvPr id="12" name="Text 10"/>
          <p:cNvSpPr/>
          <p:nvPr/>
        </p:nvSpPr>
        <p:spPr>
          <a:xfrm>
            <a:off x="713232" y="2286000"/>
            <a:ext cx="2276856" cy="1783080"/>
          </a:xfrm>
          <a:prstGeom prst="rect">
            <a:avLst/>
          </a:prstGeom>
          <a:noFill/>
          <a:ln/>
        </p:spPr>
        <p:txBody>
          <a:bodyPr wrap="square" rtlCol="0" anchor="t"/>
          <a:lstStyle/>
          <a:p>
            <a:pPr indent="0" marL="0">
              <a:lnSpc>
                <a:spcPct val="130000"/>
              </a:lnSpc>
              <a:buNone/>
            </a:pPr>
            <a:r>
              <a:rPr lang="en-US" sz="880" dirty="0">
                <a:solidFill>
                  <a:srgbClr val="CBD5E1"/>
                </a:solidFill>
                <a:latin typeface="Segoe UI" pitchFamily="34" charset="0"/>
                <a:ea typeface="Segoe UI" pitchFamily="34" charset="-122"/>
                <a:cs typeface="Segoe UI" pitchFamily="34" charset="-120"/>
              </a:rPr>
              <a:t>Transforming Jennie Nicassio's acclaimed holiday literature into an animated holiday classic. Rocky's journey of sacrifice, self-worth, and resilience is engineered to become an annual holiday viewing tradition across families worldwide.</a:t>
            </a:r>
            <a:endParaRPr lang="en-US" sz="880" dirty="0"/>
          </a:p>
        </p:txBody>
      </p:sp>
      <p:sp>
        <p:nvSpPr>
          <p:cNvPr id="13" name="Shape 11"/>
          <p:cNvSpPr/>
          <p:nvPr/>
        </p:nvSpPr>
        <p:spPr>
          <a:xfrm>
            <a:off x="685800" y="4206240"/>
            <a:ext cx="2331720" cy="347472"/>
          </a:xfrm>
          <a:prstGeom prst="roundRect">
            <a:avLst/>
          </a:prstGeom>
          <a:solidFill>
            <a:srgbClr val="14233D"/>
          </a:solidFill>
          <a:ln w="10160">
            <a:solidFill>
              <a:srgbClr val="24334C"/>
            </a:solidFill>
            <a:prstDash val="solid"/>
          </a:ln>
        </p:spPr>
      </p:sp>
      <p:sp>
        <p:nvSpPr>
          <p:cNvPr id="14" name="Text 12"/>
          <p:cNvSpPr/>
          <p:nvPr/>
        </p:nvSpPr>
        <p:spPr>
          <a:xfrm>
            <a:off x="685800" y="4206240"/>
            <a:ext cx="2331720" cy="347472"/>
          </a:xfrm>
          <a:prstGeom prst="rect">
            <a:avLst/>
          </a:prstGeom>
          <a:noFill/>
          <a:ln/>
        </p:spPr>
        <p:txBody>
          <a:bodyPr wrap="square" rtlCol="0" anchor="ctr"/>
          <a:lstStyle/>
          <a:p>
            <a:pPr algn="ctr" indent="0" marL="0">
              <a:buNone/>
            </a:pPr>
            <a:r>
              <a:rPr lang="en-US" sz="750" b="1" dirty="0">
                <a:solidFill>
                  <a:srgbClr val="FBBF24"/>
                </a:solidFill>
                <a:latin typeface="Segoe UI" pitchFamily="34" charset="0"/>
                <a:ea typeface="Segoe UI" pitchFamily="34" charset="-122"/>
                <a:cs typeface="Segoe UI" pitchFamily="34" charset="-120"/>
              </a:rPr>
              <a:t>Demographic: Multi-Generational Family Co-Viewing</a:t>
            </a:r>
            <a:endParaRPr lang="en-US" sz="750" dirty="0"/>
          </a:p>
        </p:txBody>
      </p:sp>
      <p:sp>
        <p:nvSpPr>
          <p:cNvPr id="15" name="Shape 13"/>
          <p:cNvSpPr/>
          <p:nvPr/>
        </p:nvSpPr>
        <p:spPr>
          <a:xfrm>
            <a:off x="3246120" y="1234440"/>
            <a:ext cx="2606040" cy="3474720"/>
          </a:xfrm>
          <a:prstGeom prst="roundRect">
            <a:avLst/>
          </a:prstGeom>
          <a:solidFill>
            <a:srgbClr val="0D1524"/>
          </a:solidFill>
          <a:ln w="19050">
            <a:solidFill>
              <a:srgbClr val="0088FF"/>
            </a:solidFill>
            <a:prstDash val="solid"/>
          </a:ln>
        </p:spPr>
      </p:sp>
      <p:sp>
        <p:nvSpPr>
          <p:cNvPr id="16" name="Shape 14"/>
          <p:cNvSpPr/>
          <p:nvPr/>
        </p:nvSpPr>
        <p:spPr>
          <a:xfrm>
            <a:off x="3383280" y="1380744"/>
            <a:ext cx="2331720" cy="256032"/>
          </a:xfrm>
          <a:prstGeom prst="roundRect">
            <a:avLst/>
          </a:prstGeom>
          <a:solidFill>
            <a:srgbClr val="08172E"/>
          </a:solidFill>
          <a:ln w="10160">
            <a:solidFill>
              <a:srgbClr val="0088FF"/>
            </a:solidFill>
            <a:prstDash val="solid"/>
          </a:ln>
        </p:spPr>
      </p:sp>
      <p:sp>
        <p:nvSpPr>
          <p:cNvPr id="17" name="Text 15"/>
          <p:cNvSpPr/>
          <p:nvPr/>
        </p:nvSpPr>
        <p:spPr>
          <a:xfrm>
            <a:off x="3383280" y="1380744"/>
            <a:ext cx="2331720" cy="256032"/>
          </a:xfrm>
          <a:prstGeom prst="rect">
            <a:avLst/>
          </a:prstGeom>
          <a:noFill/>
          <a:ln/>
        </p:spPr>
        <p:txBody>
          <a:bodyPr wrap="square" rtlCol="0" anchor="ctr"/>
          <a:lstStyle/>
          <a:p>
            <a:pPr algn="ctr" indent="0" marL="0">
              <a:buNone/>
            </a:pPr>
            <a:r>
              <a:rPr lang="en-US" sz="750" b="1" dirty="0">
                <a:solidFill>
                  <a:srgbClr val="0088FF"/>
                </a:solidFill>
                <a:latin typeface="Segoe UI" pitchFamily="34" charset="0"/>
                <a:ea typeface="Segoe UI" pitchFamily="34" charset="-122"/>
                <a:cs typeface="Segoe UI" pitchFamily="34" charset="-120"/>
              </a:rPr>
              <a:t>DISTRIBUTION ARCHITECTURE</a:t>
            </a:r>
            <a:endParaRPr lang="en-US" sz="750" dirty="0"/>
          </a:p>
        </p:txBody>
      </p:sp>
      <p:sp>
        <p:nvSpPr>
          <p:cNvPr id="18" name="Text 16"/>
          <p:cNvSpPr/>
          <p:nvPr/>
        </p:nvSpPr>
        <p:spPr>
          <a:xfrm>
            <a:off x="3410712" y="1709928"/>
            <a:ext cx="2276856" cy="502920"/>
          </a:xfrm>
          <a:prstGeom prst="rect">
            <a:avLst/>
          </a:prstGeom>
          <a:noFill/>
          <a:ln/>
        </p:spPr>
        <p:txBody>
          <a:bodyPr wrap="square"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The Dual-Audience Engine</a:t>
            </a:r>
            <a:endParaRPr lang="en-US" sz="1300" dirty="0"/>
          </a:p>
        </p:txBody>
      </p:sp>
      <p:sp>
        <p:nvSpPr>
          <p:cNvPr id="19" name="Text 17"/>
          <p:cNvSpPr/>
          <p:nvPr/>
        </p:nvSpPr>
        <p:spPr>
          <a:xfrm>
            <a:off x="3410712" y="2286000"/>
            <a:ext cx="2276856" cy="1783080"/>
          </a:xfrm>
          <a:prstGeom prst="rect">
            <a:avLst/>
          </a:prstGeom>
          <a:noFill/>
          <a:ln/>
        </p:spPr>
        <p:txBody>
          <a:bodyPr wrap="square" rtlCol="0" anchor="t"/>
          <a:lstStyle/>
          <a:p>
            <a:pPr indent="0" marL="0">
              <a:lnSpc>
                <a:spcPct val="130000"/>
              </a:lnSpc>
              <a:buNone/>
            </a:pPr>
            <a:r>
              <a:rPr lang="en-US" sz="880" dirty="0">
                <a:solidFill>
                  <a:srgbClr val="CBD5E1"/>
                </a:solidFill>
                <a:latin typeface="Segoe UI" pitchFamily="34" charset="0"/>
                <a:ea typeface="Segoe UI" pitchFamily="34" charset="-122"/>
                <a:cs typeface="Segoe UI" pitchFamily="34" charset="-120"/>
              </a:rPr>
              <a:t>Pairing a prestige 16:9 cinematic master (for streaming acquisitions and festivals) with 9:16 vertical serialized micro-dramas. Captures traditional family viewing while dominating algorithmic feeds on YouTube Shorts, TikTok, and Instagram.</a:t>
            </a:r>
            <a:endParaRPr lang="en-US" sz="880" dirty="0"/>
          </a:p>
        </p:txBody>
      </p:sp>
      <p:sp>
        <p:nvSpPr>
          <p:cNvPr id="20" name="Shape 18"/>
          <p:cNvSpPr/>
          <p:nvPr/>
        </p:nvSpPr>
        <p:spPr>
          <a:xfrm>
            <a:off x="3383280" y="4206240"/>
            <a:ext cx="2331720" cy="347472"/>
          </a:xfrm>
          <a:prstGeom prst="roundRect">
            <a:avLst/>
          </a:prstGeom>
          <a:solidFill>
            <a:srgbClr val="14233D"/>
          </a:solidFill>
          <a:ln w="10160">
            <a:solidFill>
              <a:srgbClr val="24334C"/>
            </a:solidFill>
            <a:prstDash val="solid"/>
          </a:ln>
        </p:spPr>
      </p:sp>
      <p:sp>
        <p:nvSpPr>
          <p:cNvPr id="21" name="Text 19"/>
          <p:cNvSpPr/>
          <p:nvPr/>
        </p:nvSpPr>
        <p:spPr>
          <a:xfrm>
            <a:off x="3383280" y="4206240"/>
            <a:ext cx="2331720" cy="347472"/>
          </a:xfrm>
          <a:prstGeom prst="rect">
            <a:avLst/>
          </a:prstGeom>
          <a:noFill/>
          <a:ln/>
        </p:spPr>
        <p:txBody>
          <a:bodyPr wrap="square" rtlCol="0" anchor="ctr"/>
          <a:lstStyle/>
          <a:p>
            <a:pPr algn="ctr" indent="0" marL="0">
              <a:buNone/>
            </a:pPr>
            <a:r>
              <a:rPr lang="en-US" sz="750" b="1" dirty="0">
                <a:solidFill>
                  <a:srgbClr val="FBBF24"/>
                </a:solidFill>
                <a:latin typeface="Segoe UI" pitchFamily="34" charset="0"/>
                <a:ea typeface="Segoe UI" pitchFamily="34" charset="-122"/>
                <a:cs typeface="Segoe UI" pitchFamily="34" charset="-120"/>
              </a:rPr>
              <a:t>Format: 16:9 Cinema 4K + 9:16 Vertical Shorts</a:t>
            </a:r>
            <a:endParaRPr lang="en-US" sz="750" dirty="0"/>
          </a:p>
        </p:txBody>
      </p:sp>
      <p:sp>
        <p:nvSpPr>
          <p:cNvPr id="22" name="Shape 20"/>
          <p:cNvSpPr/>
          <p:nvPr/>
        </p:nvSpPr>
        <p:spPr>
          <a:xfrm>
            <a:off x="5943600" y="1234440"/>
            <a:ext cx="2606040" cy="3474720"/>
          </a:xfrm>
          <a:prstGeom prst="roundRect">
            <a:avLst/>
          </a:prstGeom>
          <a:solidFill>
            <a:srgbClr val="0D1524"/>
          </a:solidFill>
          <a:ln w="19050">
            <a:solidFill>
              <a:srgbClr val="10B981"/>
            </a:solidFill>
            <a:prstDash val="solid"/>
          </a:ln>
        </p:spPr>
      </p:sp>
      <p:sp>
        <p:nvSpPr>
          <p:cNvPr id="23" name="Shape 21"/>
          <p:cNvSpPr/>
          <p:nvPr/>
        </p:nvSpPr>
        <p:spPr>
          <a:xfrm>
            <a:off x="6080760" y="1380744"/>
            <a:ext cx="2331720" cy="256032"/>
          </a:xfrm>
          <a:prstGeom prst="roundRect">
            <a:avLst/>
          </a:prstGeom>
          <a:solidFill>
            <a:srgbClr val="0A241A"/>
          </a:solidFill>
          <a:ln w="10160">
            <a:solidFill>
              <a:srgbClr val="10B981"/>
            </a:solidFill>
            <a:prstDash val="solid"/>
          </a:ln>
        </p:spPr>
      </p:sp>
      <p:sp>
        <p:nvSpPr>
          <p:cNvPr id="24" name="Text 22"/>
          <p:cNvSpPr/>
          <p:nvPr/>
        </p:nvSpPr>
        <p:spPr>
          <a:xfrm>
            <a:off x="6080760" y="1380744"/>
            <a:ext cx="2331720" cy="256032"/>
          </a:xfrm>
          <a:prstGeom prst="rect">
            <a:avLst/>
          </a:prstGeom>
          <a:noFill/>
          <a:ln/>
        </p:spPr>
        <p:txBody>
          <a:bodyPr wrap="square" rtlCol="0" anchor="ctr"/>
          <a:lstStyle/>
          <a:p>
            <a:pPr algn="ctr" indent="0" marL="0">
              <a:buNone/>
            </a:pPr>
            <a:r>
              <a:rPr lang="en-US" sz="750" b="1" dirty="0">
                <a:solidFill>
                  <a:srgbClr val="10B981"/>
                </a:solidFill>
                <a:latin typeface="Segoe UI" pitchFamily="34" charset="0"/>
                <a:ea typeface="Segoe UI" pitchFamily="34" charset="-122"/>
                <a:cs typeface="Segoe UI" pitchFamily="34" charset="-120"/>
              </a:rPr>
              <a:t>COMMERCIAL FLYWHEEL</a:t>
            </a:r>
            <a:endParaRPr lang="en-US" sz="750" dirty="0"/>
          </a:p>
        </p:txBody>
      </p:sp>
      <p:sp>
        <p:nvSpPr>
          <p:cNvPr id="25" name="Text 23"/>
          <p:cNvSpPr/>
          <p:nvPr/>
        </p:nvSpPr>
        <p:spPr>
          <a:xfrm>
            <a:off x="6108192" y="1709928"/>
            <a:ext cx="2276856" cy="502920"/>
          </a:xfrm>
          <a:prstGeom prst="rect">
            <a:avLst/>
          </a:prstGeom>
          <a:noFill/>
          <a:ln/>
        </p:spPr>
        <p:txBody>
          <a:bodyPr wrap="square"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Multi-Platform Monetization</a:t>
            </a:r>
            <a:endParaRPr lang="en-US" sz="1300" dirty="0"/>
          </a:p>
        </p:txBody>
      </p:sp>
      <p:sp>
        <p:nvSpPr>
          <p:cNvPr id="26" name="Text 24"/>
          <p:cNvSpPr/>
          <p:nvPr/>
        </p:nvSpPr>
        <p:spPr>
          <a:xfrm>
            <a:off x="6108192" y="2286000"/>
            <a:ext cx="2276856" cy="1783080"/>
          </a:xfrm>
          <a:prstGeom prst="rect">
            <a:avLst/>
          </a:prstGeom>
          <a:noFill/>
          <a:ln/>
        </p:spPr>
        <p:txBody>
          <a:bodyPr wrap="square" rtlCol="0" anchor="t"/>
          <a:lstStyle/>
          <a:p>
            <a:pPr indent="0" marL="0">
              <a:lnSpc>
                <a:spcPct val="130000"/>
              </a:lnSpc>
              <a:buNone/>
            </a:pPr>
            <a:r>
              <a:rPr lang="en-US" sz="880" dirty="0">
                <a:solidFill>
                  <a:srgbClr val="CBD5E1"/>
                </a:solidFill>
                <a:latin typeface="Segoe UI" pitchFamily="34" charset="0"/>
                <a:ea typeface="Segoe UI" pitchFamily="34" charset="-122"/>
                <a:cs typeface="Segoe UI" pitchFamily="34" charset="-120"/>
              </a:rPr>
              <a:t>Every animated release functions as an active sales funnel driving directly to the published book on Amazon. Built-in Content ID audio/visual fingerprinting guarantees 100% of global AdSense and licensing royalties flow directly to creator Jennie Nicassio.</a:t>
            </a:r>
            <a:endParaRPr lang="en-US" sz="880" dirty="0"/>
          </a:p>
        </p:txBody>
      </p:sp>
      <p:sp>
        <p:nvSpPr>
          <p:cNvPr id="27" name="Shape 25"/>
          <p:cNvSpPr/>
          <p:nvPr/>
        </p:nvSpPr>
        <p:spPr>
          <a:xfrm>
            <a:off x="6080760" y="4206240"/>
            <a:ext cx="2331720" cy="347472"/>
          </a:xfrm>
          <a:prstGeom prst="roundRect">
            <a:avLst/>
          </a:prstGeom>
          <a:solidFill>
            <a:srgbClr val="14233D"/>
          </a:solidFill>
          <a:ln w="10160">
            <a:solidFill>
              <a:srgbClr val="24334C"/>
            </a:solidFill>
            <a:prstDash val="solid"/>
          </a:ln>
        </p:spPr>
      </p:sp>
      <p:sp>
        <p:nvSpPr>
          <p:cNvPr id="28" name="Text 26"/>
          <p:cNvSpPr/>
          <p:nvPr/>
        </p:nvSpPr>
        <p:spPr>
          <a:xfrm>
            <a:off x="6080760" y="4206240"/>
            <a:ext cx="2331720" cy="347472"/>
          </a:xfrm>
          <a:prstGeom prst="rect">
            <a:avLst/>
          </a:prstGeom>
          <a:noFill/>
          <a:ln/>
        </p:spPr>
        <p:txBody>
          <a:bodyPr wrap="square" rtlCol="0" anchor="ctr"/>
          <a:lstStyle/>
          <a:p>
            <a:pPr algn="ctr" indent="0" marL="0">
              <a:buNone/>
            </a:pPr>
            <a:r>
              <a:rPr lang="en-US" sz="750" b="1" dirty="0">
                <a:solidFill>
                  <a:srgbClr val="FBBF24"/>
                </a:solidFill>
                <a:latin typeface="Segoe UI" pitchFamily="34" charset="0"/>
                <a:ea typeface="Segoe UI" pitchFamily="34" charset="-122"/>
                <a:cs typeface="Segoe UI" pitchFamily="34" charset="-120"/>
              </a:rPr>
              <a:t>Ownership: 100% Client IP &amp; AdSense Revenue</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B12"/>
        </a:solidFill>
      </p:bgPr>
    </p:bg>
    <p:spTree>
      <p:nvGrpSpPr>
        <p:cNvPr id="1" name=""/>
        <p:cNvGrpSpPr/>
        <p:nvPr/>
      </p:nvGrpSpPr>
      <p:grpSpPr>
        <a:xfrm>
          <a:off x="0" y="0"/>
          <a:ext cx="0" cy="0"/>
          <a:chOff x="0" y="0"/>
          <a:chExt cx="0" cy="0"/>
        </a:xfrm>
      </p:grpSpPr>
      <p:sp>
        <p:nvSpPr>
          <p:cNvPr id="2" name="Shape 0"/>
          <p:cNvSpPr/>
          <p:nvPr/>
        </p:nvSpPr>
        <p:spPr>
          <a:xfrm>
            <a:off x="548640" y="320040"/>
            <a:ext cx="8046720" cy="13716"/>
          </a:xfrm>
          <a:prstGeom prst="rect">
            <a:avLst/>
          </a:prstGeom>
          <a:solidFill>
            <a:srgbClr val="24334C"/>
          </a:solidFill>
          <a:ln/>
        </p:spPr>
      </p:sp>
      <p:sp>
        <p:nvSpPr>
          <p:cNvPr id="3" name="Text 1"/>
          <p:cNvSpPr/>
          <p:nvPr/>
        </p:nvSpPr>
        <p:spPr>
          <a:xfrm>
            <a:off x="548640" y="384048"/>
            <a:ext cx="6217920" cy="201168"/>
          </a:xfrm>
          <a:prstGeom prst="rect">
            <a:avLst/>
          </a:prstGeom>
          <a:noFill/>
          <a:ln/>
        </p:spPr>
        <p:txBody>
          <a:bodyPr wrap="square" rtlCol="0" anchor="ctr"/>
          <a:lstStyle/>
          <a:p>
            <a:pPr indent="0" marL="0">
              <a:buNone/>
            </a:pPr>
            <a:r>
              <a:rPr lang="en-US" sz="800" b="1" dirty="0">
                <a:solidFill>
                  <a:srgbClr val="38BDF8"/>
                </a:solidFill>
                <a:latin typeface="Segoe UI" pitchFamily="34" charset="0"/>
                <a:ea typeface="Segoe UI" pitchFamily="34" charset="-122"/>
                <a:cs typeface="Segoe UI" pitchFamily="34" charset="-120"/>
              </a:rPr>
              <a:t>STORY ENGINE &amp; CHARACTER ARCHITECTURE</a:t>
            </a:r>
            <a:endParaRPr lang="en-US" sz="800" dirty="0"/>
          </a:p>
        </p:txBody>
      </p:sp>
      <p:sp>
        <p:nvSpPr>
          <p:cNvPr id="4" name="Text 2"/>
          <p:cNvSpPr/>
          <p:nvPr/>
        </p:nvSpPr>
        <p:spPr>
          <a:xfrm>
            <a:off x="548640" y="621792"/>
            <a:ext cx="6583680" cy="411480"/>
          </a:xfrm>
          <a:prstGeom prst="rect">
            <a:avLst/>
          </a:prstGeom>
          <a:noFill/>
          <a:ln/>
        </p:spPr>
        <p:txBody>
          <a:bodyPr wrap="square"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The Core Cast &amp; Dramatic Ensemble</a:t>
            </a:r>
            <a:endParaRPr lang="en-US" sz="1700" dirty="0"/>
          </a:p>
        </p:txBody>
      </p:sp>
      <p:sp>
        <p:nvSpPr>
          <p:cNvPr id="5" name="Shape 3"/>
          <p:cNvSpPr/>
          <p:nvPr/>
        </p:nvSpPr>
        <p:spPr>
          <a:xfrm>
            <a:off x="7132320" y="411480"/>
            <a:ext cx="1463040" cy="292608"/>
          </a:xfrm>
          <a:prstGeom prst="roundRect">
            <a:avLst/>
          </a:prstGeom>
          <a:solidFill>
            <a:srgbClr val="0D1524"/>
          </a:solidFill>
          <a:ln w="12700">
            <a:solidFill>
              <a:srgbClr val="24334C"/>
            </a:solidFill>
            <a:prstDash val="solid"/>
          </a:ln>
        </p:spPr>
      </p:sp>
      <p:sp>
        <p:nvSpPr>
          <p:cNvPr id="6" name="Text 4"/>
          <p:cNvSpPr/>
          <p:nvPr/>
        </p:nvSpPr>
        <p:spPr>
          <a:xfrm>
            <a:off x="7132320" y="411480"/>
            <a:ext cx="1463040" cy="292608"/>
          </a:xfrm>
          <a:prstGeom prst="rect">
            <a:avLst/>
          </a:prstGeom>
          <a:noFill/>
          <a:ln/>
        </p:spPr>
        <p:txBody>
          <a:bodyPr wrap="square" rtlCol="0" anchor="ctr"/>
          <a:lstStyle/>
          <a:p>
            <a:pPr algn="ctr" indent="0" marL="0">
              <a:buNone/>
            </a:pPr>
            <a:r>
              <a:rPr lang="en-US" sz="750" b="1" dirty="0">
                <a:solidFill>
                  <a:srgbClr val="FBBF24"/>
                </a:solidFill>
                <a:latin typeface="Segoe UI" pitchFamily="34" charset="0"/>
                <a:ea typeface="Segoe UI" pitchFamily="34" charset="-122"/>
                <a:cs typeface="Segoe UI" pitchFamily="34" charset="-120"/>
              </a:rPr>
              <a:t>NEO GEN STUDIOS</a:t>
            </a:r>
            <a:endParaRPr lang="en-US" sz="750" dirty="0"/>
          </a:p>
        </p:txBody>
      </p:sp>
      <p:sp>
        <p:nvSpPr>
          <p:cNvPr id="7" name="Text 5"/>
          <p:cNvSpPr/>
          <p:nvPr/>
        </p:nvSpPr>
        <p:spPr>
          <a:xfrm>
            <a:off x="548640" y="4864608"/>
            <a:ext cx="8046720" cy="182880"/>
          </a:xfrm>
          <a:prstGeom prst="rect">
            <a:avLst/>
          </a:prstGeom>
          <a:noFill/>
          <a:ln/>
        </p:spPr>
        <p:txBody>
          <a:bodyPr wrap="square" rtlCol="0" anchor="ctr"/>
          <a:lstStyle/>
          <a:p>
            <a:pPr indent="0" marL="0">
              <a:buNone/>
            </a:pPr>
            <a:r>
              <a:rPr lang="en-US" sz="750" dirty="0">
                <a:solidFill>
                  <a:srgbClr val="94A3B8"/>
                </a:solidFill>
                <a:latin typeface="Segoe UI" pitchFamily="34" charset="0"/>
                <a:ea typeface="Segoe UI" pitchFamily="34" charset="-122"/>
                <a:cs typeface="Segoe UI" pitchFamily="34" charset="-120"/>
              </a:rPr>
              <a:t>NEO GEN TECHNOLOGIES  |  ROCKY: THE ROCKEFELLER CHRISTMAS TREE  |  EXECUTIVE SOW  |  SLIDE 3</a:t>
            </a:r>
            <a:endParaRPr lang="en-US" sz="750" dirty="0"/>
          </a:p>
        </p:txBody>
      </p:sp>
      <p:sp>
        <p:nvSpPr>
          <p:cNvPr id="8" name="Shape 6"/>
          <p:cNvSpPr/>
          <p:nvPr/>
        </p:nvSpPr>
        <p:spPr>
          <a:xfrm>
            <a:off x="548640" y="1234440"/>
            <a:ext cx="2606040" cy="1627632"/>
          </a:xfrm>
          <a:prstGeom prst="roundRect">
            <a:avLst/>
          </a:prstGeom>
          <a:solidFill>
            <a:srgbClr val="0D1524"/>
          </a:solidFill>
          <a:ln w="15240">
            <a:solidFill>
              <a:srgbClr val="F59E0B"/>
            </a:solidFill>
            <a:prstDash val="solid"/>
          </a:ln>
        </p:spPr>
      </p:sp>
      <p:sp>
        <p:nvSpPr>
          <p:cNvPr id="9" name="Text 7"/>
          <p:cNvSpPr/>
          <p:nvPr/>
        </p:nvSpPr>
        <p:spPr>
          <a:xfrm>
            <a:off x="685800" y="1344168"/>
            <a:ext cx="2331720" cy="182880"/>
          </a:xfrm>
          <a:prstGeom prst="rect">
            <a:avLst/>
          </a:prstGeom>
          <a:noFill/>
          <a:ln/>
        </p:spPr>
        <p:txBody>
          <a:bodyPr wrap="square" rtlCol="0" anchor="ctr"/>
          <a:lstStyle/>
          <a:p>
            <a:pPr indent="0" marL="0">
              <a:buNone/>
            </a:pPr>
            <a:r>
              <a:rPr lang="en-US" sz="700" b="1" dirty="0">
                <a:solidFill>
                  <a:srgbClr val="F59E0B"/>
                </a:solidFill>
                <a:latin typeface="Segoe UI" pitchFamily="34" charset="0"/>
                <a:ea typeface="Segoe UI" pitchFamily="34" charset="-122"/>
                <a:cs typeface="Segoe UI" pitchFamily="34" charset="-120"/>
              </a:rPr>
              <a:t>LEAD PROTAGONIST</a:t>
            </a:r>
            <a:endParaRPr lang="en-US" sz="700" dirty="0"/>
          </a:p>
        </p:txBody>
      </p:sp>
      <p:sp>
        <p:nvSpPr>
          <p:cNvPr id="10" name="Text 8"/>
          <p:cNvSpPr/>
          <p:nvPr/>
        </p:nvSpPr>
        <p:spPr>
          <a:xfrm>
            <a:off x="685800" y="1527048"/>
            <a:ext cx="2331720" cy="27432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Rocky</a:t>
            </a:r>
            <a:endParaRPr lang="en-US" sz="1100" dirty="0"/>
          </a:p>
        </p:txBody>
      </p:sp>
      <p:sp>
        <p:nvSpPr>
          <p:cNvPr id="11" name="Text 9"/>
          <p:cNvSpPr/>
          <p:nvPr/>
        </p:nvSpPr>
        <p:spPr>
          <a:xfrm>
            <a:off x="685800" y="1828800"/>
            <a:ext cx="2331720" cy="658368"/>
          </a:xfrm>
          <a:prstGeom prst="rect">
            <a:avLst/>
          </a:prstGeom>
          <a:noFill/>
          <a:ln/>
        </p:spPr>
        <p:txBody>
          <a:bodyPr wrap="square" rtlCol="0" anchor="t"/>
          <a:lstStyle/>
          <a:p>
            <a:pPr indent="0" marL="0">
              <a:lnSpc>
                <a:spcPct val="120000"/>
              </a:lnSpc>
              <a:buNone/>
            </a:pPr>
            <a:r>
              <a:rPr lang="en-US" sz="780" dirty="0">
                <a:solidFill>
                  <a:srgbClr val="CBD5E1"/>
                </a:solidFill>
                <a:latin typeface="Segoe UI" pitchFamily="34" charset="0"/>
                <a:ea typeface="Segoe UI" pitchFamily="34" charset="-122"/>
                <a:cs typeface="Segoe UI" pitchFamily="34" charset="-120"/>
              </a:rPr>
              <a:t>Small, resilient evergreen tree with big dreams. Sacrifices his needles to shield tiny sapling Pip from the brutal winter ice storm.</a:t>
            </a:r>
            <a:endParaRPr lang="en-US" sz="780" dirty="0"/>
          </a:p>
        </p:txBody>
      </p:sp>
      <p:sp>
        <p:nvSpPr>
          <p:cNvPr id="12" name="Text 10"/>
          <p:cNvSpPr/>
          <p:nvPr/>
        </p:nvSpPr>
        <p:spPr>
          <a:xfrm>
            <a:off x="685800" y="2532888"/>
            <a:ext cx="2331720" cy="237744"/>
          </a:xfrm>
          <a:prstGeom prst="rect">
            <a:avLst/>
          </a:prstGeom>
          <a:noFill/>
          <a:ln/>
        </p:spPr>
        <p:txBody>
          <a:bodyPr wrap="square" rtlCol="0" anchor="ctr"/>
          <a:lstStyle/>
          <a:p>
            <a:pPr indent="0" marL="0">
              <a:buNone/>
            </a:pPr>
            <a:r>
              <a:rPr lang="en-US" sz="720" i="1" dirty="0">
                <a:solidFill>
                  <a:srgbClr val="94A3B8"/>
                </a:solidFill>
                <a:latin typeface="Segoe UI" pitchFamily="34" charset="0"/>
                <a:ea typeface="Segoe UI" pitchFamily="34" charset="-122"/>
                <a:cs typeface="Segoe UI" pitchFamily="34" charset="-120"/>
              </a:rPr>
              <a:t>"I will grow strong and tall!"</a:t>
            </a:r>
            <a:endParaRPr lang="en-US" sz="720" dirty="0"/>
          </a:p>
        </p:txBody>
      </p:sp>
      <p:sp>
        <p:nvSpPr>
          <p:cNvPr id="13" name="Shape 11"/>
          <p:cNvSpPr/>
          <p:nvPr/>
        </p:nvSpPr>
        <p:spPr>
          <a:xfrm>
            <a:off x="3246120" y="1234440"/>
            <a:ext cx="2606040" cy="1627632"/>
          </a:xfrm>
          <a:prstGeom prst="roundRect">
            <a:avLst/>
          </a:prstGeom>
          <a:solidFill>
            <a:srgbClr val="0D1524"/>
          </a:solidFill>
          <a:ln w="15240">
            <a:solidFill>
              <a:srgbClr val="0088FF"/>
            </a:solidFill>
            <a:prstDash val="solid"/>
          </a:ln>
        </p:spPr>
      </p:sp>
      <p:sp>
        <p:nvSpPr>
          <p:cNvPr id="14" name="Text 12"/>
          <p:cNvSpPr/>
          <p:nvPr/>
        </p:nvSpPr>
        <p:spPr>
          <a:xfrm>
            <a:off x="3383280" y="1344168"/>
            <a:ext cx="2331720" cy="182880"/>
          </a:xfrm>
          <a:prstGeom prst="rect">
            <a:avLst/>
          </a:prstGeom>
          <a:noFill/>
          <a:ln/>
        </p:spPr>
        <p:txBody>
          <a:bodyPr wrap="square" rtlCol="0" anchor="ctr"/>
          <a:lstStyle/>
          <a:p>
            <a:pPr indent="0" marL="0">
              <a:buNone/>
            </a:pPr>
            <a:r>
              <a:rPr lang="en-US" sz="700" b="1" dirty="0">
                <a:solidFill>
                  <a:srgbClr val="0088FF"/>
                </a:solidFill>
                <a:latin typeface="Segoe UI" pitchFamily="34" charset="0"/>
                <a:ea typeface="Segoe UI" pitchFamily="34" charset="-122"/>
                <a:cs typeface="Segoe UI" pitchFamily="34" charset="-120"/>
              </a:rPr>
              <a:t>THE TOWERING RIVAL</a:t>
            </a:r>
            <a:endParaRPr lang="en-US" sz="700" dirty="0"/>
          </a:p>
        </p:txBody>
      </p:sp>
      <p:sp>
        <p:nvSpPr>
          <p:cNvPr id="15" name="Text 13"/>
          <p:cNvSpPr/>
          <p:nvPr/>
        </p:nvSpPr>
        <p:spPr>
          <a:xfrm>
            <a:off x="3383280" y="1527048"/>
            <a:ext cx="2331720" cy="27432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Bruce Spruce</a:t>
            </a:r>
            <a:endParaRPr lang="en-US" sz="1100" dirty="0"/>
          </a:p>
        </p:txBody>
      </p:sp>
      <p:sp>
        <p:nvSpPr>
          <p:cNvPr id="16" name="Text 14"/>
          <p:cNvSpPr/>
          <p:nvPr/>
        </p:nvSpPr>
        <p:spPr>
          <a:xfrm>
            <a:off x="3383280" y="1828800"/>
            <a:ext cx="2331720" cy="658368"/>
          </a:xfrm>
          <a:prstGeom prst="rect">
            <a:avLst/>
          </a:prstGeom>
          <a:noFill/>
          <a:ln/>
        </p:spPr>
        <p:txBody>
          <a:bodyPr wrap="square" rtlCol="0" anchor="t"/>
          <a:lstStyle/>
          <a:p>
            <a:pPr indent="0" marL="0">
              <a:lnSpc>
                <a:spcPct val="120000"/>
              </a:lnSpc>
              <a:buNone/>
            </a:pPr>
            <a:r>
              <a:rPr lang="en-US" sz="780" dirty="0">
                <a:solidFill>
                  <a:srgbClr val="CBD5E1"/>
                </a:solidFill>
                <a:latin typeface="Segoe UI" pitchFamily="34" charset="0"/>
                <a:ea typeface="Segoe UI" pitchFamily="34" charset="-122"/>
                <a:cs typeface="Segoe UI" pitchFamily="34" charset="-120"/>
              </a:rPr>
              <a:t>Arrogant 85-foot Norwegian spruce boasting flawless symmetry, who learns humility and respect when Rocky's heart shines brighter.</a:t>
            </a:r>
            <a:endParaRPr lang="en-US" sz="780" dirty="0"/>
          </a:p>
        </p:txBody>
      </p:sp>
      <p:sp>
        <p:nvSpPr>
          <p:cNvPr id="17" name="Text 15"/>
          <p:cNvSpPr/>
          <p:nvPr/>
        </p:nvSpPr>
        <p:spPr>
          <a:xfrm>
            <a:off x="3383280" y="2532888"/>
            <a:ext cx="2331720" cy="237744"/>
          </a:xfrm>
          <a:prstGeom prst="rect">
            <a:avLst/>
          </a:prstGeom>
          <a:noFill/>
          <a:ln/>
        </p:spPr>
        <p:txBody>
          <a:bodyPr wrap="square" rtlCol="0" anchor="ctr"/>
          <a:lstStyle/>
          <a:p>
            <a:pPr indent="0" marL="0">
              <a:buNone/>
            </a:pPr>
            <a:r>
              <a:rPr lang="en-US" sz="720" i="1" dirty="0">
                <a:solidFill>
                  <a:srgbClr val="94A3B8"/>
                </a:solidFill>
                <a:latin typeface="Segoe UI" pitchFamily="34" charset="0"/>
                <a:ea typeface="Segoe UI" pitchFamily="34" charset="-122"/>
                <a:cs typeface="Segoe UI" pitchFamily="34" charset="-120"/>
              </a:rPr>
              <a:t>"Look upon perfection, little twig!"</a:t>
            </a:r>
            <a:endParaRPr lang="en-US" sz="720" dirty="0"/>
          </a:p>
        </p:txBody>
      </p:sp>
      <p:sp>
        <p:nvSpPr>
          <p:cNvPr id="18" name="Shape 16"/>
          <p:cNvSpPr/>
          <p:nvPr/>
        </p:nvSpPr>
        <p:spPr>
          <a:xfrm>
            <a:off x="5943600" y="1234440"/>
            <a:ext cx="2606040" cy="1627632"/>
          </a:xfrm>
          <a:prstGeom prst="roundRect">
            <a:avLst/>
          </a:prstGeom>
          <a:solidFill>
            <a:srgbClr val="0D1524"/>
          </a:solidFill>
          <a:ln w="15240">
            <a:solidFill>
              <a:srgbClr val="38BDF8"/>
            </a:solidFill>
            <a:prstDash val="solid"/>
          </a:ln>
        </p:spPr>
      </p:sp>
      <p:sp>
        <p:nvSpPr>
          <p:cNvPr id="19" name="Text 17"/>
          <p:cNvSpPr/>
          <p:nvPr/>
        </p:nvSpPr>
        <p:spPr>
          <a:xfrm>
            <a:off x="6080760" y="1344168"/>
            <a:ext cx="2331720" cy="182880"/>
          </a:xfrm>
          <a:prstGeom prst="rect">
            <a:avLst/>
          </a:prstGeom>
          <a:noFill/>
          <a:ln/>
        </p:spPr>
        <p:txBody>
          <a:bodyPr wrap="square" rtlCol="0" anchor="ctr"/>
          <a:lstStyle/>
          <a:p>
            <a:pPr indent="0" marL="0">
              <a:buNone/>
            </a:pPr>
            <a:r>
              <a:rPr lang="en-US" sz="700" b="1" dirty="0">
                <a:solidFill>
                  <a:srgbClr val="38BDF8"/>
                </a:solidFill>
                <a:latin typeface="Segoe UI" pitchFamily="34" charset="0"/>
                <a:ea typeface="Segoe UI" pitchFamily="34" charset="-122"/>
                <a:cs typeface="Segoe UI" pitchFamily="34" charset="-120"/>
              </a:rPr>
              <a:t>THE FOREST FAIRY</a:t>
            </a:r>
            <a:endParaRPr lang="en-US" sz="700" dirty="0"/>
          </a:p>
        </p:txBody>
      </p:sp>
      <p:sp>
        <p:nvSpPr>
          <p:cNvPr id="20" name="Text 18"/>
          <p:cNvSpPr/>
          <p:nvPr/>
        </p:nvSpPr>
        <p:spPr>
          <a:xfrm>
            <a:off x="6080760" y="1527048"/>
            <a:ext cx="2331720" cy="27432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Mary Louise</a:t>
            </a:r>
            <a:endParaRPr lang="en-US" sz="1100" dirty="0"/>
          </a:p>
        </p:txBody>
      </p:sp>
      <p:sp>
        <p:nvSpPr>
          <p:cNvPr id="21" name="Text 19"/>
          <p:cNvSpPr/>
          <p:nvPr/>
        </p:nvSpPr>
        <p:spPr>
          <a:xfrm>
            <a:off x="6080760" y="1828800"/>
            <a:ext cx="2331720" cy="658368"/>
          </a:xfrm>
          <a:prstGeom prst="rect">
            <a:avLst/>
          </a:prstGeom>
          <a:noFill/>
          <a:ln/>
        </p:spPr>
        <p:txBody>
          <a:bodyPr wrap="square" rtlCol="0" anchor="t"/>
          <a:lstStyle/>
          <a:p>
            <a:pPr indent="0" marL="0">
              <a:lnSpc>
                <a:spcPct val="120000"/>
              </a:lnSpc>
              <a:buNone/>
            </a:pPr>
            <a:r>
              <a:rPr lang="en-US" sz="780" dirty="0">
                <a:solidFill>
                  <a:srgbClr val="CBD5E1"/>
                </a:solidFill>
                <a:latin typeface="Segoe UI" pitchFamily="34" charset="0"/>
                <a:ea typeface="Segoe UI" pitchFamily="34" charset="-122"/>
                <a:cs typeface="Segoe UI" pitchFamily="34" charset="-120"/>
              </a:rPr>
              <a:t>Ancient guardian living in a teapot cottage. Tests Rocky's courage and rewards true devotion with transformative resilience.</a:t>
            </a:r>
            <a:endParaRPr lang="en-US" sz="780" dirty="0"/>
          </a:p>
        </p:txBody>
      </p:sp>
      <p:sp>
        <p:nvSpPr>
          <p:cNvPr id="22" name="Text 20"/>
          <p:cNvSpPr/>
          <p:nvPr/>
        </p:nvSpPr>
        <p:spPr>
          <a:xfrm>
            <a:off x="6080760" y="2532888"/>
            <a:ext cx="2331720" cy="237744"/>
          </a:xfrm>
          <a:prstGeom prst="rect">
            <a:avLst/>
          </a:prstGeom>
          <a:noFill/>
          <a:ln/>
        </p:spPr>
        <p:txBody>
          <a:bodyPr wrap="square" rtlCol="0" anchor="ctr"/>
          <a:lstStyle/>
          <a:p>
            <a:pPr indent="0" marL="0">
              <a:buNone/>
            </a:pPr>
            <a:r>
              <a:rPr lang="en-US" sz="720" i="1" dirty="0">
                <a:solidFill>
                  <a:srgbClr val="94A3B8"/>
                </a:solidFill>
                <a:latin typeface="Segoe UI" pitchFamily="34" charset="0"/>
                <a:ea typeface="Segoe UI" pitchFamily="34" charset="-122"/>
                <a:cs typeface="Segoe UI" pitchFamily="34" charset="-120"/>
              </a:rPr>
              <a:t>"True splendor is never measured in height."</a:t>
            </a:r>
            <a:endParaRPr lang="en-US" sz="720" dirty="0"/>
          </a:p>
        </p:txBody>
      </p:sp>
      <p:sp>
        <p:nvSpPr>
          <p:cNvPr id="23" name="Shape 21"/>
          <p:cNvSpPr/>
          <p:nvPr/>
        </p:nvSpPr>
        <p:spPr>
          <a:xfrm>
            <a:off x="548640" y="2971800"/>
            <a:ext cx="2606040" cy="1627632"/>
          </a:xfrm>
          <a:prstGeom prst="roundRect">
            <a:avLst/>
          </a:prstGeom>
          <a:solidFill>
            <a:srgbClr val="0D1524"/>
          </a:solidFill>
          <a:ln w="15240">
            <a:solidFill>
              <a:srgbClr val="FBBF24"/>
            </a:solidFill>
            <a:prstDash val="solid"/>
          </a:ln>
        </p:spPr>
      </p:sp>
      <p:sp>
        <p:nvSpPr>
          <p:cNvPr id="24" name="Text 22"/>
          <p:cNvSpPr/>
          <p:nvPr/>
        </p:nvSpPr>
        <p:spPr>
          <a:xfrm>
            <a:off x="685800" y="3081528"/>
            <a:ext cx="2331720" cy="182880"/>
          </a:xfrm>
          <a:prstGeom prst="rect">
            <a:avLst/>
          </a:prstGeom>
          <a:noFill/>
          <a:ln/>
        </p:spPr>
        <p:txBody>
          <a:bodyPr wrap="square" rtlCol="0" anchor="ctr"/>
          <a:lstStyle/>
          <a:p>
            <a:pPr indent="0" marL="0">
              <a:buNone/>
            </a:pPr>
            <a:r>
              <a:rPr lang="en-US" sz="700" b="1" dirty="0">
                <a:solidFill>
                  <a:srgbClr val="FBBF24"/>
                </a:solidFill>
                <a:latin typeface="Segoe UI" pitchFamily="34" charset="0"/>
                <a:ea typeface="Segoe UI" pitchFamily="34" charset="-122"/>
                <a:cs typeface="Segoe UI" pitchFamily="34" charset="-120"/>
              </a:rPr>
              <a:t>COMIC FOIL &amp; ALLY</a:t>
            </a:r>
            <a:endParaRPr lang="en-US" sz="700" dirty="0"/>
          </a:p>
        </p:txBody>
      </p:sp>
      <p:sp>
        <p:nvSpPr>
          <p:cNvPr id="25" name="Text 23"/>
          <p:cNvSpPr/>
          <p:nvPr/>
        </p:nvSpPr>
        <p:spPr>
          <a:xfrm>
            <a:off x="685800" y="3264408"/>
            <a:ext cx="2331720" cy="27432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AJ the Squirrel</a:t>
            </a:r>
            <a:endParaRPr lang="en-US" sz="1100" dirty="0"/>
          </a:p>
        </p:txBody>
      </p:sp>
      <p:sp>
        <p:nvSpPr>
          <p:cNvPr id="26" name="Text 24"/>
          <p:cNvSpPr/>
          <p:nvPr/>
        </p:nvSpPr>
        <p:spPr>
          <a:xfrm>
            <a:off x="685800" y="3566160"/>
            <a:ext cx="2331720" cy="658368"/>
          </a:xfrm>
          <a:prstGeom prst="rect">
            <a:avLst/>
          </a:prstGeom>
          <a:noFill/>
          <a:ln/>
        </p:spPr>
        <p:txBody>
          <a:bodyPr wrap="square" rtlCol="0" anchor="t"/>
          <a:lstStyle/>
          <a:p>
            <a:pPr indent="0" marL="0">
              <a:lnSpc>
                <a:spcPct val="120000"/>
              </a:lnSpc>
              <a:buNone/>
            </a:pPr>
            <a:r>
              <a:rPr lang="en-US" sz="780" dirty="0">
                <a:solidFill>
                  <a:srgbClr val="CBD5E1"/>
                </a:solidFill>
                <a:latin typeface="Segoe UI" pitchFamily="34" charset="0"/>
                <a:ea typeface="Segoe UI" pitchFamily="34" charset="-122"/>
                <a:cs typeface="Segoe UI" pitchFamily="34" charset="-120"/>
              </a:rPr>
              <a:t>Acrobatic, rapid-tempo singer who mocks Rocky with rhymes before realizing true courage and stowing away to NYC.</a:t>
            </a:r>
            <a:endParaRPr lang="en-US" sz="780" dirty="0"/>
          </a:p>
        </p:txBody>
      </p:sp>
      <p:sp>
        <p:nvSpPr>
          <p:cNvPr id="27" name="Text 25"/>
          <p:cNvSpPr/>
          <p:nvPr/>
        </p:nvSpPr>
        <p:spPr>
          <a:xfrm>
            <a:off x="685800" y="4270248"/>
            <a:ext cx="2331720" cy="237744"/>
          </a:xfrm>
          <a:prstGeom prst="rect">
            <a:avLst/>
          </a:prstGeom>
          <a:noFill/>
          <a:ln/>
        </p:spPr>
        <p:txBody>
          <a:bodyPr wrap="square" rtlCol="0" anchor="ctr"/>
          <a:lstStyle/>
          <a:p>
            <a:pPr indent="0" marL="0">
              <a:buNone/>
            </a:pPr>
            <a:r>
              <a:rPr lang="en-US" sz="720" i="1" dirty="0">
                <a:solidFill>
                  <a:srgbClr val="94A3B8"/>
                </a:solidFill>
                <a:latin typeface="Segoe UI" pitchFamily="34" charset="0"/>
                <a:ea typeface="Segoe UI" pitchFamily="34" charset="-122"/>
                <a:cs typeface="Segoe UI" pitchFamily="34" charset="-120"/>
              </a:rPr>
              <a:t>"You'll never make Rockefeller Plaza!"</a:t>
            </a:r>
            <a:endParaRPr lang="en-US" sz="720" dirty="0"/>
          </a:p>
        </p:txBody>
      </p:sp>
      <p:sp>
        <p:nvSpPr>
          <p:cNvPr id="28" name="Shape 26"/>
          <p:cNvSpPr/>
          <p:nvPr/>
        </p:nvSpPr>
        <p:spPr>
          <a:xfrm>
            <a:off x="3246120" y="2971800"/>
            <a:ext cx="2606040" cy="1627632"/>
          </a:xfrm>
          <a:prstGeom prst="roundRect">
            <a:avLst/>
          </a:prstGeom>
          <a:solidFill>
            <a:srgbClr val="0D1524"/>
          </a:solidFill>
          <a:ln w="15240">
            <a:solidFill>
              <a:srgbClr val="EC4899"/>
            </a:solidFill>
            <a:prstDash val="solid"/>
          </a:ln>
        </p:spPr>
      </p:sp>
      <p:sp>
        <p:nvSpPr>
          <p:cNvPr id="29" name="Text 27"/>
          <p:cNvSpPr/>
          <p:nvPr/>
        </p:nvSpPr>
        <p:spPr>
          <a:xfrm>
            <a:off x="3383280" y="3081528"/>
            <a:ext cx="2331720" cy="182880"/>
          </a:xfrm>
          <a:prstGeom prst="rect">
            <a:avLst/>
          </a:prstGeom>
          <a:noFill/>
          <a:ln/>
        </p:spPr>
        <p:txBody>
          <a:bodyPr wrap="square" rtlCol="0" anchor="ctr"/>
          <a:lstStyle/>
          <a:p>
            <a:pPr indent="0" marL="0">
              <a:buNone/>
            </a:pPr>
            <a:r>
              <a:rPr lang="en-US" sz="700" b="1" dirty="0">
                <a:solidFill>
                  <a:srgbClr val="EC4899"/>
                </a:solidFill>
                <a:latin typeface="Segoe UI" pitchFamily="34" charset="0"/>
                <a:ea typeface="Segoe UI" pitchFamily="34" charset="-122"/>
                <a:cs typeface="Segoe UI" pitchFamily="34" charset="-120"/>
              </a:rPr>
              <a:t>THE SKUNK DIVA</a:t>
            </a:r>
            <a:endParaRPr lang="en-US" sz="700" dirty="0"/>
          </a:p>
        </p:txBody>
      </p:sp>
      <p:sp>
        <p:nvSpPr>
          <p:cNvPr id="30" name="Text 28"/>
          <p:cNvSpPr/>
          <p:nvPr/>
        </p:nvSpPr>
        <p:spPr>
          <a:xfrm>
            <a:off x="3383280" y="3264408"/>
            <a:ext cx="2331720" cy="27432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Mrs. Pickles</a:t>
            </a:r>
            <a:endParaRPr lang="en-US" sz="1100" dirty="0"/>
          </a:p>
        </p:txBody>
      </p:sp>
      <p:sp>
        <p:nvSpPr>
          <p:cNvPr id="31" name="Text 29"/>
          <p:cNvSpPr/>
          <p:nvPr/>
        </p:nvSpPr>
        <p:spPr>
          <a:xfrm>
            <a:off x="3383280" y="3566160"/>
            <a:ext cx="2331720" cy="658368"/>
          </a:xfrm>
          <a:prstGeom prst="rect">
            <a:avLst/>
          </a:prstGeom>
          <a:noFill/>
          <a:ln/>
        </p:spPr>
        <p:txBody>
          <a:bodyPr wrap="square" rtlCol="0" anchor="t"/>
          <a:lstStyle/>
          <a:p>
            <a:pPr indent="0" marL="0">
              <a:lnSpc>
                <a:spcPct val="120000"/>
              </a:lnSpc>
              <a:buNone/>
            </a:pPr>
            <a:r>
              <a:rPr lang="en-US" sz="780" dirty="0">
                <a:solidFill>
                  <a:srgbClr val="CBD5E1"/>
                </a:solidFill>
                <a:latin typeface="Segoe UI" pitchFamily="34" charset="0"/>
                <a:ea typeface="Segoe UI" pitchFamily="34" charset="-122"/>
                <a:cs typeface="Segoe UI" pitchFamily="34" charset="-120"/>
              </a:rPr>
              <a:t>Melodramatic vanity diva obsessing over her silver mirror, who places it face-down in solemn solidarity with Rocky.</a:t>
            </a:r>
            <a:endParaRPr lang="en-US" sz="780" dirty="0"/>
          </a:p>
        </p:txBody>
      </p:sp>
      <p:sp>
        <p:nvSpPr>
          <p:cNvPr id="32" name="Text 30"/>
          <p:cNvSpPr/>
          <p:nvPr/>
        </p:nvSpPr>
        <p:spPr>
          <a:xfrm>
            <a:off x="3383280" y="4270248"/>
            <a:ext cx="2331720" cy="237744"/>
          </a:xfrm>
          <a:prstGeom prst="rect">
            <a:avLst/>
          </a:prstGeom>
          <a:noFill/>
          <a:ln/>
        </p:spPr>
        <p:txBody>
          <a:bodyPr wrap="square" rtlCol="0" anchor="ctr"/>
          <a:lstStyle/>
          <a:p>
            <a:pPr indent="0" marL="0">
              <a:buNone/>
            </a:pPr>
            <a:r>
              <a:rPr lang="en-US" sz="720" i="1" dirty="0">
                <a:solidFill>
                  <a:srgbClr val="94A3B8"/>
                </a:solidFill>
                <a:latin typeface="Segoe UI" pitchFamily="34" charset="0"/>
                <a:ea typeface="Segoe UI" pitchFamily="34" charset="-122"/>
                <a:cs typeface="Segoe UI" pitchFamily="34" charset="-120"/>
              </a:rPr>
              <a:t>"Nobody look at me until my tail is fluffed!"</a:t>
            </a:r>
            <a:endParaRPr lang="en-US" sz="720" dirty="0"/>
          </a:p>
        </p:txBody>
      </p:sp>
      <p:sp>
        <p:nvSpPr>
          <p:cNvPr id="33" name="Shape 31"/>
          <p:cNvSpPr/>
          <p:nvPr/>
        </p:nvSpPr>
        <p:spPr>
          <a:xfrm>
            <a:off x="5943600" y="2971800"/>
            <a:ext cx="2606040" cy="1627632"/>
          </a:xfrm>
          <a:prstGeom prst="roundRect">
            <a:avLst/>
          </a:prstGeom>
          <a:solidFill>
            <a:srgbClr val="0D1524"/>
          </a:solidFill>
          <a:ln w="15240">
            <a:solidFill>
              <a:srgbClr val="10B981"/>
            </a:solidFill>
            <a:prstDash val="solid"/>
          </a:ln>
        </p:spPr>
      </p:sp>
      <p:sp>
        <p:nvSpPr>
          <p:cNvPr id="34" name="Text 32"/>
          <p:cNvSpPr/>
          <p:nvPr/>
        </p:nvSpPr>
        <p:spPr>
          <a:xfrm>
            <a:off x="6080760" y="3081528"/>
            <a:ext cx="2331720" cy="182880"/>
          </a:xfrm>
          <a:prstGeom prst="rect">
            <a:avLst/>
          </a:prstGeom>
          <a:noFill/>
          <a:ln/>
        </p:spPr>
        <p:txBody>
          <a:bodyPr wrap="square" rtlCol="0" anchor="ctr"/>
          <a:lstStyle/>
          <a:p>
            <a:pPr indent="0" marL="0">
              <a:buNone/>
            </a:pPr>
            <a:r>
              <a:rPr lang="en-US" sz="700" b="1" dirty="0">
                <a:solidFill>
                  <a:srgbClr val="10B981"/>
                </a:solidFill>
                <a:latin typeface="Segoe UI" pitchFamily="34" charset="0"/>
                <a:ea typeface="Segoe UI" pitchFamily="34" charset="-122"/>
                <a:cs typeface="Segoe UI" pitchFamily="34" charset="-120"/>
              </a:rPr>
              <a:t>CHORUS &amp; LEGACY</a:t>
            </a:r>
            <a:endParaRPr lang="en-US" sz="700" dirty="0"/>
          </a:p>
        </p:txBody>
      </p:sp>
      <p:sp>
        <p:nvSpPr>
          <p:cNvPr id="35" name="Text 33"/>
          <p:cNvSpPr/>
          <p:nvPr/>
        </p:nvSpPr>
        <p:spPr>
          <a:xfrm>
            <a:off x="6080760" y="3264408"/>
            <a:ext cx="2331720" cy="27432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Old Oak &amp; Pip</a:t>
            </a:r>
            <a:endParaRPr lang="en-US" sz="1100" dirty="0"/>
          </a:p>
        </p:txBody>
      </p:sp>
      <p:sp>
        <p:nvSpPr>
          <p:cNvPr id="36" name="Text 34"/>
          <p:cNvSpPr/>
          <p:nvPr/>
        </p:nvSpPr>
        <p:spPr>
          <a:xfrm>
            <a:off x="6080760" y="3566160"/>
            <a:ext cx="2331720" cy="658368"/>
          </a:xfrm>
          <a:prstGeom prst="rect">
            <a:avLst/>
          </a:prstGeom>
          <a:noFill/>
          <a:ln/>
        </p:spPr>
        <p:txBody>
          <a:bodyPr wrap="square" rtlCol="0" anchor="t"/>
          <a:lstStyle/>
          <a:p>
            <a:pPr indent="0" marL="0">
              <a:lnSpc>
                <a:spcPct val="120000"/>
              </a:lnSpc>
              <a:buNone/>
            </a:pPr>
            <a:r>
              <a:rPr lang="en-US" sz="780" dirty="0">
                <a:solidFill>
                  <a:srgbClr val="CBD5E1"/>
                </a:solidFill>
                <a:latin typeface="Segoe UI" pitchFamily="34" charset="0"/>
                <a:ea typeface="Segoe UI" pitchFamily="34" charset="-122"/>
                <a:cs typeface="Segoe UI" pitchFamily="34" charset="-120"/>
              </a:rPr>
              <a:t>Old Oak holds the ancient history of chosen trees; young sapling Pip carries Rocky's legend into future generations.</a:t>
            </a:r>
            <a:endParaRPr lang="en-US" sz="780" dirty="0"/>
          </a:p>
        </p:txBody>
      </p:sp>
      <p:sp>
        <p:nvSpPr>
          <p:cNvPr id="37" name="Text 35"/>
          <p:cNvSpPr/>
          <p:nvPr/>
        </p:nvSpPr>
        <p:spPr>
          <a:xfrm>
            <a:off x="6080760" y="4270248"/>
            <a:ext cx="2331720" cy="237744"/>
          </a:xfrm>
          <a:prstGeom prst="rect">
            <a:avLst/>
          </a:prstGeom>
          <a:noFill/>
          <a:ln/>
        </p:spPr>
        <p:txBody>
          <a:bodyPr wrap="square" rtlCol="0" anchor="ctr"/>
          <a:lstStyle/>
          <a:p>
            <a:pPr indent="0" marL="0">
              <a:buNone/>
            </a:pPr>
            <a:r>
              <a:rPr lang="en-US" sz="720" i="1" dirty="0">
                <a:solidFill>
                  <a:srgbClr val="94A3B8"/>
                </a:solidFill>
                <a:latin typeface="Segoe UI" pitchFamily="34" charset="0"/>
                <a:ea typeface="Segoe UI" pitchFamily="34" charset="-122"/>
                <a:cs typeface="Segoe UI" pitchFamily="34" charset="-120"/>
              </a:rPr>
              <a:t>"Where do chosen trees go? Into homes of families."</a:t>
            </a:r>
            <a:endParaRPr lang="en-US" sz="7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B12"/>
        </a:solidFill>
      </p:bgPr>
    </p:bg>
    <p:spTree>
      <p:nvGrpSpPr>
        <p:cNvPr id="1" name=""/>
        <p:cNvGrpSpPr/>
        <p:nvPr/>
      </p:nvGrpSpPr>
      <p:grpSpPr>
        <a:xfrm>
          <a:off x="0" y="0"/>
          <a:ext cx="0" cy="0"/>
          <a:chOff x="0" y="0"/>
          <a:chExt cx="0" cy="0"/>
        </a:xfrm>
      </p:grpSpPr>
      <p:sp>
        <p:nvSpPr>
          <p:cNvPr id="2" name="Shape 0"/>
          <p:cNvSpPr/>
          <p:nvPr/>
        </p:nvSpPr>
        <p:spPr>
          <a:xfrm>
            <a:off x="548640" y="320040"/>
            <a:ext cx="8046720" cy="13716"/>
          </a:xfrm>
          <a:prstGeom prst="rect">
            <a:avLst/>
          </a:prstGeom>
          <a:solidFill>
            <a:srgbClr val="24334C"/>
          </a:solidFill>
          <a:ln/>
        </p:spPr>
      </p:sp>
      <p:sp>
        <p:nvSpPr>
          <p:cNvPr id="3" name="Text 1"/>
          <p:cNvSpPr/>
          <p:nvPr/>
        </p:nvSpPr>
        <p:spPr>
          <a:xfrm>
            <a:off x="548640" y="384048"/>
            <a:ext cx="6217920" cy="201168"/>
          </a:xfrm>
          <a:prstGeom prst="rect">
            <a:avLst/>
          </a:prstGeom>
          <a:noFill/>
          <a:ln/>
        </p:spPr>
        <p:txBody>
          <a:bodyPr wrap="square" rtlCol="0" anchor="ctr"/>
          <a:lstStyle/>
          <a:p>
            <a:pPr indent="0" marL="0">
              <a:buNone/>
            </a:pPr>
            <a:r>
              <a:rPr lang="en-US" sz="800" b="1" dirty="0">
                <a:solidFill>
                  <a:srgbClr val="38BDF8"/>
                </a:solidFill>
                <a:latin typeface="Segoe UI" pitchFamily="34" charset="0"/>
                <a:ea typeface="Segoe UI" pitchFamily="34" charset="-122"/>
                <a:cs typeface="Segoe UI" pitchFamily="34" charset="-120"/>
              </a:rPr>
              <a:t>SCREENPLAY BEAT BOARD</a:t>
            </a:r>
            <a:endParaRPr lang="en-US" sz="800" dirty="0"/>
          </a:p>
        </p:txBody>
      </p:sp>
      <p:sp>
        <p:nvSpPr>
          <p:cNvPr id="4" name="Text 2"/>
          <p:cNvSpPr/>
          <p:nvPr/>
        </p:nvSpPr>
        <p:spPr>
          <a:xfrm>
            <a:off x="548640" y="621792"/>
            <a:ext cx="6583680" cy="411480"/>
          </a:xfrm>
          <a:prstGeom prst="rect">
            <a:avLst/>
          </a:prstGeom>
          <a:noFill/>
          <a:ln/>
        </p:spPr>
        <p:txBody>
          <a:bodyPr wrap="square"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33 Sequential Story Beats (Acts 1, 2 &amp; 3)</a:t>
            </a:r>
            <a:endParaRPr lang="en-US" sz="1700" dirty="0"/>
          </a:p>
        </p:txBody>
      </p:sp>
      <p:sp>
        <p:nvSpPr>
          <p:cNvPr id="5" name="Shape 3"/>
          <p:cNvSpPr/>
          <p:nvPr/>
        </p:nvSpPr>
        <p:spPr>
          <a:xfrm>
            <a:off x="7132320" y="411480"/>
            <a:ext cx="1463040" cy="292608"/>
          </a:xfrm>
          <a:prstGeom prst="roundRect">
            <a:avLst/>
          </a:prstGeom>
          <a:solidFill>
            <a:srgbClr val="0D1524"/>
          </a:solidFill>
          <a:ln w="12700">
            <a:solidFill>
              <a:srgbClr val="24334C"/>
            </a:solidFill>
            <a:prstDash val="solid"/>
          </a:ln>
        </p:spPr>
      </p:sp>
      <p:sp>
        <p:nvSpPr>
          <p:cNvPr id="6" name="Text 4"/>
          <p:cNvSpPr/>
          <p:nvPr/>
        </p:nvSpPr>
        <p:spPr>
          <a:xfrm>
            <a:off x="7132320" y="411480"/>
            <a:ext cx="1463040" cy="292608"/>
          </a:xfrm>
          <a:prstGeom prst="rect">
            <a:avLst/>
          </a:prstGeom>
          <a:noFill/>
          <a:ln/>
        </p:spPr>
        <p:txBody>
          <a:bodyPr wrap="square" rtlCol="0" anchor="ctr"/>
          <a:lstStyle/>
          <a:p>
            <a:pPr algn="ctr" indent="0" marL="0">
              <a:buNone/>
            </a:pPr>
            <a:r>
              <a:rPr lang="en-US" sz="750" b="1" dirty="0">
                <a:solidFill>
                  <a:srgbClr val="FBBF24"/>
                </a:solidFill>
                <a:latin typeface="Segoe UI" pitchFamily="34" charset="0"/>
                <a:ea typeface="Segoe UI" pitchFamily="34" charset="-122"/>
                <a:cs typeface="Segoe UI" pitchFamily="34" charset="-120"/>
              </a:rPr>
              <a:t>NEO GEN STUDIOS</a:t>
            </a:r>
            <a:endParaRPr lang="en-US" sz="750" dirty="0"/>
          </a:p>
        </p:txBody>
      </p:sp>
      <p:sp>
        <p:nvSpPr>
          <p:cNvPr id="7" name="Text 5"/>
          <p:cNvSpPr/>
          <p:nvPr/>
        </p:nvSpPr>
        <p:spPr>
          <a:xfrm>
            <a:off x="548640" y="4864608"/>
            <a:ext cx="8046720" cy="182880"/>
          </a:xfrm>
          <a:prstGeom prst="rect">
            <a:avLst/>
          </a:prstGeom>
          <a:noFill/>
          <a:ln/>
        </p:spPr>
        <p:txBody>
          <a:bodyPr wrap="square" rtlCol="0" anchor="ctr"/>
          <a:lstStyle/>
          <a:p>
            <a:pPr indent="0" marL="0">
              <a:buNone/>
            </a:pPr>
            <a:r>
              <a:rPr lang="en-US" sz="750" dirty="0">
                <a:solidFill>
                  <a:srgbClr val="94A3B8"/>
                </a:solidFill>
                <a:latin typeface="Segoe UI" pitchFamily="34" charset="0"/>
                <a:ea typeface="Segoe UI" pitchFamily="34" charset="-122"/>
                <a:cs typeface="Segoe UI" pitchFamily="34" charset="-120"/>
              </a:rPr>
              <a:t>NEO GEN TECHNOLOGIES  |  ROCKY: THE ROCKEFELLER CHRISTMAS TREE  |  EXECUTIVE SOW  |  SLIDE 4</a:t>
            </a:r>
            <a:endParaRPr lang="en-US" sz="750" dirty="0"/>
          </a:p>
        </p:txBody>
      </p:sp>
      <p:sp>
        <p:nvSpPr>
          <p:cNvPr id="8" name="Shape 6"/>
          <p:cNvSpPr/>
          <p:nvPr/>
        </p:nvSpPr>
        <p:spPr>
          <a:xfrm>
            <a:off x="548640" y="1234440"/>
            <a:ext cx="2606040" cy="3474720"/>
          </a:xfrm>
          <a:prstGeom prst="roundRect">
            <a:avLst/>
          </a:prstGeom>
          <a:solidFill>
            <a:srgbClr val="0D1524"/>
          </a:solidFill>
          <a:ln w="15240">
            <a:solidFill>
              <a:srgbClr val="38BDF8"/>
            </a:solidFill>
            <a:prstDash val="solid"/>
          </a:ln>
        </p:spPr>
      </p:sp>
      <p:sp>
        <p:nvSpPr>
          <p:cNvPr id="9" name="Shape 7"/>
          <p:cNvSpPr/>
          <p:nvPr/>
        </p:nvSpPr>
        <p:spPr>
          <a:xfrm>
            <a:off x="685800" y="1380744"/>
            <a:ext cx="2331720" cy="256032"/>
          </a:xfrm>
          <a:prstGeom prst="roundRect">
            <a:avLst/>
          </a:prstGeom>
          <a:solidFill>
            <a:srgbClr val="08172E"/>
          </a:solidFill>
          <a:ln w="10160">
            <a:solidFill>
              <a:srgbClr val="38BDF8"/>
            </a:solidFill>
            <a:prstDash val="solid"/>
          </a:ln>
        </p:spPr>
      </p:sp>
      <p:sp>
        <p:nvSpPr>
          <p:cNvPr id="10" name="Text 8"/>
          <p:cNvSpPr/>
          <p:nvPr/>
        </p:nvSpPr>
        <p:spPr>
          <a:xfrm>
            <a:off x="685800" y="1380744"/>
            <a:ext cx="2331720" cy="256032"/>
          </a:xfrm>
          <a:prstGeom prst="rect">
            <a:avLst/>
          </a:prstGeom>
          <a:noFill/>
          <a:ln/>
        </p:spPr>
        <p:txBody>
          <a:bodyPr wrap="square" rtlCol="0" anchor="ctr"/>
          <a:lstStyle/>
          <a:p>
            <a:pPr algn="ctr" indent="0" marL="0">
              <a:buNone/>
            </a:pPr>
            <a:r>
              <a:rPr lang="en-US" sz="750" b="1" dirty="0">
                <a:solidFill>
                  <a:srgbClr val="38BDF8"/>
                </a:solidFill>
                <a:latin typeface="Segoe UI" pitchFamily="34" charset="0"/>
                <a:ea typeface="Segoe UI" pitchFamily="34" charset="-122"/>
                <a:cs typeface="Segoe UI" pitchFamily="34" charset="-120"/>
              </a:rPr>
              <a:t>ACT 1: THE HOLLOW</a:t>
            </a:r>
            <a:endParaRPr lang="en-US" sz="750" dirty="0"/>
          </a:p>
        </p:txBody>
      </p:sp>
      <p:sp>
        <p:nvSpPr>
          <p:cNvPr id="11" name="Text 9"/>
          <p:cNvSpPr/>
          <p:nvPr/>
        </p:nvSpPr>
        <p:spPr>
          <a:xfrm>
            <a:off x="685800" y="1691640"/>
            <a:ext cx="2331720" cy="228600"/>
          </a:xfrm>
          <a:prstGeom prst="rect">
            <a:avLst/>
          </a:prstGeom>
          <a:noFill/>
          <a:ln/>
        </p:spPr>
        <p:txBody>
          <a:bodyPr wrap="square"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Beats 01–08 (Setup &amp; Call)</a:t>
            </a:r>
            <a:endParaRPr lang="en-US" sz="800" dirty="0"/>
          </a:p>
        </p:txBody>
      </p:sp>
      <p:sp>
        <p:nvSpPr>
          <p:cNvPr id="12" name="Text 10"/>
          <p:cNvSpPr/>
          <p:nvPr/>
        </p:nvSpPr>
        <p:spPr>
          <a:xfrm>
            <a:off x="685800" y="2011680"/>
            <a:ext cx="2331720" cy="2560320"/>
          </a:xfrm>
          <a:prstGeom prst="rect">
            <a:avLst/>
          </a:prstGeom>
          <a:noFill/>
          <a:ln/>
        </p:spPr>
        <p:txBody>
          <a:bodyPr wrap="square" rtlCol="0" anchor="t"/>
          <a:lstStyle/>
          <a:p>
            <a:pPr indent="0" marL="0">
              <a:lnSpc>
                <a:spcPct val="122000"/>
              </a:lnSpc>
              <a:buNone/>
            </a:pPr>
            <a:r>
              <a:rPr lang="en-US" sz="760" dirty="0">
                <a:solidFill>
                  <a:srgbClr val="CBD5E1"/>
                </a:solidFill>
                <a:latin typeface="Segoe UI" pitchFamily="34" charset="0"/>
                <a:ea typeface="Segoe UI" pitchFamily="34" charset="-122"/>
                <a:cs typeface="Segoe UI" pitchFamily="34" charset="-120"/>
              </a:rPr>
              <a:t>•  01. The Little Tree with Big Dreams (Opening)</a:t>
            </a:r>
            <a:endParaRPr lang="en-US" sz="760" dirty="0"/>
          </a:p>
          <a:p>
            <a:pPr indent="0" marL="0">
              <a:lnSpc>
                <a:spcPct val="122000"/>
              </a:lnSpc>
              <a:buNone/>
            </a:pPr>
            <a:endParaRPr lang="en-US" sz="760" dirty="0"/>
          </a:p>
          <a:p>
            <a:pPr indent="0" marL="0">
              <a:lnSpc>
                <a:spcPct val="122000"/>
              </a:lnSpc>
              <a:buNone/>
            </a:pPr>
            <a:r>
              <a:rPr lang="en-US" sz="760" dirty="0">
                <a:solidFill>
                  <a:srgbClr val="CBD5E1"/>
                </a:solidFill>
                <a:latin typeface="Segoe UI" pitchFamily="34" charset="0"/>
                <a:ea typeface="Segoe UI" pitchFamily="34" charset="-122"/>
                <a:cs typeface="Segoe UI" pitchFamily="34" charset="-120"/>
              </a:rPr>
              <a:t>•  02. The Song of the Forest (AJ's taunts)</a:t>
            </a:r>
            <a:endParaRPr lang="en-US" sz="760" dirty="0"/>
          </a:p>
          <a:p>
            <a:pPr indent="0" marL="0">
              <a:lnSpc>
                <a:spcPct val="122000"/>
              </a:lnSpc>
              <a:buNone/>
            </a:pPr>
            <a:endParaRPr lang="en-US" sz="760" dirty="0"/>
          </a:p>
          <a:p>
            <a:pPr indent="0" marL="0">
              <a:lnSpc>
                <a:spcPct val="122000"/>
              </a:lnSpc>
              <a:buNone/>
            </a:pPr>
            <a:r>
              <a:rPr lang="en-US" sz="760" dirty="0">
                <a:solidFill>
                  <a:srgbClr val="CBD5E1"/>
                </a:solidFill>
                <a:latin typeface="Segoe UI" pitchFamily="34" charset="0"/>
                <a:ea typeface="Segoe UI" pitchFamily="34" charset="-122"/>
                <a:cs typeface="Segoe UI" pitchFamily="34" charset="-120"/>
              </a:rPr>
              <a:t>•  03. The Legend of the Plaza (Old Oak's tale)</a:t>
            </a:r>
            <a:endParaRPr lang="en-US" sz="760" dirty="0"/>
          </a:p>
          <a:p>
            <a:pPr indent="0" marL="0">
              <a:lnSpc>
                <a:spcPct val="122000"/>
              </a:lnSpc>
              <a:buNone/>
            </a:pPr>
            <a:endParaRPr lang="en-US" sz="760" dirty="0"/>
          </a:p>
          <a:p>
            <a:pPr indent="0" marL="0">
              <a:lnSpc>
                <a:spcPct val="122000"/>
              </a:lnSpc>
              <a:buNone/>
            </a:pPr>
            <a:r>
              <a:rPr lang="en-US" sz="760" dirty="0">
                <a:solidFill>
                  <a:srgbClr val="CBD5E1"/>
                </a:solidFill>
                <a:latin typeface="Segoe UI" pitchFamily="34" charset="0"/>
                <a:ea typeface="Segoe UI" pitchFamily="34" charset="-122"/>
                <a:cs typeface="Segoe UI" pitchFamily="34" charset="-120"/>
              </a:rPr>
              <a:t>•  04. Bruce Spruce's Grand Shadow (Rivalry)</a:t>
            </a:r>
            <a:endParaRPr lang="en-US" sz="760" dirty="0"/>
          </a:p>
          <a:p>
            <a:pPr indent="0" marL="0">
              <a:lnSpc>
                <a:spcPct val="122000"/>
              </a:lnSpc>
              <a:buNone/>
            </a:pPr>
            <a:endParaRPr lang="en-US" sz="760" dirty="0"/>
          </a:p>
          <a:p>
            <a:pPr indent="0" marL="0">
              <a:lnSpc>
                <a:spcPct val="122000"/>
              </a:lnSpc>
              <a:buNone/>
            </a:pPr>
            <a:r>
              <a:rPr lang="en-US" sz="760" dirty="0">
                <a:solidFill>
                  <a:srgbClr val="CBD5E1"/>
                </a:solidFill>
                <a:latin typeface="Segoe UI" pitchFamily="34" charset="0"/>
                <a:ea typeface="Segoe UI" pitchFamily="34" charset="-122"/>
                <a:cs typeface="Segoe UI" pitchFamily="34" charset="-120"/>
              </a:rPr>
              <a:t>•  05. Mary Louise's Whisper (Inciting Incident)</a:t>
            </a:r>
            <a:endParaRPr lang="en-US" sz="760" dirty="0"/>
          </a:p>
          <a:p>
            <a:pPr indent="0" marL="0">
              <a:lnSpc>
                <a:spcPct val="122000"/>
              </a:lnSpc>
              <a:buNone/>
            </a:pPr>
            <a:endParaRPr lang="en-US" sz="760" dirty="0"/>
          </a:p>
          <a:p>
            <a:pPr indent="0" marL="0">
              <a:lnSpc>
                <a:spcPct val="122000"/>
              </a:lnSpc>
              <a:buNone/>
            </a:pPr>
            <a:r>
              <a:rPr lang="en-US" sz="760" dirty="0">
                <a:solidFill>
                  <a:srgbClr val="CBD5E1"/>
                </a:solidFill>
                <a:latin typeface="Segoe UI" pitchFamily="34" charset="0"/>
                <a:ea typeface="Segoe UI" pitchFamily="34" charset="-122"/>
                <a:cs typeface="Segoe UI" pitchFamily="34" charset="-120"/>
              </a:rPr>
              <a:t>•  06. The Measure of Grandeur (First Trial)</a:t>
            </a:r>
            <a:endParaRPr lang="en-US" sz="760" dirty="0"/>
          </a:p>
          <a:p>
            <a:pPr indent="0" marL="0">
              <a:lnSpc>
                <a:spcPct val="122000"/>
              </a:lnSpc>
              <a:buNone/>
            </a:pPr>
            <a:endParaRPr lang="en-US" sz="760" dirty="0"/>
          </a:p>
          <a:p>
            <a:pPr indent="0" marL="0">
              <a:lnSpc>
                <a:spcPct val="122000"/>
              </a:lnSpc>
              <a:buNone/>
            </a:pPr>
            <a:r>
              <a:rPr lang="en-US" sz="760" dirty="0">
                <a:solidFill>
                  <a:srgbClr val="CBD5E1"/>
                </a:solidFill>
                <a:latin typeface="Segoe UI" pitchFamily="34" charset="0"/>
                <a:ea typeface="Segoe UI" pitchFamily="34" charset="-122"/>
                <a:cs typeface="Segoe UI" pitchFamily="34" charset="-120"/>
              </a:rPr>
              <a:t>•  07. Warning from the Winds (Foreshadowing)</a:t>
            </a:r>
            <a:endParaRPr lang="en-US" sz="760" dirty="0"/>
          </a:p>
          <a:p>
            <a:pPr indent="0" marL="0">
              <a:lnSpc>
                <a:spcPct val="122000"/>
              </a:lnSpc>
              <a:buNone/>
            </a:pPr>
            <a:endParaRPr lang="en-US" sz="760" dirty="0"/>
          </a:p>
          <a:p>
            <a:pPr indent="0" marL="0">
              <a:lnSpc>
                <a:spcPct val="122000"/>
              </a:lnSpc>
              <a:buNone/>
            </a:pPr>
            <a:r>
              <a:rPr lang="en-US" sz="760" dirty="0">
                <a:solidFill>
                  <a:srgbClr val="CBD5E1"/>
                </a:solidFill>
                <a:latin typeface="Segoe UI" pitchFamily="34" charset="0"/>
                <a:ea typeface="Segoe UI" pitchFamily="34" charset="-122"/>
                <a:cs typeface="Segoe UI" pitchFamily="34" charset="-120"/>
              </a:rPr>
              <a:t>•  08. Crossing the First Ridge (Act 1 Climax)</a:t>
            </a:r>
            <a:endParaRPr lang="en-US" sz="760" dirty="0"/>
          </a:p>
        </p:txBody>
      </p:sp>
      <p:sp>
        <p:nvSpPr>
          <p:cNvPr id="13" name="Shape 11"/>
          <p:cNvSpPr/>
          <p:nvPr/>
        </p:nvSpPr>
        <p:spPr>
          <a:xfrm>
            <a:off x="3246120" y="1234440"/>
            <a:ext cx="2606040" cy="3474720"/>
          </a:xfrm>
          <a:prstGeom prst="roundRect">
            <a:avLst/>
          </a:prstGeom>
          <a:solidFill>
            <a:srgbClr val="0D1524"/>
          </a:solidFill>
          <a:ln w="15240">
            <a:solidFill>
              <a:srgbClr val="F59E0B"/>
            </a:solidFill>
            <a:prstDash val="solid"/>
          </a:ln>
        </p:spPr>
      </p:sp>
      <p:sp>
        <p:nvSpPr>
          <p:cNvPr id="14" name="Shape 12"/>
          <p:cNvSpPr/>
          <p:nvPr/>
        </p:nvSpPr>
        <p:spPr>
          <a:xfrm>
            <a:off x="3383280" y="1380744"/>
            <a:ext cx="2331720" cy="256032"/>
          </a:xfrm>
          <a:prstGeom prst="roundRect">
            <a:avLst/>
          </a:prstGeom>
          <a:solidFill>
            <a:srgbClr val="1E1708"/>
          </a:solidFill>
          <a:ln w="10160">
            <a:solidFill>
              <a:srgbClr val="F59E0B"/>
            </a:solidFill>
            <a:prstDash val="solid"/>
          </a:ln>
        </p:spPr>
      </p:sp>
      <p:sp>
        <p:nvSpPr>
          <p:cNvPr id="15" name="Text 13"/>
          <p:cNvSpPr/>
          <p:nvPr/>
        </p:nvSpPr>
        <p:spPr>
          <a:xfrm>
            <a:off x="3383280" y="1380744"/>
            <a:ext cx="2331720" cy="256032"/>
          </a:xfrm>
          <a:prstGeom prst="rect">
            <a:avLst/>
          </a:prstGeom>
          <a:noFill/>
          <a:ln/>
        </p:spPr>
        <p:txBody>
          <a:bodyPr wrap="square" rtlCol="0" anchor="ctr"/>
          <a:lstStyle/>
          <a:p>
            <a:pPr algn="ctr" indent="0" marL="0">
              <a:buNone/>
            </a:pPr>
            <a:r>
              <a:rPr lang="en-US" sz="750" b="1" dirty="0">
                <a:solidFill>
                  <a:srgbClr val="F59E0B"/>
                </a:solidFill>
                <a:latin typeface="Segoe UI" pitchFamily="34" charset="0"/>
                <a:ea typeface="Segoe UI" pitchFamily="34" charset="-122"/>
                <a:cs typeface="Segoe UI" pitchFamily="34" charset="-120"/>
              </a:rPr>
              <a:t>ACT 2: THE SACRIFICE &amp; ICE</a:t>
            </a:r>
            <a:endParaRPr lang="en-US" sz="750" dirty="0"/>
          </a:p>
        </p:txBody>
      </p:sp>
      <p:sp>
        <p:nvSpPr>
          <p:cNvPr id="16" name="Text 14"/>
          <p:cNvSpPr/>
          <p:nvPr/>
        </p:nvSpPr>
        <p:spPr>
          <a:xfrm>
            <a:off x="3383280" y="1691640"/>
            <a:ext cx="2331720" cy="228600"/>
          </a:xfrm>
          <a:prstGeom prst="rect">
            <a:avLst/>
          </a:prstGeom>
          <a:noFill/>
          <a:ln/>
        </p:spPr>
        <p:txBody>
          <a:bodyPr wrap="square"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Beats 09–24 (Conflict &amp; Choice)</a:t>
            </a:r>
            <a:endParaRPr lang="en-US" sz="800" dirty="0"/>
          </a:p>
        </p:txBody>
      </p:sp>
      <p:sp>
        <p:nvSpPr>
          <p:cNvPr id="17" name="Text 15"/>
          <p:cNvSpPr/>
          <p:nvPr/>
        </p:nvSpPr>
        <p:spPr>
          <a:xfrm>
            <a:off x="3383280" y="2011680"/>
            <a:ext cx="2331720" cy="2560320"/>
          </a:xfrm>
          <a:prstGeom prst="rect">
            <a:avLst/>
          </a:prstGeom>
          <a:noFill/>
          <a:ln/>
        </p:spPr>
        <p:txBody>
          <a:bodyPr wrap="square" rtlCol="0" anchor="t"/>
          <a:lstStyle/>
          <a:p>
            <a:pPr indent="0" marL="0">
              <a:lnSpc>
                <a:spcPct val="122000"/>
              </a:lnSpc>
              <a:buNone/>
            </a:pPr>
            <a:r>
              <a:rPr lang="en-US" sz="760" dirty="0">
                <a:solidFill>
                  <a:srgbClr val="CBD5E1"/>
                </a:solidFill>
                <a:latin typeface="Segoe UI" pitchFamily="34" charset="0"/>
                <a:ea typeface="Segoe UI" pitchFamily="34" charset="-122"/>
                <a:cs typeface="Segoe UI" pitchFamily="34" charset="-120"/>
              </a:rPr>
              <a:t>•  09. The Freezing Night (Rising Tension)</a:t>
            </a:r>
            <a:endParaRPr lang="en-US" sz="760" dirty="0"/>
          </a:p>
          <a:p>
            <a:pPr indent="0" marL="0">
              <a:lnSpc>
                <a:spcPct val="122000"/>
              </a:lnSpc>
              <a:buNone/>
            </a:pPr>
            <a:endParaRPr lang="en-US" sz="760" dirty="0"/>
          </a:p>
          <a:p>
            <a:pPr indent="0" marL="0">
              <a:lnSpc>
                <a:spcPct val="122000"/>
              </a:lnSpc>
              <a:buNone/>
            </a:pPr>
            <a:r>
              <a:rPr lang="en-US" sz="760" dirty="0">
                <a:solidFill>
                  <a:srgbClr val="CBD5E1"/>
                </a:solidFill>
                <a:latin typeface="Segoe UI" pitchFamily="34" charset="0"/>
                <a:ea typeface="Segoe UI" pitchFamily="34" charset="-122"/>
                <a:cs typeface="Segoe UI" pitchFamily="34" charset="-120"/>
              </a:rPr>
              <a:t>•  11. Protecting Young Pip (The Big Choice)</a:t>
            </a:r>
            <a:endParaRPr lang="en-US" sz="760" dirty="0"/>
          </a:p>
          <a:p>
            <a:pPr indent="0" marL="0">
              <a:lnSpc>
                <a:spcPct val="122000"/>
              </a:lnSpc>
              <a:buNone/>
            </a:pPr>
            <a:endParaRPr lang="en-US" sz="760" dirty="0"/>
          </a:p>
          <a:p>
            <a:pPr indent="0" marL="0">
              <a:lnSpc>
                <a:spcPct val="122000"/>
              </a:lnSpc>
              <a:buNone/>
            </a:pPr>
            <a:r>
              <a:rPr lang="en-US" sz="760" dirty="0">
                <a:solidFill>
                  <a:srgbClr val="CBD5E1"/>
                </a:solidFill>
                <a:latin typeface="Segoe UI" pitchFamily="34" charset="0"/>
                <a:ea typeface="Segoe UI" pitchFamily="34" charset="-122"/>
                <a:cs typeface="Segoe UI" pitchFamily="34" charset="-120"/>
              </a:rPr>
              <a:t>•  13. Breaking Branches (The Core Sacrifice)</a:t>
            </a:r>
            <a:endParaRPr lang="en-US" sz="760" dirty="0"/>
          </a:p>
          <a:p>
            <a:pPr indent="0" marL="0">
              <a:lnSpc>
                <a:spcPct val="122000"/>
              </a:lnSpc>
              <a:buNone/>
            </a:pPr>
            <a:endParaRPr lang="en-US" sz="760" dirty="0"/>
          </a:p>
          <a:p>
            <a:pPr indent="0" marL="0">
              <a:lnSpc>
                <a:spcPct val="122000"/>
              </a:lnSpc>
              <a:buNone/>
            </a:pPr>
            <a:r>
              <a:rPr lang="en-US" sz="760" dirty="0">
                <a:solidFill>
                  <a:srgbClr val="CBD5E1"/>
                </a:solidFill>
                <a:latin typeface="Segoe UI" pitchFamily="34" charset="0"/>
                <a:ea typeface="Segoe UI" pitchFamily="34" charset="-122"/>
                <a:cs typeface="Segoe UI" pitchFamily="34" charset="-120"/>
              </a:rPr>
              <a:t>•  16. The Dawn After the Storm (All is Lost)</a:t>
            </a:r>
            <a:endParaRPr lang="en-US" sz="760" dirty="0"/>
          </a:p>
          <a:p>
            <a:pPr indent="0" marL="0">
              <a:lnSpc>
                <a:spcPct val="122000"/>
              </a:lnSpc>
              <a:buNone/>
            </a:pPr>
            <a:endParaRPr lang="en-US" sz="760" dirty="0"/>
          </a:p>
          <a:p>
            <a:pPr indent="0" marL="0">
              <a:lnSpc>
                <a:spcPct val="122000"/>
              </a:lnSpc>
              <a:buNone/>
            </a:pPr>
            <a:r>
              <a:rPr lang="en-US" sz="760" dirty="0">
                <a:solidFill>
                  <a:srgbClr val="CBD5E1"/>
                </a:solidFill>
                <a:latin typeface="Segoe UI" pitchFamily="34" charset="0"/>
                <a:ea typeface="Segoe UI" pitchFamily="34" charset="-122"/>
                <a:cs typeface="Segoe UI" pitchFamily="34" charset="-120"/>
              </a:rPr>
              <a:t>•  19. The Helicopters Arrive (Selection Day)</a:t>
            </a:r>
            <a:endParaRPr lang="en-US" sz="760" dirty="0"/>
          </a:p>
          <a:p>
            <a:pPr indent="0" marL="0">
              <a:lnSpc>
                <a:spcPct val="122000"/>
              </a:lnSpc>
              <a:buNone/>
            </a:pPr>
            <a:endParaRPr lang="en-US" sz="760" dirty="0"/>
          </a:p>
          <a:p>
            <a:pPr indent="0" marL="0">
              <a:lnSpc>
                <a:spcPct val="122000"/>
              </a:lnSpc>
              <a:buNone/>
            </a:pPr>
            <a:r>
              <a:rPr lang="en-US" sz="760" dirty="0">
                <a:solidFill>
                  <a:srgbClr val="CBD5E1"/>
                </a:solidFill>
                <a:latin typeface="Segoe UI" pitchFamily="34" charset="0"/>
                <a:ea typeface="Segoe UI" pitchFamily="34" charset="-122"/>
                <a:cs typeface="Segoe UI" pitchFamily="34" charset="-120"/>
              </a:rPr>
              <a:t>•  21. The Selection Crew Judges the Forest</a:t>
            </a:r>
            <a:endParaRPr lang="en-US" sz="760" dirty="0"/>
          </a:p>
          <a:p>
            <a:pPr indent="0" marL="0">
              <a:lnSpc>
                <a:spcPct val="122000"/>
              </a:lnSpc>
              <a:buNone/>
            </a:pPr>
            <a:endParaRPr lang="en-US" sz="760" dirty="0"/>
          </a:p>
          <a:p>
            <a:pPr indent="0" marL="0">
              <a:lnSpc>
                <a:spcPct val="122000"/>
              </a:lnSpc>
              <a:buNone/>
            </a:pPr>
            <a:r>
              <a:rPr lang="en-US" sz="760" dirty="0">
                <a:solidFill>
                  <a:srgbClr val="CBD5E1"/>
                </a:solidFill>
                <a:latin typeface="Segoe UI" pitchFamily="34" charset="0"/>
                <a:ea typeface="Segoe UI" pitchFamily="34" charset="-122"/>
                <a:cs typeface="Segoe UI" pitchFamily="34" charset="-120"/>
              </a:rPr>
              <a:t>•  23. Mrs. Pickles' Mirror Solidifies Belief</a:t>
            </a:r>
            <a:endParaRPr lang="en-US" sz="760" dirty="0"/>
          </a:p>
          <a:p>
            <a:pPr indent="0" marL="0">
              <a:lnSpc>
                <a:spcPct val="122000"/>
              </a:lnSpc>
              <a:buNone/>
            </a:pPr>
            <a:endParaRPr lang="en-US" sz="760" dirty="0"/>
          </a:p>
          <a:p>
            <a:pPr indent="0" marL="0">
              <a:lnSpc>
                <a:spcPct val="122000"/>
              </a:lnSpc>
              <a:buNone/>
            </a:pPr>
            <a:r>
              <a:rPr lang="en-US" sz="760" dirty="0">
                <a:solidFill>
                  <a:srgbClr val="CBD5E1"/>
                </a:solidFill>
                <a:latin typeface="Segoe UI" pitchFamily="34" charset="0"/>
                <a:ea typeface="Segoe UI" pitchFamily="34" charset="-122"/>
                <a:cs typeface="Segoe UI" pitchFamily="34" charset="-120"/>
              </a:rPr>
              <a:t>•  24. The Red Ribbon on Rocky (Act 2 Climax)</a:t>
            </a:r>
            <a:endParaRPr lang="en-US" sz="760" dirty="0"/>
          </a:p>
        </p:txBody>
      </p:sp>
      <p:sp>
        <p:nvSpPr>
          <p:cNvPr id="18" name="Shape 16"/>
          <p:cNvSpPr/>
          <p:nvPr/>
        </p:nvSpPr>
        <p:spPr>
          <a:xfrm>
            <a:off x="5943600" y="1234440"/>
            <a:ext cx="2606040" cy="3474720"/>
          </a:xfrm>
          <a:prstGeom prst="roundRect">
            <a:avLst/>
          </a:prstGeom>
          <a:solidFill>
            <a:srgbClr val="0D1524"/>
          </a:solidFill>
          <a:ln w="15240">
            <a:solidFill>
              <a:srgbClr val="FBBF24"/>
            </a:solidFill>
            <a:prstDash val="solid"/>
          </a:ln>
        </p:spPr>
      </p:sp>
      <p:sp>
        <p:nvSpPr>
          <p:cNvPr id="19" name="Shape 17"/>
          <p:cNvSpPr/>
          <p:nvPr/>
        </p:nvSpPr>
        <p:spPr>
          <a:xfrm>
            <a:off x="6080760" y="1380744"/>
            <a:ext cx="2331720" cy="256032"/>
          </a:xfrm>
          <a:prstGeom prst="roundRect">
            <a:avLst/>
          </a:prstGeom>
          <a:solidFill>
            <a:srgbClr val="1E1708"/>
          </a:solidFill>
          <a:ln w="10160">
            <a:solidFill>
              <a:srgbClr val="FBBF24"/>
            </a:solidFill>
            <a:prstDash val="solid"/>
          </a:ln>
        </p:spPr>
      </p:sp>
      <p:sp>
        <p:nvSpPr>
          <p:cNvPr id="20" name="Text 18"/>
          <p:cNvSpPr/>
          <p:nvPr/>
        </p:nvSpPr>
        <p:spPr>
          <a:xfrm>
            <a:off x="6080760" y="1380744"/>
            <a:ext cx="2331720" cy="256032"/>
          </a:xfrm>
          <a:prstGeom prst="rect">
            <a:avLst/>
          </a:prstGeom>
          <a:noFill/>
          <a:ln/>
        </p:spPr>
        <p:txBody>
          <a:bodyPr wrap="square" rtlCol="0" anchor="ctr"/>
          <a:lstStyle/>
          <a:p>
            <a:pPr algn="ctr" indent="0" marL="0">
              <a:buNone/>
            </a:pPr>
            <a:r>
              <a:rPr lang="en-US" sz="750" b="1" dirty="0">
                <a:solidFill>
                  <a:srgbClr val="FBBF24"/>
                </a:solidFill>
                <a:latin typeface="Segoe UI" pitchFamily="34" charset="0"/>
                <a:ea typeface="Segoe UI" pitchFamily="34" charset="-122"/>
                <a:cs typeface="Segoe UI" pitchFamily="34" charset="-120"/>
              </a:rPr>
              <a:t>ACT 3: NEW YORK CITY</a:t>
            </a:r>
            <a:endParaRPr lang="en-US" sz="750" dirty="0"/>
          </a:p>
        </p:txBody>
      </p:sp>
      <p:sp>
        <p:nvSpPr>
          <p:cNvPr id="21" name="Text 19"/>
          <p:cNvSpPr/>
          <p:nvPr/>
        </p:nvSpPr>
        <p:spPr>
          <a:xfrm>
            <a:off x="6080760" y="1691640"/>
            <a:ext cx="2331720" cy="228600"/>
          </a:xfrm>
          <a:prstGeom prst="rect">
            <a:avLst/>
          </a:prstGeom>
          <a:noFill/>
          <a:ln/>
        </p:spPr>
        <p:txBody>
          <a:bodyPr wrap="square"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Beats 25–33 (Climax &amp; Legacy)</a:t>
            </a:r>
            <a:endParaRPr lang="en-US" sz="800" dirty="0"/>
          </a:p>
        </p:txBody>
      </p:sp>
      <p:sp>
        <p:nvSpPr>
          <p:cNvPr id="22" name="Text 20"/>
          <p:cNvSpPr/>
          <p:nvPr/>
        </p:nvSpPr>
        <p:spPr>
          <a:xfrm>
            <a:off x="6080760" y="2011680"/>
            <a:ext cx="2331720" cy="2560320"/>
          </a:xfrm>
          <a:prstGeom prst="rect">
            <a:avLst/>
          </a:prstGeom>
          <a:noFill/>
          <a:ln/>
        </p:spPr>
        <p:txBody>
          <a:bodyPr wrap="square" rtlCol="0" anchor="t"/>
          <a:lstStyle/>
          <a:p>
            <a:pPr indent="0" marL="0">
              <a:lnSpc>
                <a:spcPct val="122000"/>
              </a:lnSpc>
              <a:buNone/>
            </a:pPr>
            <a:r>
              <a:rPr lang="en-US" sz="760" dirty="0">
                <a:solidFill>
                  <a:srgbClr val="CBD5E1"/>
                </a:solidFill>
                <a:latin typeface="Segoe UI" pitchFamily="34" charset="0"/>
                <a:ea typeface="Segoe UI" pitchFamily="34" charset="-122"/>
                <a:cs typeface="Segoe UI" pitchFamily="34" charset="-120"/>
              </a:rPr>
              <a:t>•  25. The Flatbed Highway Journey to Manhattan</a:t>
            </a:r>
            <a:endParaRPr lang="en-US" sz="760" dirty="0"/>
          </a:p>
          <a:p>
            <a:pPr indent="0" marL="0">
              <a:lnSpc>
                <a:spcPct val="122000"/>
              </a:lnSpc>
              <a:buNone/>
            </a:pPr>
            <a:endParaRPr lang="en-US" sz="760" dirty="0"/>
          </a:p>
          <a:p>
            <a:pPr indent="0" marL="0">
              <a:lnSpc>
                <a:spcPct val="122000"/>
              </a:lnSpc>
              <a:buNone/>
            </a:pPr>
            <a:r>
              <a:rPr lang="en-US" sz="760" dirty="0">
                <a:solidFill>
                  <a:srgbClr val="CBD5E1"/>
                </a:solidFill>
                <a:latin typeface="Segoe UI" pitchFamily="34" charset="0"/>
                <a:ea typeface="Segoe UI" pitchFamily="34" charset="-122"/>
                <a:cs typeface="Segoe UI" pitchFamily="34" charset="-120"/>
              </a:rPr>
              <a:t>•  27. Entering 5th Avenue &amp; Cheering Crowds</a:t>
            </a:r>
            <a:endParaRPr lang="en-US" sz="760" dirty="0"/>
          </a:p>
          <a:p>
            <a:pPr indent="0" marL="0">
              <a:lnSpc>
                <a:spcPct val="122000"/>
              </a:lnSpc>
              <a:buNone/>
            </a:pPr>
            <a:endParaRPr lang="en-US" sz="760" dirty="0"/>
          </a:p>
          <a:p>
            <a:pPr indent="0" marL="0">
              <a:lnSpc>
                <a:spcPct val="122000"/>
              </a:lnSpc>
              <a:buNone/>
            </a:pPr>
            <a:r>
              <a:rPr lang="en-US" sz="760" dirty="0">
                <a:solidFill>
                  <a:srgbClr val="CBD5E1"/>
                </a:solidFill>
                <a:latin typeface="Segoe UI" pitchFamily="34" charset="0"/>
                <a:ea typeface="Segoe UI" pitchFamily="34" charset="-122"/>
                <a:cs typeface="Segoe UI" pitchFamily="34" charset="-120"/>
              </a:rPr>
              <a:t>•  28. Hoisted into Rockefeller Center Plaza</a:t>
            </a:r>
            <a:endParaRPr lang="en-US" sz="760" dirty="0"/>
          </a:p>
          <a:p>
            <a:pPr indent="0" marL="0">
              <a:lnSpc>
                <a:spcPct val="122000"/>
              </a:lnSpc>
              <a:buNone/>
            </a:pPr>
            <a:endParaRPr lang="en-US" sz="760" dirty="0"/>
          </a:p>
          <a:p>
            <a:pPr indent="0" marL="0">
              <a:lnSpc>
                <a:spcPct val="122000"/>
              </a:lnSpc>
              <a:buNone/>
            </a:pPr>
            <a:r>
              <a:rPr lang="en-US" sz="760" dirty="0">
                <a:solidFill>
                  <a:srgbClr val="CBD5E1"/>
                </a:solidFill>
                <a:latin typeface="Segoe UI" pitchFamily="34" charset="0"/>
                <a:ea typeface="Segoe UI" pitchFamily="34" charset="-122"/>
                <a:cs typeface="Segoe UI" pitchFamily="34" charset="-120"/>
              </a:rPr>
              <a:t>•  29. Midnight Despair (The Flat Needles)</a:t>
            </a:r>
            <a:endParaRPr lang="en-US" sz="760" dirty="0"/>
          </a:p>
          <a:p>
            <a:pPr indent="0" marL="0">
              <a:lnSpc>
                <a:spcPct val="122000"/>
              </a:lnSpc>
              <a:buNone/>
            </a:pPr>
            <a:endParaRPr lang="en-US" sz="760" dirty="0"/>
          </a:p>
          <a:p>
            <a:pPr indent="0" marL="0">
              <a:lnSpc>
                <a:spcPct val="122000"/>
              </a:lnSpc>
              <a:buNone/>
            </a:pPr>
            <a:r>
              <a:rPr lang="en-US" sz="760" dirty="0">
                <a:solidFill>
                  <a:srgbClr val="CBD5E1"/>
                </a:solidFill>
                <a:latin typeface="Segoe UI" pitchFamily="34" charset="0"/>
                <a:ea typeface="Segoe UI" pitchFamily="34" charset="-122"/>
                <a:cs typeface="Segoe UI" pitchFamily="34" charset="-120"/>
              </a:rPr>
              <a:t>•  30. Believing for Others (Selfless Heart)</a:t>
            </a:r>
            <a:endParaRPr lang="en-US" sz="760" dirty="0"/>
          </a:p>
          <a:p>
            <a:pPr indent="0" marL="0">
              <a:lnSpc>
                <a:spcPct val="122000"/>
              </a:lnSpc>
              <a:buNone/>
            </a:pPr>
            <a:endParaRPr lang="en-US" sz="760" dirty="0"/>
          </a:p>
          <a:p>
            <a:pPr indent="0" marL="0">
              <a:lnSpc>
                <a:spcPct val="122000"/>
              </a:lnSpc>
              <a:buNone/>
            </a:pPr>
            <a:r>
              <a:rPr lang="en-US" sz="760" dirty="0">
                <a:solidFill>
                  <a:srgbClr val="CBD5E1"/>
                </a:solidFill>
                <a:latin typeface="Segoe UI" pitchFamily="34" charset="0"/>
                <a:ea typeface="Segoe UI" pitchFamily="34" charset="-122"/>
                <a:cs typeface="Segoe UI" pitchFamily="34" charset="-120"/>
              </a:rPr>
              <a:t>•  31. 50,000 Bulb Illumination (Grand Climax)</a:t>
            </a:r>
            <a:endParaRPr lang="en-US" sz="760" dirty="0"/>
          </a:p>
          <a:p>
            <a:pPr indent="0" marL="0">
              <a:lnSpc>
                <a:spcPct val="122000"/>
              </a:lnSpc>
              <a:buNone/>
            </a:pPr>
            <a:endParaRPr lang="en-US" sz="760" dirty="0"/>
          </a:p>
          <a:p>
            <a:pPr indent="0" marL="0">
              <a:lnSpc>
                <a:spcPct val="122000"/>
              </a:lnSpc>
              <a:buNone/>
            </a:pPr>
            <a:r>
              <a:rPr lang="en-US" sz="760" dirty="0">
                <a:solidFill>
                  <a:srgbClr val="CBD5E1"/>
                </a:solidFill>
                <a:latin typeface="Segoe UI" pitchFamily="34" charset="0"/>
                <a:ea typeface="Segoe UI" pitchFamily="34" charset="-122"/>
                <a:cs typeface="Segoe UI" pitchFamily="34" charset="-120"/>
              </a:rPr>
              <a:t>•  32. One More Gift (Timber Builds a Home)</a:t>
            </a:r>
            <a:endParaRPr lang="en-US" sz="760" dirty="0"/>
          </a:p>
          <a:p>
            <a:pPr indent="0" marL="0">
              <a:lnSpc>
                <a:spcPct val="122000"/>
              </a:lnSpc>
              <a:buNone/>
            </a:pPr>
            <a:endParaRPr lang="en-US" sz="760" dirty="0"/>
          </a:p>
          <a:p>
            <a:pPr indent="0" marL="0">
              <a:lnSpc>
                <a:spcPct val="122000"/>
              </a:lnSpc>
              <a:buNone/>
            </a:pPr>
            <a:r>
              <a:rPr lang="en-US" sz="760" dirty="0">
                <a:solidFill>
                  <a:srgbClr val="CBD5E1"/>
                </a:solidFill>
                <a:latin typeface="Segoe UI" pitchFamily="34" charset="0"/>
                <a:ea typeface="Segoe UI" pitchFamily="34" charset="-122"/>
                <a:cs typeface="Segoe UI" pitchFamily="34" charset="-120"/>
              </a:rPr>
              <a:t>•  33. Eternal Legend (North Pole Finale)</a:t>
            </a:r>
            <a:endParaRPr lang="en-US" sz="76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B12"/>
        </a:solidFill>
      </p:bgPr>
    </p:bg>
    <p:spTree>
      <p:nvGrpSpPr>
        <p:cNvPr id="1" name=""/>
        <p:cNvGrpSpPr/>
        <p:nvPr/>
      </p:nvGrpSpPr>
      <p:grpSpPr>
        <a:xfrm>
          <a:off x="0" y="0"/>
          <a:ext cx="0" cy="0"/>
          <a:chOff x="0" y="0"/>
          <a:chExt cx="0" cy="0"/>
        </a:xfrm>
      </p:grpSpPr>
      <p:sp>
        <p:nvSpPr>
          <p:cNvPr id="2" name="Shape 0"/>
          <p:cNvSpPr/>
          <p:nvPr/>
        </p:nvSpPr>
        <p:spPr>
          <a:xfrm>
            <a:off x="548640" y="320040"/>
            <a:ext cx="8046720" cy="13716"/>
          </a:xfrm>
          <a:prstGeom prst="rect">
            <a:avLst/>
          </a:prstGeom>
          <a:solidFill>
            <a:srgbClr val="24334C"/>
          </a:solidFill>
          <a:ln/>
        </p:spPr>
      </p:sp>
      <p:sp>
        <p:nvSpPr>
          <p:cNvPr id="3" name="Text 1"/>
          <p:cNvSpPr/>
          <p:nvPr/>
        </p:nvSpPr>
        <p:spPr>
          <a:xfrm>
            <a:off x="548640" y="384048"/>
            <a:ext cx="6217920" cy="201168"/>
          </a:xfrm>
          <a:prstGeom prst="rect">
            <a:avLst/>
          </a:prstGeom>
          <a:noFill/>
          <a:ln/>
        </p:spPr>
        <p:txBody>
          <a:bodyPr wrap="square" rtlCol="0" anchor="ctr"/>
          <a:lstStyle/>
          <a:p>
            <a:pPr indent="0" marL="0">
              <a:buNone/>
            </a:pPr>
            <a:r>
              <a:rPr lang="en-US" sz="800" b="1" dirty="0">
                <a:solidFill>
                  <a:srgbClr val="38BDF8"/>
                </a:solidFill>
                <a:latin typeface="Segoe UI" pitchFamily="34" charset="0"/>
                <a:ea typeface="Segoe UI" pitchFamily="34" charset="-122"/>
                <a:cs typeface="Segoe UI" pitchFamily="34" charset="-120"/>
              </a:rPr>
              <a:t>DISTRIBUTION ARCHITECTURE &amp; FORMAT STRATEGY</a:t>
            </a:r>
            <a:endParaRPr lang="en-US" sz="800" dirty="0"/>
          </a:p>
        </p:txBody>
      </p:sp>
      <p:sp>
        <p:nvSpPr>
          <p:cNvPr id="4" name="Text 2"/>
          <p:cNvSpPr/>
          <p:nvPr/>
        </p:nvSpPr>
        <p:spPr>
          <a:xfrm>
            <a:off x="548640" y="621792"/>
            <a:ext cx="6583680" cy="411480"/>
          </a:xfrm>
          <a:prstGeom prst="rect">
            <a:avLst/>
          </a:prstGeom>
          <a:noFill/>
          <a:ln/>
        </p:spPr>
        <p:txBody>
          <a:bodyPr wrap="square"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The Dual-Track Methodology: Cinema 4K + Viral 9:16 Shorts</a:t>
            </a:r>
            <a:endParaRPr lang="en-US" sz="1700" dirty="0"/>
          </a:p>
        </p:txBody>
      </p:sp>
      <p:sp>
        <p:nvSpPr>
          <p:cNvPr id="5" name="Shape 3"/>
          <p:cNvSpPr/>
          <p:nvPr/>
        </p:nvSpPr>
        <p:spPr>
          <a:xfrm>
            <a:off x="7132320" y="411480"/>
            <a:ext cx="1463040" cy="292608"/>
          </a:xfrm>
          <a:prstGeom prst="roundRect">
            <a:avLst/>
          </a:prstGeom>
          <a:solidFill>
            <a:srgbClr val="0D1524"/>
          </a:solidFill>
          <a:ln w="12700">
            <a:solidFill>
              <a:srgbClr val="24334C"/>
            </a:solidFill>
            <a:prstDash val="solid"/>
          </a:ln>
        </p:spPr>
      </p:sp>
      <p:sp>
        <p:nvSpPr>
          <p:cNvPr id="6" name="Text 4"/>
          <p:cNvSpPr/>
          <p:nvPr/>
        </p:nvSpPr>
        <p:spPr>
          <a:xfrm>
            <a:off x="7132320" y="411480"/>
            <a:ext cx="1463040" cy="292608"/>
          </a:xfrm>
          <a:prstGeom prst="rect">
            <a:avLst/>
          </a:prstGeom>
          <a:noFill/>
          <a:ln/>
        </p:spPr>
        <p:txBody>
          <a:bodyPr wrap="square" rtlCol="0" anchor="ctr"/>
          <a:lstStyle/>
          <a:p>
            <a:pPr algn="ctr" indent="0" marL="0">
              <a:buNone/>
            </a:pPr>
            <a:r>
              <a:rPr lang="en-US" sz="750" b="1" dirty="0">
                <a:solidFill>
                  <a:srgbClr val="FBBF24"/>
                </a:solidFill>
                <a:latin typeface="Segoe UI" pitchFamily="34" charset="0"/>
                <a:ea typeface="Segoe UI" pitchFamily="34" charset="-122"/>
                <a:cs typeface="Segoe UI" pitchFamily="34" charset="-120"/>
              </a:rPr>
              <a:t>NEO GEN STUDIOS</a:t>
            </a:r>
            <a:endParaRPr lang="en-US" sz="750" dirty="0"/>
          </a:p>
        </p:txBody>
      </p:sp>
      <p:sp>
        <p:nvSpPr>
          <p:cNvPr id="7" name="Text 5"/>
          <p:cNvSpPr/>
          <p:nvPr/>
        </p:nvSpPr>
        <p:spPr>
          <a:xfrm>
            <a:off x="548640" y="4864608"/>
            <a:ext cx="8046720" cy="182880"/>
          </a:xfrm>
          <a:prstGeom prst="rect">
            <a:avLst/>
          </a:prstGeom>
          <a:noFill/>
          <a:ln/>
        </p:spPr>
        <p:txBody>
          <a:bodyPr wrap="square" rtlCol="0" anchor="ctr"/>
          <a:lstStyle/>
          <a:p>
            <a:pPr indent="0" marL="0">
              <a:buNone/>
            </a:pPr>
            <a:r>
              <a:rPr lang="en-US" sz="750" dirty="0">
                <a:solidFill>
                  <a:srgbClr val="94A3B8"/>
                </a:solidFill>
                <a:latin typeface="Segoe UI" pitchFamily="34" charset="0"/>
                <a:ea typeface="Segoe UI" pitchFamily="34" charset="-122"/>
                <a:cs typeface="Segoe UI" pitchFamily="34" charset="-120"/>
              </a:rPr>
              <a:t>NEO GEN TECHNOLOGIES  |  ROCKY: THE ROCKEFELLER CHRISTMAS TREE  |  EXECUTIVE SOW  |  SLIDE 5</a:t>
            </a:r>
            <a:endParaRPr lang="en-US" sz="750" dirty="0"/>
          </a:p>
        </p:txBody>
      </p:sp>
      <p:sp>
        <p:nvSpPr>
          <p:cNvPr id="8" name="Shape 6"/>
          <p:cNvSpPr/>
          <p:nvPr/>
        </p:nvSpPr>
        <p:spPr>
          <a:xfrm>
            <a:off x="548640" y="1234440"/>
            <a:ext cx="3931920" cy="3474720"/>
          </a:xfrm>
          <a:prstGeom prst="roundRect">
            <a:avLst/>
          </a:prstGeom>
          <a:solidFill>
            <a:srgbClr val="0D1524"/>
          </a:solidFill>
          <a:ln w="19050">
            <a:solidFill>
              <a:srgbClr val="0088FF"/>
            </a:solidFill>
            <a:prstDash val="solid"/>
          </a:ln>
        </p:spPr>
      </p:sp>
      <p:sp>
        <p:nvSpPr>
          <p:cNvPr id="9" name="Shape 7"/>
          <p:cNvSpPr/>
          <p:nvPr/>
        </p:nvSpPr>
        <p:spPr>
          <a:xfrm>
            <a:off x="731520" y="1399032"/>
            <a:ext cx="3566160" cy="256032"/>
          </a:xfrm>
          <a:prstGeom prst="roundRect">
            <a:avLst/>
          </a:prstGeom>
          <a:solidFill>
            <a:srgbClr val="08172E"/>
          </a:solidFill>
          <a:ln w="10160">
            <a:solidFill>
              <a:srgbClr val="0088FF"/>
            </a:solidFill>
            <a:prstDash val="solid"/>
          </a:ln>
        </p:spPr>
      </p:sp>
      <p:sp>
        <p:nvSpPr>
          <p:cNvPr id="10" name="Text 8"/>
          <p:cNvSpPr/>
          <p:nvPr/>
        </p:nvSpPr>
        <p:spPr>
          <a:xfrm>
            <a:off x="731520" y="1399032"/>
            <a:ext cx="3566160" cy="256032"/>
          </a:xfrm>
          <a:prstGeom prst="rect">
            <a:avLst/>
          </a:prstGeom>
          <a:noFill/>
          <a:ln/>
        </p:spPr>
        <p:txBody>
          <a:bodyPr wrap="square" rtlCol="0" anchor="ctr"/>
          <a:lstStyle/>
          <a:p>
            <a:pPr algn="ctr" indent="0" marL="0">
              <a:buNone/>
            </a:pPr>
            <a:r>
              <a:rPr lang="en-US" sz="800" b="1" dirty="0">
                <a:solidFill>
                  <a:srgbClr val="38BDF8"/>
                </a:solidFill>
                <a:latin typeface="Segoe UI" pitchFamily="34" charset="0"/>
                <a:ea typeface="Segoe UI" pitchFamily="34" charset="-122"/>
                <a:cs typeface="Segoe UI" pitchFamily="34" charset="-120"/>
              </a:rPr>
              <a:t>TRACK A: PRESTIGE HORIZONTAL MASTER</a:t>
            </a:r>
            <a:endParaRPr lang="en-US" sz="800" dirty="0"/>
          </a:p>
        </p:txBody>
      </p:sp>
      <p:sp>
        <p:nvSpPr>
          <p:cNvPr id="11" name="Text 9"/>
          <p:cNvSpPr/>
          <p:nvPr/>
        </p:nvSpPr>
        <p:spPr>
          <a:xfrm>
            <a:off x="731520" y="1737360"/>
            <a:ext cx="3566160" cy="36576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16:9 Cinema 4K UHD Feature / Pilot</a:t>
            </a:r>
            <a:endParaRPr lang="en-US" sz="1400" dirty="0"/>
          </a:p>
        </p:txBody>
      </p:sp>
      <p:sp>
        <p:nvSpPr>
          <p:cNvPr id="12" name="Text 10"/>
          <p:cNvSpPr/>
          <p:nvPr/>
        </p:nvSpPr>
        <p:spPr>
          <a:xfrm>
            <a:off x="731520" y="2148840"/>
            <a:ext cx="3566160" cy="594360"/>
          </a:xfrm>
          <a:prstGeom prst="rect">
            <a:avLst/>
          </a:prstGeom>
          <a:noFill/>
          <a:ln/>
        </p:spPr>
        <p:txBody>
          <a:bodyPr wrap="square" rtlCol="0" anchor="t"/>
          <a:lstStyle/>
          <a:p>
            <a:pPr indent="0" marL="0">
              <a:lnSpc>
                <a:spcPct val="125000"/>
              </a:lnSpc>
              <a:buNone/>
            </a:pPr>
            <a:r>
              <a:rPr lang="en-US" sz="880" dirty="0">
                <a:solidFill>
                  <a:srgbClr val="CBD5E1"/>
                </a:solidFill>
                <a:latin typeface="Segoe UI" pitchFamily="34" charset="0"/>
                <a:ea typeface="Segoe UI" pitchFamily="34" charset="-122"/>
                <a:cs typeface="Segoe UI" pitchFamily="34" charset="-120"/>
              </a:rPr>
              <a:t>A classically animated widescreen master engineered for prestigious family co-viewing, international film festival circuits, and streaming licensing acquisitions.</a:t>
            </a:r>
            <a:endParaRPr lang="en-US" sz="880" dirty="0"/>
          </a:p>
        </p:txBody>
      </p:sp>
      <p:sp>
        <p:nvSpPr>
          <p:cNvPr id="13" name="Text 11"/>
          <p:cNvSpPr/>
          <p:nvPr/>
        </p:nvSpPr>
        <p:spPr>
          <a:xfrm>
            <a:off x="731520" y="2834640"/>
            <a:ext cx="3566160" cy="1737360"/>
          </a:xfrm>
          <a:prstGeom prst="rect">
            <a:avLst/>
          </a:prstGeom>
          <a:noFill/>
          <a:ln/>
        </p:spPr>
        <p:txBody>
          <a:bodyPr wrap="square" rtlCol="0" anchor="t"/>
          <a:lstStyle/>
          <a:p>
            <a:pPr indent="0" marL="0">
              <a:lnSpc>
                <a:spcPct val="125000"/>
              </a:lnSpc>
              <a:buNone/>
            </a:pPr>
            <a:r>
              <a:rPr lang="en-US" sz="840" dirty="0">
                <a:solidFill>
                  <a:srgbClr val="FFFFFF"/>
                </a:solidFill>
                <a:latin typeface="Segoe UI" pitchFamily="34" charset="0"/>
                <a:ea typeface="Segoe UI" pitchFamily="34" charset="-122"/>
                <a:cs typeface="Segoe UI" pitchFamily="34" charset="-120"/>
              </a:rPr>
              <a:t>✓  Aspect Ratio: 16:9 Cinema 4K UHD (3840×2160) @ 24fps Native</a:t>
            </a:r>
            <a:endParaRPr lang="en-US" sz="840" dirty="0"/>
          </a:p>
          <a:p>
            <a:pPr indent="0" marL="0">
              <a:lnSpc>
                <a:spcPct val="125000"/>
              </a:lnSpc>
              <a:buNone/>
            </a:pPr>
            <a:endParaRPr lang="en-US" sz="840" dirty="0"/>
          </a:p>
          <a:p>
            <a:pPr indent="0" marL="0">
              <a:lnSpc>
                <a:spcPct val="125000"/>
              </a:lnSpc>
              <a:buNone/>
            </a:pPr>
            <a:r>
              <a:rPr lang="en-US" sz="840" dirty="0">
                <a:solidFill>
                  <a:srgbClr val="FFFFFF"/>
                </a:solidFill>
                <a:latin typeface="Segoe UI" pitchFamily="34" charset="0"/>
                <a:ea typeface="Segoe UI" pitchFamily="34" charset="-122"/>
                <a:cs typeface="Segoe UI" pitchFamily="34" charset="-120"/>
              </a:rPr>
              <a:t>✓  Visual Style: Rich textured storybook aesthetic with volumetric lighting</a:t>
            </a:r>
            <a:endParaRPr lang="en-US" sz="840" dirty="0"/>
          </a:p>
          <a:p>
            <a:pPr indent="0" marL="0">
              <a:lnSpc>
                <a:spcPct val="125000"/>
              </a:lnSpc>
              <a:buNone/>
            </a:pPr>
            <a:endParaRPr lang="en-US" sz="840" dirty="0"/>
          </a:p>
          <a:p>
            <a:pPr indent="0" marL="0">
              <a:lnSpc>
                <a:spcPct val="125000"/>
              </a:lnSpc>
              <a:buNone/>
            </a:pPr>
            <a:r>
              <a:rPr lang="en-US" sz="840" dirty="0">
                <a:solidFill>
                  <a:srgbClr val="FFFFFF"/>
                </a:solidFill>
                <a:latin typeface="Segoe UI" pitchFamily="34" charset="0"/>
                <a:ea typeface="Segoe UI" pitchFamily="34" charset="-122"/>
                <a:cs typeface="Segoe UI" pitchFamily="34" charset="-120"/>
              </a:rPr>
              <a:t>✓  Sound Mix: Full 5.1 surround sound + broadcast stereo master</a:t>
            </a:r>
            <a:endParaRPr lang="en-US" sz="840" dirty="0"/>
          </a:p>
          <a:p>
            <a:pPr indent="0" marL="0">
              <a:lnSpc>
                <a:spcPct val="125000"/>
              </a:lnSpc>
              <a:buNone/>
            </a:pPr>
            <a:endParaRPr lang="en-US" sz="840" dirty="0"/>
          </a:p>
          <a:p>
            <a:pPr indent="0" marL="0">
              <a:lnSpc>
                <a:spcPct val="125000"/>
              </a:lnSpc>
              <a:buNone/>
            </a:pPr>
            <a:r>
              <a:rPr lang="en-US" sz="840" dirty="0">
                <a:solidFill>
                  <a:srgbClr val="FFFFFF"/>
                </a:solidFill>
                <a:latin typeface="Segoe UI" pitchFamily="34" charset="0"/>
                <a:ea typeface="Segoe UI" pitchFamily="34" charset="-122"/>
                <a:cs typeface="Segoe UI" pitchFamily="34" charset="-120"/>
              </a:rPr>
              <a:t>✓  Color Grade: DaVinci Resolve Academy Color Encoding (ACES)</a:t>
            </a:r>
            <a:endParaRPr lang="en-US" sz="840" dirty="0"/>
          </a:p>
          <a:p>
            <a:pPr indent="0" marL="0">
              <a:lnSpc>
                <a:spcPct val="125000"/>
              </a:lnSpc>
              <a:buNone/>
            </a:pPr>
            <a:endParaRPr lang="en-US" sz="840" dirty="0"/>
          </a:p>
          <a:p>
            <a:pPr indent="0" marL="0">
              <a:lnSpc>
                <a:spcPct val="125000"/>
              </a:lnSpc>
              <a:buNone/>
            </a:pPr>
            <a:r>
              <a:rPr lang="en-US" sz="840" dirty="0">
                <a:solidFill>
                  <a:srgbClr val="FFFFFF"/>
                </a:solidFill>
                <a:latin typeface="Segoe UI" pitchFamily="34" charset="0"/>
                <a:ea typeface="Segoe UI" pitchFamily="34" charset="-122"/>
                <a:cs typeface="Segoe UI" pitchFamily="34" charset="-120"/>
              </a:rPr>
              <a:t>✓  Target Outlets: YouTube Prestige Premieres, Amazon Prime, Film Festivals</a:t>
            </a:r>
            <a:endParaRPr lang="en-US" sz="840" dirty="0"/>
          </a:p>
        </p:txBody>
      </p:sp>
      <p:sp>
        <p:nvSpPr>
          <p:cNvPr id="14" name="Shape 12"/>
          <p:cNvSpPr/>
          <p:nvPr/>
        </p:nvSpPr>
        <p:spPr>
          <a:xfrm>
            <a:off x="4663440" y="1234440"/>
            <a:ext cx="3931920" cy="3474720"/>
          </a:xfrm>
          <a:prstGeom prst="roundRect">
            <a:avLst/>
          </a:prstGeom>
          <a:solidFill>
            <a:srgbClr val="0D1524"/>
          </a:solidFill>
          <a:ln w="19050">
            <a:solidFill>
              <a:srgbClr val="F59E0B"/>
            </a:solidFill>
            <a:prstDash val="solid"/>
          </a:ln>
        </p:spPr>
      </p:sp>
      <p:sp>
        <p:nvSpPr>
          <p:cNvPr id="15" name="Shape 13"/>
          <p:cNvSpPr/>
          <p:nvPr/>
        </p:nvSpPr>
        <p:spPr>
          <a:xfrm>
            <a:off x="4846320" y="1399032"/>
            <a:ext cx="3566160" cy="256032"/>
          </a:xfrm>
          <a:prstGeom prst="roundRect">
            <a:avLst/>
          </a:prstGeom>
          <a:solidFill>
            <a:srgbClr val="1E1708"/>
          </a:solidFill>
          <a:ln w="10160">
            <a:solidFill>
              <a:srgbClr val="F59E0B"/>
            </a:solidFill>
            <a:prstDash val="solid"/>
          </a:ln>
        </p:spPr>
      </p:sp>
      <p:sp>
        <p:nvSpPr>
          <p:cNvPr id="16" name="Text 14"/>
          <p:cNvSpPr/>
          <p:nvPr/>
        </p:nvSpPr>
        <p:spPr>
          <a:xfrm>
            <a:off x="4846320" y="1399032"/>
            <a:ext cx="3566160" cy="256032"/>
          </a:xfrm>
          <a:prstGeom prst="rect">
            <a:avLst/>
          </a:prstGeom>
          <a:noFill/>
          <a:ln/>
        </p:spPr>
        <p:txBody>
          <a:bodyPr wrap="square" rtlCol="0" anchor="ctr"/>
          <a:lstStyle/>
          <a:p>
            <a:pPr algn="ctr" indent="0" marL="0">
              <a:buNone/>
            </a:pPr>
            <a:r>
              <a:rPr lang="en-US" sz="800" b="1" dirty="0">
                <a:solidFill>
                  <a:srgbClr val="FBBF24"/>
                </a:solidFill>
                <a:latin typeface="Segoe UI" pitchFamily="34" charset="0"/>
                <a:ea typeface="Segoe UI" pitchFamily="34" charset="-122"/>
                <a:cs typeface="Segoe UI" pitchFamily="34" charset="-120"/>
              </a:rPr>
              <a:t>TRACK B: VIRAL MOBILE-FIRST SERIES</a:t>
            </a:r>
            <a:endParaRPr lang="en-US" sz="800" dirty="0"/>
          </a:p>
        </p:txBody>
      </p:sp>
      <p:sp>
        <p:nvSpPr>
          <p:cNvPr id="17" name="Text 15"/>
          <p:cNvSpPr/>
          <p:nvPr/>
        </p:nvSpPr>
        <p:spPr>
          <a:xfrm>
            <a:off x="4846320" y="1737360"/>
            <a:ext cx="3566160" cy="36576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9:16 Vertical Viral Highlights Series</a:t>
            </a:r>
            <a:endParaRPr lang="en-US" sz="1400" dirty="0"/>
          </a:p>
        </p:txBody>
      </p:sp>
      <p:sp>
        <p:nvSpPr>
          <p:cNvPr id="18" name="Text 16"/>
          <p:cNvSpPr/>
          <p:nvPr/>
        </p:nvSpPr>
        <p:spPr>
          <a:xfrm>
            <a:off x="4846320" y="2148840"/>
            <a:ext cx="3566160" cy="594360"/>
          </a:xfrm>
          <a:prstGeom prst="rect">
            <a:avLst/>
          </a:prstGeom>
          <a:noFill/>
          <a:ln/>
        </p:spPr>
        <p:txBody>
          <a:bodyPr wrap="square" rtlCol="0" anchor="t"/>
          <a:lstStyle/>
          <a:p>
            <a:pPr indent="0" marL="0">
              <a:lnSpc>
                <a:spcPct val="125000"/>
              </a:lnSpc>
              <a:buNone/>
            </a:pPr>
            <a:r>
              <a:rPr lang="en-US" sz="880" dirty="0">
                <a:solidFill>
                  <a:srgbClr val="CBD5E1"/>
                </a:solidFill>
                <a:latin typeface="Segoe UI" pitchFamily="34" charset="0"/>
                <a:ea typeface="Segoe UI" pitchFamily="34" charset="-122"/>
                <a:cs typeface="Segoe UI" pitchFamily="34" charset="-120"/>
              </a:rPr>
              <a:t>Engineered directly to Jennie Nicassio's vertical drama storytelling expertise, converting viewers into dedicated fans and direct Amazon book buyers.</a:t>
            </a:r>
            <a:endParaRPr lang="en-US" sz="880" dirty="0"/>
          </a:p>
        </p:txBody>
      </p:sp>
      <p:sp>
        <p:nvSpPr>
          <p:cNvPr id="19" name="Text 17"/>
          <p:cNvSpPr/>
          <p:nvPr/>
        </p:nvSpPr>
        <p:spPr>
          <a:xfrm>
            <a:off x="4846320" y="2834640"/>
            <a:ext cx="3566160" cy="1737360"/>
          </a:xfrm>
          <a:prstGeom prst="rect">
            <a:avLst/>
          </a:prstGeom>
          <a:noFill/>
          <a:ln/>
        </p:spPr>
        <p:txBody>
          <a:bodyPr wrap="square" rtlCol="0" anchor="t"/>
          <a:lstStyle/>
          <a:p>
            <a:pPr indent="0" marL="0">
              <a:lnSpc>
                <a:spcPct val="125000"/>
              </a:lnSpc>
              <a:buNone/>
            </a:pPr>
            <a:r>
              <a:rPr lang="en-US" sz="840" dirty="0">
                <a:solidFill>
                  <a:srgbClr val="FFFFFF"/>
                </a:solidFill>
                <a:latin typeface="Segoe UI" pitchFamily="34" charset="0"/>
                <a:ea typeface="Segoe UI" pitchFamily="34" charset="-122"/>
                <a:cs typeface="Segoe UI" pitchFamily="34" charset="-120"/>
              </a:rPr>
              <a:t>✓  Aspect Ratio: 9:16 Fullscreen Mobile (1080×1920) High-Retention</a:t>
            </a:r>
            <a:endParaRPr lang="en-US" sz="840" dirty="0"/>
          </a:p>
          <a:p>
            <a:pPr indent="0" marL="0">
              <a:lnSpc>
                <a:spcPct val="125000"/>
              </a:lnSpc>
              <a:buNone/>
            </a:pPr>
            <a:endParaRPr lang="en-US" sz="840" dirty="0"/>
          </a:p>
          <a:p>
            <a:pPr indent="0" marL="0">
              <a:lnSpc>
                <a:spcPct val="125000"/>
              </a:lnSpc>
              <a:buNone/>
            </a:pPr>
            <a:r>
              <a:rPr lang="en-US" sz="840" dirty="0">
                <a:solidFill>
                  <a:srgbClr val="FFFFFF"/>
                </a:solidFill>
                <a:latin typeface="Segoe UI" pitchFamily="34" charset="0"/>
                <a:ea typeface="Segoe UI" pitchFamily="34" charset="-122"/>
                <a:cs typeface="Segoe UI" pitchFamily="34" charset="-120"/>
              </a:rPr>
              <a:t>✓  Algorithmic Virality: 3-second visual hook, fast cliffhanger per episode</a:t>
            </a:r>
            <a:endParaRPr lang="en-US" sz="840" dirty="0"/>
          </a:p>
          <a:p>
            <a:pPr indent="0" marL="0">
              <a:lnSpc>
                <a:spcPct val="125000"/>
              </a:lnSpc>
              <a:buNone/>
            </a:pPr>
            <a:endParaRPr lang="en-US" sz="840" dirty="0"/>
          </a:p>
          <a:p>
            <a:pPr indent="0" marL="0">
              <a:lnSpc>
                <a:spcPct val="125000"/>
              </a:lnSpc>
              <a:buNone/>
            </a:pPr>
            <a:r>
              <a:rPr lang="en-US" sz="840" dirty="0">
                <a:solidFill>
                  <a:srgbClr val="FFFFFF"/>
                </a:solidFill>
                <a:latin typeface="Segoe UI" pitchFamily="34" charset="0"/>
                <a:ea typeface="Segoe UI" pitchFamily="34" charset="-122"/>
                <a:cs typeface="Segoe UI" pitchFamily="34" charset="-120"/>
              </a:rPr>
              <a:t>✓  Shorts Remixing: Extracted highlights mapped to trending holiday audio</a:t>
            </a:r>
            <a:endParaRPr lang="en-US" sz="840" dirty="0"/>
          </a:p>
          <a:p>
            <a:pPr indent="0" marL="0">
              <a:lnSpc>
                <a:spcPct val="125000"/>
              </a:lnSpc>
              <a:buNone/>
            </a:pPr>
            <a:endParaRPr lang="en-US" sz="840" dirty="0"/>
          </a:p>
          <a:p>
            <a:pPr indent="0" marL="0">
              <a:lnSpc>
                <a:spcPct val="125000"/>
              </a:lnSpc>
              <a:buNone/>
            </a:pPr>
            <a:r>
              <a:rPr lang="en-US" sz="840" dirty="0">
                <a:solidFill>
                  <a:srgbClr val="FFFFFF"/>
                </a:solidFill>
                <a:latin typeface="Segoe UI" pitchFamily="34" charset="0"/>
                <a:ea typeface="Segoe UI" pitchFamily="34" charset="-122"/>
                <a:cs typeface="Segoe UI" pitchFamily="34" charset="-120"/>
              </a:rPr>
              <a:t>✓  Direct Funnel: Pinned comment driving directly to Amazon book purchases</a:t>
            </a:r>
            <a:endParaRPr lang="en-US" sz="840" dirty="0"/>
          </a:p>
          <a:p>
            <a:pPr indent="0" marL="0">
              <a:lnSpc>
                <a:spcPct val="125000"/>
              </a:lnSpc>
              <a:buNone/>
            </a:pPr>
            <a:endParaRPr lang="en-US" sz="840" dirty="0"/>
          </a:p>
          <a:p>
            <a:pPr indent="0" marL="0">
              <a:lnSpc>
                <a:spcPct val="125000"/>
              </a:lnSpc>
              <a:buNone/>
            </a:pPr>
            <a:r>
              <a:rPr lang="en-US" sz="840" dirty="0">
                <a:solidFill>
                  <a:srgbClr val="FFFFFF"/>
                </a:solidFill>
                <a:latin typeface="Segoe UI" pitchFamily="34" charset="0"/>
                <a:ea typeface="Segoe UI" pitchFamily="34" charset="-122"/>
                <a:cs typeface="Segoe UI" pitchFamily="34" charset="-120"/>
              </a:rPr>
              <a:t>✓  Distribution: YouTube Shorts, Instagram Reels, TikTok syndication</a:t>
            </a:r>
            <a:endParaRPr lang="en-US" sz="8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B12"/>
        </a:solidFill>
      </p:bgPr>
    </p:bg>
    <p:spTree>
      <p:nvGrpSpPr>
        <p:cNvPr id="1" name=""/>
        <p:cNvGrpSpPr/>
        <p:nvPr/>
      </p:nvGrpSpPr>
      <p:grpSpPr>
        <a:xfrm>
          <a:off x="0" y="0"/>
          <a:ext cx="0" cy="0"/>
          <a:chOff x="0" y="0"/>
          <a:chExt cx="0" cy="0"/>
        </a:xfrm>
      </p:grpSpPr>
      <p:sp>
        <p:nvSpPr>
          <p:cNvPr id="2" name="Shape 0"/>
          <p:cNvSpPr/>
          <p:nvPr/>
        </p:nvSpPr>
        <p:spPr>
          <a:xfrm>
            <a:off x="548640" y="320040"/>
            <a:ext cx="8046720" cy="13716"/>
          </a:xfrm>
          <a:prstGeom prst="rect">
            <a:avLst/>
          </a:prstGeom>
          <a:solidFill>
            <a:srgbClr val="24334C"/>
          </a:solidFill>
          <a:ln/>
        </p:spPr>
      </p:sp>
      <p:sp>
        <p:nvSpPr>
          <p:cNvPr id="3" name="Text 1"/>
          <p:cNvSpPr/>
          <p:nvPr/>
        </p:nvSpPr>
        <p:spPr>
          <a:xfrm>
            <a:off x="548640" y="384048"/>
            <a:ext cx="6217920" cy="201168"/>
          </a:xfrm>
          <a:prstGeom prst="rect">
            <a:avLst/>
          </a:prstGeom>
          <a:noFill/>
          <a:ln/>
        </p:spPr>
        <p:txBody>
          <a:bodyPr wrap="square" rtlCol="0" anchor="ctr"/>
          <a:lstStyle/>
          <a:p>
            <a:pPr indent="0" marL="0">
              <a:buNone/>
            </a:pPr>
            <a:r>
              <a:rPr lang="en-US" sz="800" b="1" dirty="0">
                <a:solidFill>
                  <a:srgbClr val="38BDF8"/>
                </a:solidFill>
                <a:latin typeface="Segoe UI" pitchFamily="34" charset="0"/>
                <a:ea typeface="Segoe UI" pitchFamily="34" charset="-122"/>
                <a:cs typeface="Segoe UI" pitchFamily="34" charset="-120"/>
              </a:rPr>
              <a:t>STUDIO WORKFLOW &amp; QUALITY CONTROL</a:t>
            </a:r>
            <a:endParaRPr lang="en-US" sz="800" dirty="0"/>
          </a:p>
        </p:txBody>
      </p:sp>
      <p:sp>
        <p:nvSpPr>
          <p:cNvPr id="4" name="Text 2"/>
          <p:cNvSpPr/>
          <p:nvPr/>
        </p:nvSpPr>
        <p:spPr>
          <a:xfrm>
            <a:off x="548640" y="621792"/>
            <a:ext cx="6583680" cy="411480"/>
          </a:xfrm>
          <a:prstGeom prst="rect">
            <a:avLst/>
          </a:prstGeom>
          <a:noFill/>
          <a:ln/>
        </p:spPr>
        <p:txBody>
          <a:bodyPr wrap="square"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The 5-Phase 2D Animation Production Engine</a:t>
            </a:r>
            <a:endParaRPr lang="en-US" sz="1700" dirty="0"/>
          </a:p>
        </p:txBody>
      </p:sp>
      <p:sp>
        <p:nvSpPr>
          <p:cNvPr id="5" name="Shape 3"/>
          <p:cNvSpPr/>
          <p:nvPr/>
        </p:nvSpPr>
        <p:spPr>
          <a:xfrm>
            <a:off x="7132320" y="411480"/>
            <a:ext cx="1463040" cy="292608"/>
          </a:xfrm>
          <a:prstGeom prst="roundRect">
            <a:avLst/>
          </a:prstGeom>
          <a:solidFill>
            <a:srgbClr val="0D1524"/>
          </a:solidFill>
          <a:ln w="12700">
            <a:solidFill>
              <a:srgbClr val="24334C"/>
            </a:solidFill>
            <a:prstDash val="solid"/>
          </a:ln>
        </p:spPr>
      </p:sp>
      <p:sp>
        <p:nvSpPr>
          <p:cNvPr id="6" name="Text 4"/>
          <p:cNvSpPr/>
          <p:nvPr/>
        </p:nvSpPr>
        <p:spPr>
          <a:xfrm>
            <a:off x="7132320" y="411480"/>
            <a:ext cx="1463040" cy="292608"/>
          </a:xfrm>
          <a:prstGeom prst="rect">
            <a:avLst/>
          </a:prstGeom>
          <a:noFill/>
          <a:ln/>
        </p:spPr>
        <p:txBody>
          <a:bodyPr wrap="square" rtlCol="0" anchor="ctr"/>
          <a:lstStyle/>
          <a:p>
            <a:pPr algn="ctr" indent="0" marL="0">
              <a:buNone/>
            </a:pPr>
            <a:r>
              <a:rPr lang="en-US" sz="750" b="1" dirty="0">
                <a:solidFill>
                  <a:srgbClr val="FBBF24"/>
                </a:solidFill>
                <a:latin typeface="Segoe UI" pitchFamily="34" charset="0"/>
                <a:ea typeface="Segoe UI" pitchFamily="34" charset="-122"/>
                <a:cs typeface="Segoe UI" pitchFamily="34" charset="-120"/>
              </a:rPr>
              <a:t>NEO GEN STUDIOS</a:t>
            </a:r>
            <a:endParaRPr lang="en-US" sz="750" dirty="0"/>
          </a:p>
        </p:txBody>
      </p:sp>
      <p:sp>
        <p:nvSpPr>
          <p:cNvPr id="7" name="Text 5"/>
          <p:cNvSpPr/>
          <p:nvPr/>
        </p:nvSpPr>
        <p:spPr>
          <a:xfrm>
            <a:off x="548640" y="4864608"/>
            <a:ext cx="8046720" cy="182880"/>
          </a:xfrm>
          <a:prstGeom prst="rect">
            <a:avLst/>
          </a:prstGeom>
          <a:noFill/>
          <a:ln/>
        </p:spPr>
        <p:txBody>
          <a:bodyPr wrap="square" rtlCol="0" anchor="ctr"/>
          <a:lstStyle/>
          <a:p>
            <a:pPr indent="0" marL="0">
              <a:buNone/>
            </a:pPr>
            <a:r>
              <a:rPr lang="en-US" sz="750" dirty="0">
                <a:solidFill>
                  <a:srgbClr val="94A3B8"/>
                </a:solidFill>
                <a:latin typeface="Segoe UI" pitchFamily="34" charset="0"/>
                <a:ea typeface="Segoe UI" pitchFamily="34" charset="-122"/>
                <a:cs typeface="Segoe UI" pitchFamily="34" charset="-120"/>
              </a:rPr>
              <a:t>NEO GEN TECHNOLOGIES  |  ROCKY: THE ROCKEFELLER CHRISTMAS TREE  |  EXECUTIVE SOW  |  SLIDE 6</a:t>
            </a:r>
            <a:endParaRPr lang="en-US" sz="750" dirty="0"/>
          </a:p>
        </p:txBody>
      </p:sp>
      <p:sp>
        <p:nvSpPr>
          <p:cNvPr id="8" name="Shape 6"/>
          <p:cNvSpPr/>
          <p:nvPr/>
        </p:nvSpPr>
        <p:spPr>
          <a:xfrm>
            <a:off x="548640" y="1234440"/>
            <a:ext cx="1536192" cy="2971800"/>
          </a:xfrm>
          <a:prstGeom prst="roundRect">
            <a:avLst/>
          </a:prstGeom>
          <a:solidFill>
            <a:srgbClr val="0D1524"/>
          </a:solidFill>
          <a:ln w="12700">
            <a:solidFill>
              <a:srgbClr val="24334C"/>
            </a:solidFill>
            <a:prstDash val="solid"/>
          </a:ln>
        </p:spPr>
      </p:sp>
      <p:sp>
        <p:nvSpPr>
          <p:cNvPr id="9" name="Shape 7"/>
          <p:cNvSpPr/>
          <p:nvPr/>
        </p:nvSpPr>
        <p:spPr>
          <a:xfrm>
            <a:off x="640080" y="1344168"/>
            <a:ext cx="1353312" cy="219456"/>
          </a:xfrm>
          <a:prstGeom prst="roundRect">
            <a:avLst/>
          </a:prstGeom>
          <a:solidFill>
            <a:srgbClr val="14233D"/>
          </a:solidFill>
          <a:ln/>
        </p:spPr>
      </p:sp>
      <p:sp>
        <p:nvSpPr>
          <p:cNvPr id="10" name="Text 8"/>
          <p:cNvSpPr/>
          <p:nvPr/>
        </p:nvSpPr>
        <p:spPr>
          <a:xfrm>
            <a:off x="640080" y="1344168"/>
            <a:ext cx="1353312" cy="219456"/>
          </a:xfrm>
          <a:prstGeom prst="rect">
            <a:avLst/>
          </a:prstGeom>
          <a:noFill/>
          <a:ln/>
        </p:spPr>
        <p:txBody>
          <a:bodyPr wrap="square" rtlCol="0" anchor="ctr"/>
          <a:lstStyle/>
          <a:p>
            <a:pPr algn="ctr" indent="0" marL="0">
              <a:buNone/>
            </a:pPr>
            <a:r>
              <a:rPr lang="en-US" sz="750" b="1" dirty="0">
                <a:solidFill>
                  <a:srgbClr val="38BDF8"/>
                </a:solidFill>
                <a:latin typeface="Segoe UI" pitchFamily="34" charset="0"/>
                <a:ea typeface="Segoe UI" pitchFamily="34" charset="-122"/>
                <a:cs typeface="Segoe UI" pitchFamily="34" charset="-120"/>
              </a:rPr>
              <a:t>PHASE 01</a:t>
            </a:r>
            <a:endParaRPr lang="en-US" sz="750" dirty="0"/>
          </a:p>
        </p:txBody>
      </p:sp>
      <p:sp>
        <p:nvSpPr>
          <p:cNvPr id="11" name="Text 9"/>
          <p:cNvSpPr/>
          <p:nvPr/>
        </p:nvSpPr>
        <p:spPr>
          <a:xfrm>
            <a:off x="640080" y="1618488"/>
            <a:ext cx="1353312" cy="292608"/>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Pre-Production</a:t>
            </a:r>
            <a:endParaRPr lang="en-US" sz="950" dirty="0"/>
          </a:p>
        </p:txBody>
      </p:sp>
      <p:sp>
        <p:nvSpPr>
          <p:cNvPr id="12" name="Text 10"/>
          <p:cNvSpPr/>
          <p:nvPr/>
        </p:nvSpPr>
        <p:spPr>
          <a:xfrm>
            <a:off x="640080" y="1911096"/>
            <a:ext cx="1353312" cy="201168"/>
          </a:xfrm>
          <a:prstGeom prst="rect">
            <a:avLst/>
          </a:prstGeom>
          <a:noFill/>
          <a:ln/>
        </p:spPr>
        <p:txBody>
          <a:bodyPr wrap="square" rtlCol="0" anchor="ctr"/>
          <a:lstStyle/>
          <a:p>
            <a:pPr algn="ctr" indent="0" marL="0">
              <a:buNone/>
            </a:pPr>
            <a:r>
              <a:rPr lang="en-US" sz="750" b="1" dirty="0">
                <a:solidFill>
                  <a:srgbClr val="FBBF24"/>
                </a:solidFill>
                <a:latin typeface="Segoe UI" pitchFamily="34" charset="0"/>
                <a:ea typeface="Segoe UI" pitchFamily="34" charset="-122"/>
                <a:cs typeface="Segoe UI" pitchFamily="34" charset="-120"/>
              </a:rPr>
              <a:t>Weeks 1–4</a:t>
            </a:r>
            <a:endParaRPr lang="en-US" sz="750" dirty="0"/>
          </a:p>
        </p:txBody>
      </p:sp>
      <p:sp>
        <p:nvSpPr>
          <p:cNvPr id="13" name="Shape 11"/>
          <p:cNvSpPr/>
          <p:nvPr/>
        </p:nvSpPr>
        <p:spPr>
          <a:xfrm>
            <a:off x="685800" y="2167128"/>
            <a:ext cx="1261872" cy="13716"/>
          </a:xfrm>
          <a:prstGeom prst="rect">
            <a:avLst/>
          </a:prstGeom>
          <a:solidFill>
            <a:srgbClr val="24334C"/>
          </a:solidFill>
          <a:ln/>
        </p:spPr>
      </p:sp>
      <p:sp>
        <p:nvSpPr>
          <p:cNvPr id="14" name="Text 12"/>
          <p:cNvSpPr/>
          <p:nvPr/>
        </p:nvSpPr>
        <p:spPr>
          <a:xfrm>
            <a:off x="640080" y="2286000"/>
            <a:ext cx="1353312" cy="1783080"/>
          </a:xfrm>
          <a:prstGeom prst="rect">
            <a:avLst/>
          </a:prstGeom>
          <a:noFill/>
          <a:ln/>
        </p:spPr>
        <p:txBody>
          <a:bodyPr wrap="square" rtlCol="0" anchor="t"/>
          <a:lstStyle/>
          <a:p>
            <a:pPr indent="0" marL="0">
              <a:lnSpc>
                <a:spcPct val="125000"/>
              </a:lnSpc>
              <a:buNone/>
            </a:pPr>
            <a:r>
              <a:rPr lang="en-US" sz="750" dirty="0">
                <a:solidFill>
                  <a:srgbClr val="CBD5E1"/>
                </a:solidFill>
                <a:latin typeface="Segoe UI" pitchFamily="34" charset="0"/>
                <a:ea typeface="Segoe UI" pitchFamily="34" charset="-122"/>
                <a:cs typeface="Segoe UI" pitchFamily="34" charset="-120"/>
              </a:rPr>
              <a:t>• Script Breakdown &amp; Acts</a:t>
            </a:r>
            <a:endParaRPr lang="en-US" sz="750" dirty="0"/>
          </a:p>
          <a:p>
            <a:pPr indent="0" marL="0">
              <a:lnSpc>
                <a:spcPct val="125000"/>
              </a:lnSpc>
              <a:buNone/>
            </a:pPr>
            <a:endParaRPr lang="en-US" sz="750" dirty="0"/>
          </a:p>
          <a:p>
            <a:pPr indent="0" marL="0">
              <a:lnSpc>
                <a:spcPct val="125000"/>
              </a:lnSpc>
              <a:buNone/>
            </a:pPr>
            <a:r>
              <a:rPr lang="en-US" sz="750" dirty="0">
                <a:solidFill>
                  <a:srgbClr val="CBD5E1"/>
                </a:solidFill>
                <a:latin typeface="Segoe UI" pitchFamily="34" charset="0"/>
                <a:ea typeface="Segoe UI" pitchFamily="34" charset="-122"/>
                <a:cs typeface="Segoe UI" pitchFamily="34" charset="-120"/>
              </a:rPr>
              <a:t>• 360° Model Sheets</a:t>
            </a:r>
            <a:endParaRPr lang="en-US" sz="750" dirty="0"/>
          </a:p>
          <a:p>
            <a:pPr indent="0" marL="0">
              <a:lnSpc>
                <a:spcPct val="125000"/>
              </a:lnSpc>
              <a:buNone/>
            </a:pPr>
            <a:endParaRPr lang="en-US" sz="750" dirty="0"/>
          </a:p>
          <a:p>
            <a:pPr indent="0" marL="0">
              <a:lnSpc>
                <a:spcPct val="125000"/>
              </a:lnSpc>
              <a:buNone/>
            </a:pPr>
            <a:r>
              <a:rPr lang="en-US" sz="750" dirty="0">
                <a:solidFill>
                  <a:srgbClr val="CBD5E1"/>
                </a:solidFill>
                <a:latin typeface="Segoe UI" pitchFamily="34" charset="0"/>
                <a:ea typeface="Segoe UI" pitchFamily="34" charset="-122"/>
                <a:cs typeface="Segoe UI" pitchFamily="34" charset="-120"/>
              </a:rPr>
              <a:t>• Color Script &amp; Lighting</a:t>
            </a:r>
            <a:endParaRPr lang="en-US" sz="750" dirty="0"/>
          </a:p>
          <a:p>
            <a:pPr indent="0" marL="0">
              <a:lnSpc>
                <a:spcPct val="125000"/>
              </a:lnSpc>
              <a:buNone/>
            </a:pPr>
            <a:endParaRPr lang="en-US" sz="750" dirty="0"/>
          </a:p>
          <a:p>
            <a:pPr indent="0" marL="0">
              <a:lnSpc>
                <a:spcPct val="125000"/>
              </a:lnSpc>
              <a:buNone/>
            </a:pPr>
            <a:r>
              <a:rPr lang="en-US" sz="750" dirty="0">
                <a:solidFill>
                  <a:srgbClr val="CBD5E1"/>
                </a:solidFill>
                <a:latin typeface="Segoe UI" pitchFamily="34" charset="0"/>
                <a:ea typeface="Segoe UI" pitchFamily="34" charset="-122"/>
                <a:cs typeface="Segoe UI" pitchFamily="34" charset="-120"/>
              </a:rPr>
              <a:t>• 33-Beat Animatic Pass</a:t>
            </a:r>
            <a:endParaRPr lang="en-US" sz="750" dirty="0"/>
          </a:p>
          <a:p>
            <a:pPr indent="0" marL="0">
              <a:lnSpc>
                <a:spcPct val="125000"/>
              </a:lnSpc>
              <a:buNone/>
            </a:pPr>
            <a:endParaRPr lang="en-US" sz="750" dirty="0"/>
          </a:p>
          <a:p>
            <a:pPr indent="0" marL="0">
              <a:lnSpc>
                <a:spcPct val="125000"/>
              </a:lnSpc>
              <a:buNone/>
            </a:pPr>
            <a:r>
              <a:rPr lang="en-US" sz="750" dirty="0">
                <a:solidFill>
                  <a:srgbClr val="CBD5E1"/>
                </a:solidFill>
                <a:latin typeface="Segoe UI" pitchFamily="34" charset="0"/>
                <a:ea typeface="Segoe UI" pitchFamily="34" charset="-122"/>
                <a:cs typeface="Segoe UI" pitchFamily="34" charset="-120"/>
              </a:rPr>
              <a:t>• Scratch Voice Sync</a:t>
            </a:r>
            <a:endParaRPr lang="en-US" sz="750" dirty="0"/>
          </a:p>
        </p:txBody>
      </p:sp>
      <p:sp>
        <p:nvSpPr>
          <p:cNvPr id="15" name="Shape 13"/>
          <p:cNvSpPr/>
          <p:nvPr/>
        </p:nvSpPr>
        <p:spPr>
          <a:xfrm>
            <a:off x="2157984" y="1234440"/>
            <a:ext cx="1536192" cy="2971800"/>
          </a:xfrm>
          <a:prstGeom prst="roundRect">
            <a:avLst/>
          </a:prstGeom>
          <a:solidFill>
            <a:srgbClr val="0D1524"/>
          </a:solidFill>
          <a:ln w="12700">
            <a:solidFill>
              <a:srgbClr val="24334C"/>
            </a:solidFill>
            <a:prstDash val="solid"/>
          </a:ln>
        </p:spPr>
      </p:sp>
      <p:sp>
        <p:nvSpPr>
          <p:cNvPr id="16" name="Shape 14"/>
          <p:cNvSpPr/>
          <p:nvPr/>
        </p:nvSpPr>
        <p:spPr>
          <a:xfrm>
            <a:off x="2249424" y="1344168"/>
            <a:ext cx="1353312" cy="219456"/>
          </a:xfrm>
          <a:prstGeom prst="roundRect">
            <a:avLst/>
          </a:prstGeom>
          <a:solidFill>
            <a:srgbClr val="14233D"/>
          </a:solidFill>
          <a:ln/>
        </p:spPr>
      </p:sp>
      <p:sp>
        <p:nvSpPr>
          <p:cNvPr id="17" name="Text 15"/>
          <p:cNvSpPr/>
          <p:nvPr/>
        </p:nvSpPr>
        <p:spPr>
          <a:xfrm>
            <a:off x="2249424" y="1344168"/>
            <a:ext cx="1353312" cy="219456"/>
          </a:xfrm>
          <a:prstGeom prst="rect">
            <a:avLst/>
          </a:prstGeom>
          <a:noFill/>
          <a:ln/>
        </p:spPr>
        <p:txBody>
          <a:bodyPr wrap="square" rtlCol="0" anchor="ctr"/>
          <a:lstStyle/>
          <a:p>
            <a:pPr algn="ctr" indent="0" marL="0">
              <a:buNone/>
            </a:pPr>
            <a:r>
              <a:rPr lang="en-US" sz="750" b="1" dirty="0">
                <a:solidFill>
                  <a:srgbClr val="38BDF8"/>
                </a:solidFill>
                <a:latin typeface="Segoe UI" pitchFamily="34" charset="0"/>
                <a:ea typeface="Segoe UI" pitchFamily="34" charset="-122"/>
                <a:cs typeface="Segoe UI" pitchFamily="34" charset="-120"/>
              </a:rPr>
              <a:t>PHASE 02</a:t>
            </a:r>
            <a:endParaRPr lang="en-US" sz="750" dirty="0"/>
          </a:p>
        </p:txBody>
      </p:sp>
      <p:sp>
        <p:nvSpPr>
          <p:cNvPr id="18" name="Text 16"/>
          <p:cNvSpPr/>
          <p:nvPr/>
        </p:nvSpPr>
        <p:spPr>
          <a:xfrm>
            <a:off x="2249424" y="1618488"/>
            <a:ext cx="1353312" cy="292608"/>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Backgrounds</a:t>
            </a:r>
            <a:endParaRPr lang="en-US" sz="950" dirty="0"/>
          </a:p>
        </p:txBody>
      </p:sp>
      <p:sp>
        <p:nvSpPr>
          <p:cNvPr id="19" name="Text 17"/>
          <p:cNvSpPr/>
          <p:nvPr/>
        </p:nvSpPr>
        <p:spPr>
          <a:xfrm>
            <a:off x="2249424" y="1911096"/>
            <a:ext cx="1353312" cy="201168"/>
          </a:xfrm>
          <a:prstGeom prst="rect">
            <a:avLst/>
          </a:prstGeom>
          <a:noFill/>
          <a:ln/>
        </p:spPr>
        <p:txBody>
          <a:bodyPr wrap="square" rtlCol="0" anchor="ctr"/>
          <a:lstStyle/>
          <a:p>
            <a:pPr algn="ctr" indent="0" marL="0">
              <a:buNone/>
            </a:pPr>
            <a:r>
              <a:rPr lang="en-US" sz="750" b="1" dirty="0">
                <a:solidFill>
                  <a:srgbClr val="FBBF24"/>
                </a:solidFill>
                <a:latin typeface="Segoe UI" pitchFamily="34" charset="0"/>
                <a:ea typeface="Segoe UI" pitchFamily="34" charset="-122"/>
                <a:cs typeface="Segoe UI" pitchFamily="34" charset="-120"/>
              </a:rPr>
              <a:t>Weeks 5–8</a:t>
            </a:r>
            <a:endParaRPr lang="en-US" sz="750" dirty="0"/>
          </a:p>
        </p:txBody>
      </p:sp>
      <p:sp>
        <p:nvSpPr>
          <p:cNvPr id="20" name="Shape 18"/>
          <p:cNvSpPr/>
          <p:nvPr/>
        </p:nvSpPr>
        <p:spPr>
          <a:xfrm>
            <a:off x="2295144" y="2167128"/>
            <a:ext cx="1261872" cy="13716"/>
          </a:xfrm>
          <a:prstGeom prst="rect">
            <a:avLst/>
          </a:prstGeom>
          <a:solidFill>
            <a:srgbClr val="24334C"/>
          </a:solidFill>
          <a:ln/>
        </p:spPr>
      </p:sp>
      <p:sp>
        <p:nvSpPr>
          <p:cNvPr id="21" name="Text 19"/>
          <p:cNvSpPr/>
          <p:nvPr/>
        </p:nvSpPr>
        <p:spPr>
          <a:xfrm>
            <a:off x="2249424" y="2286000"/>
            <a:ext cx="1353312" cy="1783080"/>
          </a:xfrm>
          <a:prstGeom prst="rect">
            <a:avLst/>
          </a:prstGeom>
          <a:noFill/>
          <a:ln/>
        </p:spPr>
        <p:txBody>
          <a:bodyPr wrap="square" rtlCol="0" anchor="t"/>
          <a:lstStyle/>
          <a:p>
            <a:pPr indent="0" marL="0">
              <a:lnSpc>
                <a:spcPct val="125000"/>
              </a:lnSpc>
              <a:buNone/>
            </a:pPr>
            <a:r>
              <a:rPr lang="en-US" sz="750" dirty="0">
                <a:solidFill>
                  <a:srgbClr val="CBD5E1"/>
                </a:solidFill>
                <a:latin typeface="Segoe UI" pitchFamily="34" charset="0"/>
                <a:ea typeface="Segoe UI" pitchFamily="34" charset="-122"/>
                <a:cs typeface="Segoe UI" pitchFamily="34" charset="-120"/>
              </a:rPr>
              <a:t>• Hidden Forest Valley</a:t>
            </a:r>
            <a:endParaRPr lang="en-US" sz="750" dirty="0"/>
          </a:p>
          <a:p>
            <a:pPr indent="0" marL="0">
              <a:lnSpc>
                <a:spcPct val="125000"/>
              </a:lnSpc>
              <a:buNone/>
            </a:pPr>
            <a:endParaRPr lang="en-US" sz="750" dirty="0"/>
          </a:p>
          <a:p>
            <a:pPr indent="0" marL="0">
              <a:lnSpc>
                <a:spcPct val="125000"/>
              </a:lnSpc>
              <a:buNone/>
            </a:pPr>
            <a:r>
              <a:rPr lang="en-US" sz="750" dirty="0">
                <a:solidFill>
                  <a:srgbClr val="CBD5E1"/>
                </a:solidFill>
                <a:latin typeface="Segoe UI" pitchFamily="34" charset="0"/>
                <a:ea typeface="Segoe UI" pitchFamily="34" charset="-122"/>
                <a:cs typeface="Segoe UI" pitchFamily="34" charset="-120"/>
              </a:rPr>
              <a:t>• Rocky's Snowy Hollow</a:t>
            </a:r>
            <a:endParaRPr lang="en-US" sz="750" dirty="0"/>
          </a:p>
          <a:p>
            <a:pPr indent="0" marL="0">
              <a:lnSpc>
                <a:spcPct val="125000"/>
              </a:lnSpc>
              <a:buNone/>
            </a:pPr>
            <a:endParaRPr lang="en-US" sz="750" dirty="0"/>
          </a:p>
          <a:p>
            <a:pPr indent="0" marL="0">
              <a:lnSpc>
                <a:spcPct val="125000"/>
              </a:lnSpc>
              <a:buNone/>
            </a:pPr>
            <a:r>
              <a:rPr lang="en-US" sz="750" dirty="0">
                <a:solidFill>
                  <a:srgbClr val="CBD5E1"/>
                </a:solidFill>
                <a:latin typeface="Segoe UI" pitchFamily="34" charset="0"/>
                <a:ea typeface="Segoe UI" pitchFamily="34" charset="-122"/>
                <a:cs typeface="Segoe UI" pitchFamily="34" charset="-120"/>
              </a:rPr>
              <a:t>• 5th Avenue NYC Skyline</a:t>
            </a:r>
            <a:endParaRPr lang="en-US" sz="750" dirty="0"/>
          </a:p>
          <a:p>
            <a:pPr indent="0" marL="0">
              <a:lnSpc>
                <a:spcPct val="125000"/>
              </a:lnSpc>
              <a:buNone/>
            </a:pPr>
            <a:endParaRPr lang="en-US" sz="750" dirty="0"/>
          </a:p>
          <a:p>
            <a:pPr indent="0" marL="0">
              <a:lnSpc>
                <a:spcPct val="125000"/>
              </a:lnSpc>
              <a:buNone/>
            </a:pPr>
            <a:r>
              <a:rPr lang="en-US" sz="750" dirty="0">
                <a:solidFill>
                  <a:srgbClr val="CBD5E1"/>
                </a:solidFill>
                <a:latin typeface="Segoe UI" pitchFamily="34" charset="0"/>
                <a:ea typeface="Segoe UI" pitchFamily="34" charset="-122"/>
                <a:cs typeface="Segoe UI" pitchFamily="34" charset="-120"/>
              </a:rPr>
              <a:t>• Rockefeller Plaza Night</a:t>
            </a:r>
            <a:endParaRPr lang="en-US" sz="750" dirty="0"/>
          </a:p>
          <a:p>
            <a:pPr indent="0" marL="0">
              <a:lnSpc>
                <a:spcPct val="125000"/>
              </a:lnSpc>
              <a:buNone/>
            </a:pPr>
            <a:endParaRPr lang="en-US" sz="750" dirty="0"/>
          </a:p>
          <a:p>
            <a:pPr indent="0" marL="0">
              <a:lnSpc>
                <a:spcPct val="125000"/>
              </a:lnSpc>
              <a:buNone/>
            </a:pPr>
            <a:r>
              <a:rPr lang="en-US" sz="750" dirty="0">
                <a:solidFill>
                  <a:srgbClr val="CBD5E1"/>
                </a:solidFill>
                <a:latin typeface="Segoe UI" pitchFamily="34" charset="0"/>
                <a:ea typeface="Segoe UI" pitchFamily="34" charset="-122"/>
                <a:cs typeface="Segoe UI" pitchFamily="34" charset="-120"/>
              </a:rPr>
              <a:t>• Props &amp; Ice Crystals</a:t>
            </a:r>
            <a:endParaRPr lang="en-US" sz="750" dirty="0"/>
          </a:p>
        </p:txBody>
      </p:sp>
      <p:sp>
        <p:nvSpPr>
          <p:cNvPr id="22" name="Shape 20"/>
          <p:cNvSpPr/>
          <p:nvPr/>
        </p:nvSpPr>
        <p:spPr>
          <a:xfrm>
            <a:off x="3767328" y="1234440"/>
            <a:ext cx="1536192" cy="2971800"/>
          </a:xfrm>
          <a:prstGeom prst="roundRect">
            <a:avLst/>
          </a:prstGeom>
          <a:solidFill>
            <a:srgbClr val="0D1524"/>
          </a:solidFill>
          <a:ln w="12700">
            <a:solidFill>
              <a:srgbClr val="24334C"/>
            </a:solidFill>
            <a:prstDash val="solid"/>
          </a:ln>
        </p:spPr>
      </p:sp>
      <p:sp>
        <p:nvSpPr>
          <p:cNvPr id="23" name="Shape 21"/>
          <p:cNvSpPr/>
          <p:nvPr/>
        </p:nvSpPr>
        <p:spPr>
          <a:xfrm>
            <a:off x="3858768" y="1344168"/>
            <a:ext cx="1353312" cy="219456"/>
          </a:xfrm>
          <a:prstGeom prst="roundRect">
            <a:avLst/>
          </a:prstGeom>
          <a:solidFill>
            <a:srgbClr val="14233D"/>
          </a:solidFill>
          <a:ln/>
        </p:spPr>
      </p:sp>
      <p:sp>
        <p:nvSpPr>
          <p:cNvPr id="24" name="Text 22"/>
          <p:cNvSpPr/>
          <p:nvPr/>
        </p:nvSpPr>
        <p:spPr>
          <a:xfrm>
            <a:off x="3858768" y="1344168"/>
            <a:ext cx="1353312" cy="219456"/>
          </a:xfrm>
          <a:prstGeom prst="rect">
            <a:avLst/>
          </a:prstGeom>
          <a:noFill/>
          <a:ln/>
        </p:spPr>
        <p:txBody>
          <a:bodyPr wrap="square" rtlCol="0" anchor="ctr"/>
          <a:lstStyle/>
          <a:p>
            <a:pPr algn="ctr" indent="0" marL="0">
              <a:buNone/>
            </a:pPr>
            <a:r>
              <a:rPr lang="en-US" sz="750" b="1" dirty="0">
                <a:solidFill>
                  <a:srgbClr val="38BDF8"/>
                </a:solidFill>
                <a:latin typeface="Segoe UI" pitchFamily="34" charset="0"/>
                <a:ea typeface="Segoe UI" pitchFamily="34" charset="-122"/>
                <a:cs typeface="Segoe UI" pitchFamily="34" charset="-120"/>
              </a:rPr>
              <a:t>PHASE 03</a:t>
            </a:r>
            <a:endParaRPr lang="en-US" sz="750" dirty="0"/>
          </a:p>
        </p:txBody>
      </p:sp>
      <p:sp>
        <p:nvSpPr>
          <p:cNvPr id="25" name="Text 23"/>
          <p:cNvSpPr/>
          <p:nvPr/>
        </p:nvSpPr>
        <p:spPr>
          <a:xfrm>
            <a:off x="3858768" y="1618488"/>
            <a:ext cx="1353312" cy="292608"/>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2D Animation</a:t>
            </a:r>
            <a:endParaRPr lang="en-US" sz="950" dirty="0"/>
          </a:p>
        </p:txBody>
      </p:sp>
      <p:sp>
        <p:nvSpPr>
          <p:cNvPr id="26" name="Text 24"/>
          <p:cNvSpPr/>
          <p:nvPr/>
        </p:nvSpPr>
        <p:spPr>
          <a:xfrm>
            <a:off x="3858768" y="1911096"/>
            <a:ext cx="1353312" cy="201168"/>
          </a:xfrm>
          <a:prstGeom prst="rect">
            <a:avLst/>
          </a:prstGeom>
          <a:noFill/>
          <a:ln/>
        </p:spPr>
        <p:txBody>
          <a:bodyPr wrap="square" rtlCol="0" anchor="ctr"/>
          <a:lstStyle/>
          <a:p>
            <a:pPr algn="ctr" indent="0" marL="0">
              <a:buNone/>
            </a:pPr>
            <a:r>
              <a:rPr lang="en-US" sz="750" b="1" dirty="0">
                <a:solidFill>
                  <a:srgbClr val="FBBF24"/>
                </a:solidFill>
                <a:latin typeface="Segoe UI" pitchFamily="34" charset="0"/>
                <a:ea typeface="Segoe UI" pitchFamily="34" charset="-122"/>
                <a:cs typeface="Segoe UI" pitchFamily="34" charset="-120"/>
              </a:rPr>
              <a:t>Weeks 9–14</a:t>
            </a:r>
            <a:endParaRPr lang="en-US" sz="750" dirty="0"/>
          </a:p>
        </p:txBody>
      </p:sp>
      <p:sp>
        <p:nvSpPr>
          <p:cNvPr id="27" name="Shape 25"/>
          <p:cNvSpPr/>
          <p:nvPr/>
        </p:nvSpPr>
        <p:spPr>
          <a:xfrm>
            <a:off x="3904488" y="2167128"/>
            <a:ext cx="1261872" cy="13716"/>
          </a:xfrm>
          <a:prstGeom prst="rect">
            <a:avLst/>
          </a:prstGeom>
          <a:solidFill>
            <a:srgbClr val="24334C"/>
          </a:solidFill>
          <a:ln/>
        </p:spPr>
      </p:sp>
      <p:sp>
        <p:nvSpPr>
          <p:cNvPr id="28" name="Text 26"/>
          <p:cNvSpPr/>
          <p:nvPr/>
        </p:nvSpPr>
        <p:spPr>
          <a:xfrm>
            <a:off x="3858768" y="2286000"/>
            <a:ext cx="1353312" cy="1783080"/>
          </a:xfrm>
          <a:prstGeom prst="rect">
            <a:avLst/>
          </a:prstGeom>
          <a:noFill/>
          <a:ln/>
        </p:spPr>
        <p:txBody>
          <a:bodyPr wrap="square" rtlCol="0" anchor="t"/>
          <a:lstStyle/>
          <a:p>
            <a:pPr indent="0" marL="0">
              <a:lnSpc>
                <a:spcPct val="125000"/>
              </a:lnSpc>
              <a:buNone/>
            </a:pPr>
            <a:r>
              <a:rPr lang="en-US" sz="750" dirty="0">
                <a:solidFill>
                  <a:srgbClr val="CBD5E1"/>
                </a:solidFill>
                <a:latin typeface="Segoe UI" pitchFamily="34" charset="0"/>
                <a:ea typeface="Segoe UI" pitchFamily="34" charset="-122"/>
                <a:cs typeface="Segoe UI" pitchFamily="34" charset="-120"/>
              </a:rPr>
              <a:t>• Rigging &amp; Character Physics</a:t>
            </a:r>
            <a:endParaRPr lang="en-US" sz="750" dirty="0"/>
          </a:p>
          <a:p>
            <a:pPr indent="0" marL="0">
              <a:lnSpc>
                <a:spcPct val="125000"/>
              </a:lnSpc>
              <a:buNone/>
            </a:pPr>
            <a:endParaRPr lang="en-US" sz="750" dirty="0"/>
          </a:p>
          <a:p>
            <a:pPr indent="0" marL="0">
              <a:lnSpc>
                <a:spcPct val="125000"/>
              </a:lnSpc>
              <a:buNone/>
            </a:pPr>
            <a:r>
              <a:rPr lang="en-US" sz="750" dirty="0">
                <a:solidFill>
                  <a:srgbClr val="CBD5E1"/>
                </a:solidFill>
                <a:latin typeface="Segoe UI" pitchFamily="34" charset="0"/>
                <a:ea typeface="Segoe UI" pitchFamily="34" charset="-122"/>
                <a:cs typeface="Segoe UI" pitchFamily="34" charset="-120"/>
              </a:rPr>
              <a:t>• Phoneme Lip-Sync Pass</a:t>
            </a:r>
            <a:endParaRPr lang="en-US" sz="750" dirty="0"/>
          </a:p>
          <a:p>
            <a:pPr indent="0" marL="0">
              <a:lnSpc>
                <a:spcPct val="125000"/>
              </a:lnSpc>
              <a:buNone/>
            </a:pPr>
            <a:endParaRPr lang="en-US" sz="750" dirty="0"/>
          </a:p>
          <a:p>
            <a:pPr indent="0" marL="0">
              <a:lnSpc>
                <a:spcPct val="125000"/>
              </a:lnSpc>
              <a:buNone/>
            </a:pPr>
            <a:r>
              <a:rPr lang="en-US" sz="750" dirty="0">
                <a:solidFill>
                  <a:srgbClr val="CBD5E1"/>
                </a:solidFill>
                <a:latin typeface="Segoe UI" pitchFamily="34" charset="0"/>
                <a:ea typeface="Segoe UI" pitchFamily="34" charset="-122"/>
                <a:cs typeface="Segoe UI" pitchFamily="34" charset="-120"/>
              </a:rPr>
              <a:t>• Secondary Needle Motion</a:t>
            </a:r>
            <a:endParaRPr lang="en-US" sz="750" dirty="0"/>
          </a:p>
          <a:p>
            <a:pPr indent="0" marL="0">
              <a:lnSpc>
                <a:spcPct val="125000"/>
              </a:lnSpc>
              <a:buNone/>
            </a:pPr>
            <a:endParaRPr lang="en-US" sz="750" dirty="0"/>
          </a:p>
          <a:p>
            <a:pPr indent="0" marL="0">
              <a:lnSpc>
                <a:spcPct val="125000"/>
              </a:lnSpc>
              <a:buNone/>
            </a:pPr>
            <a:r>
              <a:rPr lang="en-US" sz="750" dirty="0">
                <a:solidFill>
                  <a:srgbClr val="CBD5E1"/>
                </a:solidFill>
                <a:latin typeface="Segoe UI" pitchFamily="34" charset="0"/>
                <a:ea typeface="Segoe UI" pitchFamily="34" charset="-122"/>
                <a:cs typeface="Segoe UI" pitchFamily="34" charset="-120"/>
              </a:rPr>
              <a:t>• Snow &amp; Wind Dynamics</a:t>
            </a:r>
            <a:endParaRPr lang="en-US" sz="750" dirty="0"/>
          </a:p>
          <a:p>
            <a:pPr indent="0" marL="0">
              <a:lnSpc>
                <a:spcPct val="125000"/>
              </a:lnSpc>
              <a:buNone/>
            </a:pPr>
            <a:endParaRPr lang="en-US" sz="750" dirty="0"/>
          </a:p>
          <a:p>
            <a:pPr indent="0" marL="0">
              <a:lnSpc>
                <a:spcPct val="125000"/>
              </a:lnSpc>
              <a:buNone/>
            </a:pPr>
            <a:r>
              <a:rPr lang="en-US" sz="750" dirty="0">
                <a:solidFill>
                  <a:srgbClr val="CBD5E1"/>
                </a:solidFill>
                <a:latin typeface="Segoe UI" pitchFamily="34" charset="0"/>
                <a:ea typeface="Segoe UI" pitchFamily="34" charset="-122"/>
                <a:cs typeface="Segoe UI" pitchFamily="34" charset="-120"/>
              </a:rPr>
              <a:t>• Clean Line Art Cleanup</a:t>
            </a:r>
            <a:endParaRPr lang="en-US" sz="750" dirty="0"/>
          </a:p>
        </p:txBody>
      </p:sp>
      <p:sp>
        <p:nvSpPr>
          <p:cNvPr id="29" name="Shape 27"/>
          <p:cNvSpPr/>
          <p:nvPr/>
        </p:nvSpPr>
        <p:spPr>
          <a:xfrm>
            <a:off x="5376672" y="1234440"/>
            <a:ext cx="1536192" cy="2971800"/>
          </a:xfrm>
          <a:prstGeom prst="roundRect">
            <a:avLst/>
          </a:prstGeom>
          <a:solidFill>
            <a:srgbClr val="0D1524"/>
          </a:solidFill>
          <a:ln w="12700">
            <a:solidFill>
              <a:srgbClr val="24334C"/>
            </a:solidFill>
            <a:prstDash val="solid"/>
          </a:ln>
        </p:spPr>
      </p:sp>
      <p:sp>
        <p:nvSpPr>
          <p:cNvPr id="30" name="Shape 28"/>
          <p:cNvSpPr/>
          <p:nvPr/>
        </p:nvSpPr>
        <p:spPr>
          <a:xfrm>
            <a:off x="5468112" y="1344168"/>
            <a:ext cx="1353312" cy="219456"/>
          </a:xfrm>
          <a:prstGeom prst="roundRect">
            <a:avLst/>
          </a:prstGeom>
          <a:solidFill>
            <a:srgbClr val="14233D"/>
          </a:solidFill>
          <a:ln/>
        </p:spPr>
      </p:sp>
      <p:sp>
        <p:nvSpPr>
          <p:cNvPr id="31" name="Text 29"/>
          <p:cNvSpPr/>
          <p:nvPr/>
        </p:nvSpPr>
        <p:spPr>
          <a:xfrm>
            <a:off x="5468112" y="1344168"/>
            <a:ext cx="1353312" cy="219456"/>
          </a:xfrm>
          <a:prstGeom prst="rect">
            <a:avLst/>
          </a:prstGeom>
          <a:noFill/>
          <a:ln/>
        </p:spPr>
        <p:txBody>
          <a:bodyPr wrap="square" rtlCol="0" anchor="ctr"/>
          <a:lstStyle/>
          <a:p>
            <a:pPr algn="ctr" indent="0" marL="0">
              <a:buNone/>
            </a:pPr>
            <a:r>
              <a:rPr lang="en-US" sz="750" b="1" dirty="0">
                <a:solidFill>
                  <a:srgbClr val="38BDF8"/>
                </a:solidFill>
                <a:latin typeface="Segoe UI" pitchFamily="34" charset="0"/>
                <a:ea typeface="Segoe UI" pitchFamily="34" charset="-122"/>
                <a:cs typeface="Segoe UI" pitchFamily="34" charset="-120"/>
              </a:rPr>
              <a:t>PHASE 04</a:t>
            </a:r>
            <a:endParaRPr lang="en-US" sz="750" dirty="0"/>
          </a:p>
        </p:txBody>
      </p:sp>
      <p:sp>
        <p:nvSpPr>
          <p:cNvPr id="32" name="Text 30"/>
          <p:cNvSpPr/>
          <p:nvPr/>
        </p:nvSpPr>
        <p:spPr>
          <a:xfrm>
            <a:off x="5468112" y="1618488"/>
            <a:ext cx="1353312" cy="292608"/>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Compositing</a:t>
            </a:r>
            <a:endParaRPr lang="en-US" sz="950" dirty="0"/>
          </a:p>
        </p:txBody>
      </p:sp>
      <p:sp>
        <p:nvSpPr>
          <p:cNvPr id="33" name="Text 31"/>
          <p:cNvSpPr/>
          <p:nvPr/>
        </p:nvSpPr>
        <p:spPr>
          <a:xfrm>
            <a:off x="5468112" y="1911096"/>
            <a:ext cx="1353312" cy="201168"/>
          </a:xfrm>
          <a:prstGeom prst="rect">
            <a:avLst/>
          </a:prstGeom>
          <a:noFill/>
          <a:ln/>
        </p:spPr>
        <p:txBody>
          <a:bodyPr wrap="square" rtlCol="0" anchor="ctr"/>
          <a:lstStyle/>
          <a:p>
            <a:pPr algn="ctr" indent="0" marL="0">
              <a:buNone/>
            </a:pPr>
            <a:r>
              <a:rPr lang="en-US" sz="750" b="1" dirty="0">
                <a:solidFill>
                  <a:srgbClr val="FBBF24"/>
                </a:solidFill>
                <a:latin typeface="Segoe UI" pitchFamily="34" charset="0"/>
                <a:ea typeface="Segoe UI" pitchFamily="34" charset="-122"/>
                <a:cs typeface="Segoe UI" pitchFamily="34" charset="-120"/>
              </a:rPr>
              <a:t>Weeks 15–16</a:t>
            </a:r>
            <a:endParaRPr lang="en-US" sz="750" dirty="0"/>
          </a:p>
        </p:txBody>
      </p:sp>
      <p:sp>
        <p:nvSpPr>
          <p:cNvPr id="34" name="Shape 32"/>
          <p:cNvSpPr/>
          <p:nvPr/>
        </p:nvSpPr>
        <p:spPr>
          <a:xfrm>
            <a:off x="5513832" y="2167128"/>
            <a:ext cx="1261872" cy="13716"/>
          </a:xfrm>
          <a:prstGeom prst="rect">
            <a:avLst/>
          </a:prstGeom>
          <a:solidFill>
            <a:srgbClr val="24334C"/>
          </a:solidFill>
          <a:ln/>
        </p:spPr>
      </p:sp>
      <p:sp>
        <p:nvSpPr>
          <p:cNvPr id="35" name="Text 33"/>
          <p:cNvSpPr/>
          <p:nvPr/>
        </p:nvSpPr>
        <p:spPr>
          <a:xfrm>
            <a:off x="5468112" y="2286000"/>
            <a:ext cx="1353312" cy="1783080"/>
          </a:xfrm>
          <a:prstGeom prst="rect">
            <a:avLst/>
          </a:prstGeom>
          <a:noFill/>
          <a:ln/>
        </p:spPr>
        <p:txBody>
          <a:bodyPr wrap="square" rtlCol="0" anchor="t"/>
          <a:lstStyle/>
          <a:p>
            <a:pPr indent="0" marL="0">
              <a:lnSpc>
                <a:spcPct val="125000"/>
              </a:lnSpc>
              <a:buNone/>
            </a:pPr>
            <a:r>
              <a:rPr lang="en-US" sz="750" dirty="0">
                <a:solidFill>
                  <a:srgbClr val="CBD5E1"/>
                </a:solidFill>
                <a:latin typeface="Segoe UI" pitchFamily="34" charset="0"/>
                <a:ea typeface="Segoe UI" pitchFamily="34" charset="-122"/>
                <a:cs typeface="Segoe UI" pitchFamily="34" charset="-120"/>
              </a:rPr>
              <a:t>• Multiplane Parallax Depth</a:t>
            </a:r>
            <a:endParaRPr lang="en-US" sz="750" dirty="0"/>
          </a:p>
          <a:p>
            <a:pPr indent="0" marL="0">
              <a:lnSpc>
                <a:spcPct val="125000"/>
              </a:lnSpc>
              <a:buNone/>
            </a:pPr>
            <a:endParaRPr lang="en-US" sz="750" dirty="0"/>
          </a:p>
          <a:p>
            <a:pPr indent="0" marL="0">
              <a:lnSpc>
                <a:spcPct val="125000"/>
              </a:lnSpc>
              <a:buNone/>
            </a:pPr>
            <a:r>
              <a:rPr lang="en-US" sz="750" dirty="0">
                <a:solidFill>
                  <a:srgbClr val="CBD5E1"/>
                </a:solidFill>
                <a:latin typeface="Segoe UI" pitchFamily="34" charset="0"/>
                <a:ea typeface="Segoe UI" pitchFamily="34" charset="-122"/>
                <a:cs typeface="Segoe UI" pitchFamily="34" charset="-120"/>
              </a:rPr>
              <a:t>• 50,000 Bulb Glow Effects</a:t>
            </a:r>
            <a:endParaRPr lang="en-US" sz="750" dirty="0"/>
          </a:p>
          <a:p>
            <a:pPr indent="0" marL="0">
              <a:lnSpc>
                <a:spcPct val="125000"/>
              </a:lnSpc>
              <a:buNone/>
            </a:pPr>
            <a:endParaRPr lang="en-US" sz="750" dirty="0"/>
          </a:p>
          <a:p>
            <a:pPr indent="0" marL="0">
              <a:lnSpc>
                <a:spcPct val="125000"/>
              </a:lnSpc>
              <a:buNone/>
            </a:pPr>
            <a:r>
              <a:rPr lang="en-US" sz="750" dirty="0">
                <a:solidFill>
                  <a:srgbClr val="CBD5E1"/>
                </a:solidFill>
                <a:latin typeface="Segoe UI" pitchFamily="34" charset="0"/>
                <a:ea typeface="Segoe UI" pitchFamily="34" charset="-122"/>
                <a:cs typeface="Segoe UI" pitchFamily="34" charset="-120"/>
              </a:rPr>
              <a:t>• Atmospheric Snow VFX</a:t>
            </a:r>
            <a:endParaRPr lang="en-US" sz="750" dirty="0"/>
          </a:p>
          <a:p>
            <a:pPr indent="0" marL="0">
              <a:lnSpc>
                <a:spcPct val="125000"/>
              </a:lnSpc>
              <a:buNone/>
            </a:pPr>
            <a:endParaRPr lang="en-US" sz="750" dirty="0"/>
          </a:p>
          <a:p>
            <a:pPr indent="0" marL="0">
              <a:lnSpc>
                <a:spcPct val="125000"/>
              </a:lnSpc>
              <a:buNone/>
            </a:pPr>
            <a:r>
              <a:rPr lang="en-US" sz="750" dirty="0">
                <a:solidFill>
                  <a:srgbClr val="CBD5E1"/>
                </a:solidFill>
                <a:latin typeface="Segoe UI" pitchFamily="34" charset="0"/>
                <a:ea typeface="Segoe UI" pitchFamily="34" charset="-122"/>
                <a:cs typeface="Segoe UI" pitchFamily="34" charset="-120"/>
              </a:rPr>
              <a:t>• Searchlight Volumetrics</a:t>
            </a:r>
            <a:endParaRPr lang="en-US" sz="750" dirty="0"/>
          </a:p>
          <a:p>
            <a:pPr indent="0" marL="0">
              <a:lnSpc>
                <a:spcPct val="125000"/>
              </a:lnSpc>
              <a:buNone/>
            </a:pPr>
            <a:endParaRPr lang="en-US" sz="750" dirty="0"/>
          </a:p>
          <a:p>
            <a:pPr indent="0" marL="0">
              <a:lnSpc>
                <a:spcPct val="125000"/>
              </a:lnSpc>
              <a:buNone/>
            </a:pPr>
            <a:r>
              <a:rPr lang="en-US" sz="750" dirty="0">
                <a:solidFill>
                  <a:srgbClr val="CBD5E1"/>
                </a:solidFill>
                <a:latin typeface="Segoe UI" pitchFamily="34" charset="0"/>
                <a:ea typeface="Segoe UI" pitchFamily="34" charset="-122"/>
                <a:cs typeface="Segoe UI" pitchFamily="34" charset="-120"/>
              </a:rPr>
              <a:t>• DaVinci Color Grading</a:t>
            </a:r>
            <a:endParaRPr lang="en-US" sz="750" dirty="0"/>
          </a:p>
        </p:txBody>
      </p:sp>
      <p:sp>
        <p:nvSpPr>
          <p:cNvPr id="36" name="Shape 34"/>
          <p:cNvSpPr/>
          <p:nvPr/>
        </p:nvSpPr>
        <p:spPr>
          <a:xfrm>
            <a:off x="6986016" y="1234440"/>
            <a:ext cx="1536192" cy="2971800"/>
          </a:xfrm>
          <a:prstGeom prst="roundRect">
            <a:avLst/>
          </a:prstGeom>
          <a:solidFill>
            <a:srgbClr val="0D1524"/>
          </a:solidFill>
          <a:ln w="12700">
            <a:solidFill>
              <a:srgbClr val="24334C"/>
            </a:solidFill>
            <a:prstDash val="solid"/>
          </a:ln>
        </p:spPr>
      </p:sp>
      <p:sp>
        <p:nvSpPr>
          <p:cNvPr id="37" name="Shape 35"/>
          <p:cNvSpPr/>
          <p:nvPr/>
        </p:nvSpPr>
        <p:spPr>
          <a:xfrm>
            <a:off x="7077456" y="1344168"/>
            <a:ext cx="1353312" cy="219456"/>
          </a:xfrm>
          <a:prstGeom prst="roundRect">
            <a:avLst/>
          </a:prstGeom>
          <a:solidFill>
            <a:srgbClr val="14233D"/>
          </a:solidFill>
          <a:ln/>
        </p:spPr>
      </p:sp>
      <p:sp>
        <p:nvSpPr>
          <p:cNvPr id="38" name="Text 36"/>
          <p:cNvSpPr/>
          <p:nvPr/>
        </p:nvSpPr>
        <p:spPr>
          <a:xfrm>
            <a:off x="7077456" y="1344168"/>
            <a:ext cx="1353312" cy="219456"/>
          </a:xfrm>
          <a:prstGeom prst="rect">
            <a:avLst/>
          </a:prstGeom>
          <a:noFill/>
          <a:ln/>
        </p:spPr>
        <p:txBody>
          <a:bodyPr wrap="square" rtlCol="0" anchor="ctr"/>
          <a:lstStyle/>
          <a:p>
            <a:pPr algn="ctr" indent="0" marL="0">
              <a:buNone/>
            </a:pPr>
            <a:r>
              <a:rPr lang="en-US" sz="750" b="1" dirty="0">
                <a:solidFill>
                  <a:srgbClr val="38BDF8"/>
                </a:solidFill>
                <a:latin typeface="Segoe UI" pitchFamily="34" charset="0"/>
                <a:ea typeface="Segoe UI" pitchFamily="34" charset="-122"/>
                <a:cs typeface="Segoe UI" pitchFamily="34" charset="-120"/>
              </a:rPr>
              <a:t>PHASE 05</a:t>
            </a:r>
            <a:endParaRPr lang="en-US" sz="750" dirty="0"/>
          </a:p>
        </p:txBody>
      </p:sp>
      <p:sp>
        <p:nvSpPr>
          <p:cNvPr id="39" name="Text 37"/>
          <p:cNvSpPr/>
          <p:nvPr/>
        </p:nvSpPr>
        <p:spPr>
          <a:xfrm>
            <a:off x="7077456" y="1618488"/>
            <a:ext cx="1353312" cy="292608"/>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Sound &amp; Master</a:t>
            </a:r>
            <a:endParaRPr lang="en-US" sz="950" dirty="0"/>
          </a:p>
        </p:txBody>
      </p:sp>
      <p:sp>
        <p:nvSpPr>
          <p:cNvPr id="40" name="Text 38"/>
          <p:cNvSpPr/>
          <p:nvPr/>
        </p:nvSpPr>
        <p:spPr>
          <a:xfrm>
            <a:off x="7077456" y="1911096"/>
            <a:ext cx="1353312" cy="201168"/>
          </a:xfrm>
          <a:prstGeom prst="rect">
            <a:avLst/>
          </a:prstGeom>
          <a:noFill/>
          <a:ln/>
        </p:spPr>
        <p:txBody>
          <a:bodyPr wrap="square" rtlCol="0" anchor="ctr"/>
          <a:lstStyle/>
          <a:p>
            <a:pPr algn="ctr" indent="0" marL="0">
              <a:buNone/>
            </a:pPr>
            <a:r>
              <a:rPr lang="en-US" sz="750" b="1" dirty="0">
                <a:solidFill>
                  <a:srgbClr val="FBBF24"/>
                </a:solidFill>
                <a:latin typeface="Segoe UI" pitchFamily="34" charset="0"/>
                <a:ea typeface="Segoe UI" pitchFamily="34" charset="-122"/>
                <a:cs typeface="Segoe UI" pitchFamily="34" charset="-120"/>
              </a:rPr>
              <a:t>Weeks 17–18</a:t>
            </a:r>
            <a:endParaRPr lang="en-US" sz="750" dirty="0"/>
          </a:p>
        </p:txBody>
      </p:sp>
      <p:sp>
        <p:nvSpPr>
          <p:cNvPr id="41" name="Shape 39"/>
          <p:cNvSpPr/>
          <p:nvPr/>
        </p:nvSpPr>
        <p:spPr>
          <a:xfrm>
            <a:off x="7123176" y="2167128"/>
            <a:ext cx="1261872" cy="13716"/>
          </a:xfrm>
          <a:prstGeom prst="rect">
            <a:avLst/>
          </a:prstGeom>
          <a:solidFill>
            <a:srgbClr val="24334C"/>
          </a:solidFill>
          <a:ln/>
        </p:spPr>
      </p:sp>
      <p:sp>
        <p:nvSpPr>
          <p:cNvPr id="42" name="Text 40"/>
          <p:cNvSpPr/>
          <p:nvPr/>
        </p:nvSpPr>
        <p:spPr>
          <a:xfrm>
            <a:off x="7077456" y="2286000"/>
            <a:ext cx="1353312" cy="1783080"/>
          </a:xfrm>
          <a:prstGeom prst="rect">
            <a:avLst/>
          </a:prstGeom>
          <a:noFill/>
          <a:ln/>
        </p:spPr>
        <p:txBody>
          <a:bodyPr wrap="square" rtlCol="0" anchor="t"/>
          <a:lstStyle/>
          <a:p>
            <a:pPr indent="0" marL="0">
              <a:lnSpc>
                <a:spcPct val="125000"/>
              </a:lnSpc>
              <a:buNone/>
            </a:pPr>
            <a:r>
              <a:rPr lang="en-US" sz="750" dirty="0">
                <a:solidFill>
                  <a:srgbClr val="CBD5E1"/>
                </a:solidFill>
                <a:latin typeface="Segoe UI" pitchFamily="34" charset="0"/>
                <a:ea typeface="Segoe UI" pitchFamily="34" charset="-122"/>
                <a:cs typeface="Segoe UI" pitchFamily="34" charset="-120"/>
              </a:rPr>
              <a:t>• Broadcast Voice Track Master</a:t>
            </a:r>
            <a:endParaRPr lang="en-US" sz="750" dirty="0"/>
          </a:p>
          <a:p>
            <a:pPr indent="0" marL="0">
              <a:lnSpc>
                <a:spcPct val="125000"/>
              </a:lnSpc>
              <a:buNone/>
            </a:pPr>
            <a:endParaRPr lang="en-US" sz="750" dirty="0"/>
          </a:p>
          <a:p>
            <a:pPr indent="0" marL="0">
              <a:lnSpc>
                <a:spcPct val="125000"/>
              </a:lnSpc>
              <a:buNone/>
            </a:pPr>
            <a:r>
              <a:rPr lang="en-US" sz="750" dirty="0">
                <a:solidFill>
                  <a:srgbClr val="CBD5E1"/>
                </a:solidFill>
                <a:latin typeface="Segoe UI" pitchFamily="34" charset="0"/>
                <a:ea typeface="Segoe UI" pitchFamily="34" charset="-122"/>
                <a:cs typeface="Segoe UI" pitchFamily="34" charset="-120"/>
              </a:rPr>
              <a:t>• Foley &amp; Custom Sound FX</a:t>
            </a:r>
            <a:endParaRPr lang="en-US" sz="750" dirty="0"/>
          </a:p>
          <a:p>
            <a:pPr indent="0" marL="0">
              <a:lnSpc>
                <a:spcPct val="125000"/>
              </a:lnSpc>
              <a:buNone/>
            </a:pPr>
            <a:endParaRPr lang="en-US" sz="750" dirty="0"/>
          </a:p>
          <a:p>
            <a:pPr indent="0" marL="0">
              <a:lnSpc>
                <a:spcPct val="125000"/>
              </a:lnSpc>
              <a:buNone/>
            </a:pPr>
            <a:r>
              <a:rPr lang="en-US" sz="750" dirty="0">
                <a:solidFill>
                  <a:srgbClr val="CBD5E1"/>
                </a:solidFill>
                <a:latin typeface="Segoe UI" pitchFamily="34" charset="0"/>
                <a:ea typeface="Segoe UI" pitchFamily="34" charset="-122"/>
                <a:cs typeface="Segoe UI" pitchFamily="34" charset="-120"/>
              </a:rPr>
              <a:t>• Original Holiday Score</a:t>
            </a:r>
            <a:endParaRPr lang="en-US" sz="750" dirty="0"/>
          </a:p>
          <a:p>
            <a:pPr indent="0" marL="0">
              <a:lnSpc>
                <a:spcPct val="125000"/>
              </a:lnSpc>
              <a:buNone/>
            </a:pPr>
            <a:endParaRPr lang="en-US" sz="750" dirty="0"/>
          </a:p>
          <a:p>
            <a:pPr indent="0" marL="0">
              <a:lnSpc>
                <a:spcPct val="125000"/>
              </a:lnSpc>
              <a:buNone/>
            </a:pPr>
            <a:r>
              <a:rPr lang="en-US" sz="750" dirty="0">
                <a:solidFill>
                  <a:srgbClr val="CBD5E1"/>
                </a:solidFill>
                <a:latin typeface="Segoe UI" pitchFamily="34" charset="0"/>
                <a:ea typeface="Segoe UI" pitchFamily="34" charset="-122"/>
                <a:cs typeface="Segoe UI" pitchFamily="34" charset="-120"/>
              </a:rPr>
              <a:t>• 5.1 Surround &amp; Stereo Mix</a:t>
            </a:r>
            <a:endParaRPr lang="en-US" sz="750" dirty="0"/>
          </a:p>
          <a:p>
            <a:pPr indent="0" marL="0">
              <a:lnSpc>
                <a:spcPct val="125000"/>
              </a:lnSpc>
              <a:buNone/>
            </a:pPr>
            <a:endParaRPr lang="en-US" sz="750" dirty="0"/>
          </a:p>
          <a:p>
            <a:pPr indent="0" marL="0">
              <a:lnSpc>
                <a:spcPct val="125000"/>
              </a:lnSpc>
              <a:buNone/>
            </a:pPr>
            <a:r>
              <a:rPr lang="en-US" sz="750" dirty="0">
                <a:solidFill>
                  <a:srgbClr val="CBD5E1"/>
                </a:solidFill>
                <a:latin typeface="Segoe UI" pitchFamily="34" charset="0"/>
                <a:ea typeface="Segoe UI" pitchFamily="34" charset="-122"/>
                <a:cs typeface="Segoe UI" pitchFamily="34" charset="-120"/>
              </a:rPr>
              <a:t>• ProRes 4444 XQ Masters</a:t>
            </a:r>
            <a:endParaRPr lang="en-US" sz="750" dirty="0"/>
          </a:p>
        </p:txBody>
      </p:sp>
      <p:sp>
        <p:nvSpPr>
          <p:cNvPr id="43" name="Shape 41"/>
          <p:cNvSpPr/>
          <p:nvPr/>
        </p:nvSpPr>
        <p:spPr>
          <a:xfrm>
            <a:off x="548640" y="4315968"/>
            <a:ext cx="8046720" cy="457200"/>
          </a:xfrm>
          <a:prstGeom prst="roundRect">
            <a:avLst/>
          </a:prstGeom>
          <a:solidFill>
            <a:srgbClr val="0D1524"/>
          </a:solidFill>
          <a:ln w="12700">
            <a:solidFill>
              <a:srgbClr val="F59E0B"/>
            </a:solidFill>
            <a:prstDash val="solid"/>
          </a:ln>
        </p:spPr>
      </p:sp>
      <p:sp>
        <p:nvSpPr>
          <p:cNvPr id="44" name="Text 42"/>
          <p:cNvSpPr/>
          <p:nvPr/>
        </p:nvSpPr>
        <p:spPr>
          <a:xfrm>
            <a:off x="731520" y="4315968"/>
            <a:ext cx="7680960" cy="457200"/>
          </a:xfrm>
          <a:prstGeom prst="rect">
            <a:avLst/>
          </a:prstGeom>
          <a:noFill/>
          <a:ln/>
        </p:spPr>
        <p:txBody>
          <a:bodyPr wrap="square"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INDUSTRY-STANDARD PIPELINE:  Toon Boom Harmony 22  •  Storyboard Pro  •  DaVinci Resolve Studio  •  Pro Tools HD  •  ProRes 4444 XQ Masters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B12"/>
        </a:solidFill>
      </p:bgPr>
    </p:bg>
    <p:spTree>
      <p:nvGrpSpPr>
        <p:cNvPr id="1" name=""/>
        <p:cNvGrpSpPr/>
        <p:nvPr/>
      </p:nvGrpSpPr>
      <p:grpSpPr>
        <a:xfrm>
          <a:off x="0" y="0"/>
          <a:ext cx="0" cy="0"/>
          <a:chOff x="0" y="0"/>
          <a:chExt cx="0" cy="0"/>
        </a:xfrm>
      </p:grpSpPr>
      <p:sp>
        <p:nvSpPr>
          <p:cNvPr id="2" name="Shape 0"/>
          <p:cNvSpPr/>
          <p:nvPr/>
        </p:nvSpPr>
        <p:spPr>
          <a:xfrm>
            <a:off x="548640" y="320040"/>
            <a:ext cx="8046720" cy="13716"/>
          </a:xfrm>
          <a:prstGeom prst="rect">
            <a:avLst/>
          </a:prstGeom>
          <a:solidFill>
            <a:srgbClr val="24334C"/>
          </a:solidFill>
          <a:ln/>
        </p:spPr>
      </p:sp>
      <p:sp>
        <p:nvSpPr>
          <p:cNvPr id="3" name="Text 1"/>
          <p:cNvSpPr/>
          <p:nvPr/>
        </p:nvSpPr>
        <p:spPr>
          <a:xfrm>
            <a:off x="548640" y="384048"/>
            <a:ext cx="6217920" cy="201168"/>
          </a:xfrm>
          <a:prstGeom prst="rect">
            <a:avLst/>
          </a:prstGeom>
          <a:noFill/>
          <a:ln/>
        </p:spPr>
        <p:txBody>
          <a:bodyPr wrap="square" rtlCol="0" anchor="ctr"/>
          <a:lstStyle/>
          <a:p>
            <a:pPr indent="0" marL="0">
              <a:buNone/>
            </a:pPr>
            <a:r>
              <a:rPr lang="en-US" sz="800" b="1" dirty="0">
                <a:solidFill>
                  <a:srgbClr val="38BDF8"/>
                </a:solidFill>
                <a:latin typeface="Segoe UI" pitchFamily="34" charset="0"/>
                <a:ea typeface="Segoe UI" pitchFamily="34" charset="-122"/>
                <a:cs typeface="Segoe UI" pitchFamily="34" charset="-120"/>
              </a:rPr>
              <a:t>AUDIO ENGINEERING &amp; VOICE CAST</a:t>
            </a:r>
            <a:endParaRPr lang="en-US" sz="800" dirty="0"/>
          </a:p>
        </p:txBody>
      </p:sp>
      <p:sp>
        <p:nvSpPr>
          <p:cNvPr id="4" name="Text 2"/>
          <p:cNvSpPr/>
          <p:nvPr/>
        </p:nvSpPr>
        <p:spPr>
          <a:xfrm>
            <a:off x="548640" y="621792"/>
            <a:ext cx="6583680" cy="411480"/>
          </a:xfrm>
          <a:prstGeom prst="rect">
            <a:avLst/>
          </a:prstGeom>
          <a:noFill/>
          <a:ln/>
        </p:spPr>
        <p:txBody>
          <a:bodyPr wrap="square"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Voice-Over Matrix &amp; Registered Script Breakdown</a:t>
            </a:r>
            <a:endParaRPr lang="en-US" sz="1700" dirty="0"/>
          </a:p>
        </p:txBody>
      </p:sp>
      <p:sp>
        <p:nvSpPr>
          <p:cNvPr id="5" name="Shape 3"/>
          <p:cNvSpPr/>
          <p:nvPr/>
        </p:nvSpPr>
        <p:spPr>
          <a:xfrm>
            <a:off x="7132320" y="411480"/>
            <a:ext cx="1463040" cy="292608"/>
          </a:xfrm>
          <a:prstGeom prst="roundRect">
            <a:avLst/>
          </a:prstGeom>
          <a:solidFill>
            <a:srgbClr val="0D1524"/>
          </a:solidFill>
          <a:ln w="12700">
            <a:solidFill>
              <a:srgbClr val="24334C"/>
            </a:solidFill>
            <a:prstDash val="solid"/>
          </a:ln>
        </p:spPr>
      </p:sp>
      <p:sp>
        <p:nvSpPr>
          <p:cNvPr id="6" name="Text 4"/>
          <p:cNvSpPr/>
          <p:nvPr/>
        </p:nvSpPr>
        <p:spPr>
          <a:xfrm>
            <a:off x="7132320" y="411480"/>
            <a:ext cx="1463040" cy="292608"/>
          </a:xfrm>
          <a:prstGeom prst="rect">
            <a:avLst/>
          </a:prstGeom>
          <a:noFill/>
          <a:ln/>
        </p:spPr>
        <p:txBody>
          <a:bodyPr wrap="square" rtlCol="0" anchor="ctr"/>
          <a:lstStyle/>
          <a:p>
            <a:pPr algn="ctr" indent="0" marL="0">
              <a:buNone/>
            </a:pPr>
            <a:r>
              <a:rPr lang="en-US" sz="750" b="1" dirty="0">
                <a:solidFill>
                  <a:srgbClr val="FBBF24"/>
                </a:solidFill>
                <a:latin typeface="Segoe UI" pitchFamily="34" charset="0"/>
                <a:ea typeface="Segoe UI" pitchFamily="34" charset="-122"/>
                <a:cs typeface="Segoe UI" pitchFamily="34" charset="-120"/>
              </a:rPr>
              <a:t>NEO GEN STUDIOS</a:t>
            </a:r>
            <a:endParaRPr lang="en-US" sz="750" dirty="0"/>
          </a:p>
        </p:txBody>
      </p:sp>
      <p:sp>
        <p:nvSpPr>
          <p:cNvPr id="7" name="Text 5"/>
          <p:cNvSpPr/>
          <p:nvPr/>
        </p:nvSpPr>
        <p:spPr>
          <a:xfrm>
            <a:off x="548640" y="4864608"/>
            <a:ext cx="8046720" cy="182880"/>
          </a:xfrm>
          <a:prstGeom prst="rect">
            <a:avLst/>
          </a:prstGeom>
          <a:noFill/>
          <a:ln/>
        </p:spPr>
        <p:txBody>
          <a:bodyPr wrap="square" rtlCol="0" anchor="ctr"/>
          <a:lstStyle/>
          <a:p>
            <a:pPr indent="0" marL="0">
              <a:buNone/>
            </a:pPr>
            <a:r>
              <a:rPr lang="en-US" sz="750" dirty="0">
                <a:solidFill>
                  <a:srgbClr val="94A3B8"/>
                </a:solidFill>
                <a:latin typeface="Segoe UI" pitchFamily="34" charset="0"/>
                <a:ea typeface="Segoe UI" pitchFamily="34" charset="-122"/>
                <a:cs typeface="Segoe UI" pitchFamily="34" charset="-120"/>
              </a:rPr>
              <a:t>NEO GEN TECHNOLOGIES  |  ROCKY: THE ROCKEFELLER CHRISTMAS TREE  |  EXECUTIVE SOW  |  SLIDE 7</a:t>
            </a:r>
            <a:endParaRPr lang="en-US" sz="750" dirty="0"/>
          </a:p>
        </p:txBody>
      </p:sp>
      <p:sp>
        <p:nvSpPr>
          <p:cNvPr id="8" name="Shape 6"/>
          <p:cNvSpPr/>
          <p:nvPr/>
        </p:nvSpPr>
        <p:spPr>
          <a:xfrm>
            <a:off x="548640" y="1234440"/>
            <a:ext cx="8046720" cy="411480"/>
          </a:xfrm>
          <a:prstGeom prst="roundRect">
            <a:avLst/>
          </a:prstGeom>
          <a:solidFill>
            <a:srgbClr val="0A241A"/>
          </a:solidFill>
          <a:ln w="15240">
            <a:solidFill>
              <a:srgbClr val="10B981"/>
            </a:solidFill>
            <a:prstDash val="solid"/>
          </a:ln>
        </p:spPr>
      </p:sp>
      <p:sp>
        <p:nvSpPr>
          <p:cNvPr id="9" name="Text 7"/>
          <p:cNvSpPr/>
          <p:nvPr/>
        </p:nvSpPr>
        <p:spPr>
          <a:xfrm>
            <a:off x="731520" y="1234440"/>
            <a:ext cx="7680960" cy="411480"/>
          </a:xfrm>
          <a:prstGeom prst="rect">
            <a:avLst/>
          </a:prstGeom>
          <a:noFill/>
          <a:ln/>
        </p:spPr>
        <p:txBody>
          <a:bodyPr wrap="square" rtlCol="0" anchor="ctr"/>
          <a:lstStyle/>
          <a:p>
            <a:pPr algn="ctr" indent="0" marL="0">
              <a:buNone/>
            </a:pPr>
            <a:r>
              <a:rPr lang="en-US" sz="850" b="1" dirty="0">
                <a:solidFill>
                  <a:srgbClr val="6EE7B7"/>
                </a:solidFill>
                <a:latin typeface="Segoe UI" pitchFamily="34" charset="0"/>
                <a:ea typeface="Segoe UI" pitchFamily="34" charset="-122"/>
                <a:cs typeface="Segoe UI" pitchFamily="34" charset="-120"/>
              </a:rPr>
              <a:t>OFFICIAL SCREENPLAY AUDIT (CTXu001371329):  40 Script Pages  |  172 Speech Cues  |  305 Exact Lines  |  1,364 Words  |  14.5 Studio Hours</a:t>
            </a:r>
            <a:endParaRPr lang="en-US" sz="8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8046720" cy="914400"/>
        </p:xfrm>
        <a:graphic>
          <a:graphicData uri="http://schemas.openxmlformats.org/drawingml/2006/table">
            <a:tbl>
              <a:tblPr/>
              <a:tblGrid>
                <a:gridCol w="1737360"/>
                <a:gridCol w="3108960"/>
                <a:gridCol w="777240"/>
                <a:gridCol w="777240"/>
                <a:gridCol w="822960"/>
                <a:gridCol w="822960"/>
              </a:tblGrid>
              <a:tr h="0">
                <a:tc>
                  <a:txBody>
                    <a:bodyPr/>
                    <a:lstStyle/>
                    <a:p>
                      <a:pPr algn="l" indent="0" marL="0">
                        <a:buNone/>
                      </a:pPr>
                      <a:r>
                        <a:rPr lang="en-US" sz="780" b="1" dirty="0">
                          <a:solidFill>
                            <a:srgbClr val="F59E0B"/>
                          </a:solidFill>
                          <a:latin typeface="Segoe UI" pitchFamily="34" charset="0"/>
                          <a:ea typeface="Segoe UI" pitchFamily="34" charset="-122"/>
                          <a:cs typeface="Segoe UI" pitchFamily="34" charset="-120"/>
                        </a:rPr>
                        <a:t>Character Role</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14233D"/>
                    </a:solidFill>
                  </a:tcPr>
                </a:tc>
                <a:tc>
                  <a:txBody>
                    <a:bodyPr/>
                    <a:lstStyle/>
                    <a:p>
                      <a:pPr algn="l" indent="0" marL="0">
                        <a:buNone/>
                      </a:pPr>
                      <a:r>
                        <a:rPr lang="en-US" sz="780" b="1" dirty="0">
                          <a:solidFill>
                            <a:srgbClr val="F59E0B"/>
                          </a:solidFill>
                          <a:latin typeface="Segoe UI" pitchFamily="34" charset="0"/>
                          <a:ea typeface="Segoe UI" pitchFamily="34" charset="-122"/>
                          <a:cs typeface="Segoe UI" pitchFamily="34" charset="-120"/>
                        </a:rPr>
                        <a:t>Vocal Archetype</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14233D"/>
                    </a:solidFill>
                  </a:tcPr>
                </a:tc>
                <a:tc>
                  <a:txBody>
                    <a:bodyPr/>
                    <a:lstStyle/>
                    <a:p>
                      <a:pPr algn="l" indent="0" marL="0">
                        <a:buNone/>
                      </a:pPr>
                      <a:r>
                        <a:rPr lang="en-US" sz="780" b="1" dirty="0">
                          <a:solidFill>
                            <a:srgbClr val="F59E0B"/>
                          </a:solidFill>
                          <a:latin typeface="Segoe UI" pitchFamily="34" charset="0"/>
                          <a:ea typeface="Segoe UI" pitchFamily="34" charset="-122"/>
                          <a:cs typeface="Segoe UI" pitchFamily="34" charset="-120"/>
                        </a:rPr>
                        <a:t>Cues</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14233D"/>
                    </a:solidFill>
                  </a:tcPr>
                </a:tc>
                <a:tc>
                  <a:txBody>
                    <a:bodyPr/>
                    <a:lstStyle/>
                    <a:p>
                      <a:pPr algn="l" indent="0" marL="0">
                        <a:buNone/>
                      </a:pPr>
                      <a:r>
                        <a:rPr lang="en-US" sz="780" b="1" dirty="0">
                          <a:solidFill>
                            <a:srgbClr val="F59E0B"/>
                          </a:solidFill>
                          <a:latin typeface="Segoe UI" pitchFamily="34" charset="0"/>
                          <a:ea typeface="Segoe UI" pitchFamily="34" charset="-122"/>
                          <a:cs typeface="Segoe UI" pitchFamily="34" charset="-120"/>
                        </a:rPr>
                        <a:t>Lines</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14233D"/>
                    </a:solidFill>
                  </a:tcPr>
                </a:tc>
                <a:tc>
                  <a:txBody>
                    <a:bodyPr/>
                    <a:lstStyle/>
                    <a:p>
                      <a:pPr algn="l" indent="0" marL="0">
                        <a:buNone/>
                      </a:pPr>
                      <a:r>
                        <a:rPr lang="en-US" sz="780" b="1" dirty="0">
                          <a:solidFill>
                            <a:srgbClr val="F59E0B"/>
                          </a:solidFill>
                          <a:latin typeface="Segoe UI" pitchFamily="34" charset="0"/>
                          <a:ea typeface="Segoe UI" pitchFamily="34" charset="-122"/>
                          <a:cs typeface="Segoe UI" pitchFamily="34" charset="-120"/>
                        </a:rPr>
                        <a:t>Words</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14233D"/>
                    </a:solidFill>
                  </a:tcPr>
                </a:tc>
                <a:tc>
                  <a:txBody>
                    <a:bodyPr/>
                    <a:lstStyle/>
                    <a:p>
                      <a:pPr algn="l" indent="0" marL="0">
                        <a:buNone/>
                      </a:pPr>
                      <a:r>
                        <a:rPr lang="en-US" sz="780" b="1" dirty="0">
                          <a:solidFill>
                            <a:srgbClr val="F59E0B"/>
                          </a:solidFill>
                          <a:latin typeface="Segoe UI" pitchFamily="34" charset="0"/>
                          <a:ea typeface="Segoe UI" pitchFamily="34" charset="-122"/>
                          <a:cs typeface="Segoe UI" pitchFamily="34" charset="-120"/>
                        </a:rPr>
                        <a:t>Studio Hours</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14233D"/>
                    </a:solidFill>
                  </a:tcPr>
                </a:tc>
              </a:tr>
              <a:tr h="0">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Rocky (Lead Protagonist)</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Youthful, tender, determined child or teen sound</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55 Cues</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78 Lines</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313 Words</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3.0 Hours</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r>
              <a:tr h="0">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Old Oak / Narrator</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Warm, resonant storybook grandfatherly baritone</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25 Cues</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66 Lines</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340 Words</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2.5 Hours</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r>
              <a:tr h="0">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AJ the Squirrel</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Rapid comic tenor, acrobat, musical rhymes</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26 Cues</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40 Lines</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151 Words</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2.0 Hours</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r>
              <a:tr h="0">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Mary Louise (Forest Fairy)</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Bright soprano, witty authority, magical shimmer</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19 Cues</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36 Lines</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155 Words</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2.0 Hours</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r>
              <a:tr h="0">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Bruce Spruce (The Rival)</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Booming, pompous resonant baritone</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12 Cues</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30 Lines</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172 Words</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1.5 Hours</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r>
              <a:tr h="0">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Mrs. Pickles (The Skunk)</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Prim, melodramatic diva alto with comedic timing</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8 Cues</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20 Lines</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89 Words</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1.0 Hours</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r>
              <a:tr h="0">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Pip / Young Saplings</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Inquisitive, enthusiastic child voice</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13 Cues</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15 Lines</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62 Words</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1.0 Hours</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r>
              <a:tr h="0">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Forest Wildlife &amp; Crowd</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Blue Jay, chipmunk, selection crew crowd ADR</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14 Cues</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20 Lines</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82 Words</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c>
                  <a:txBody>
                    <a:bodyPr/>
                    <a:lstStyle/>
                    <a:p>
                      <a:pPr algn="l" indent="0" marL="0">
                        <a:buNone/>
                      </a:pPr>
                      <a:r>
                        <a:rPr lang="en-US" sz="780" dirty="0">
                          <a:solidFill>
                            <a:srgbClr val="FFFFFF"/>
                          </a:solidFill>
                          <a:latin typeface="Segoe UI" pitchFamily="34" charset="0"/>
                          <a:ea typeface="Segoe UI" pitchFamily="34" charset="-122"/>
                          <a:cs typeface="Segoe UI" pitchFamily="34" charset="-120"/>
                        </a:rPr>
                        <a:t>1.5 Hours</a:t>
                      </a:r>
                      <a:endParaRPr lang="en-US" sz="780" dirty="0">
                        <a:latin typeface="Segoe UI" charset="0"/>
                        <a:ea typeface="Segoe UI" charset="0"/>
                        <a:cs typeface="Segoe UI" charset="0"/>
                      </a:endParaRPr>
                    </a:p>
                  </a:txBody>
                  <a:tcPr marL="91440" marR="91440" marT="45720" marB="45720" anchor="ctr">
                    <a:lnL w="6350" cap="flat" cmpd="sng" algn="ctr">
                      <a:solidFill>
                        <a:srgbClr val="24334C"/>
                      </a:solidFill>
                      <a:prstDash val="solid"/>
                      <a:round/>
                      <a:headEnd type="none" w="med" len="med"/>
                      <a:tailEnd type="none" w="med" len="med"/>
                    </a:lnL>
                    <a:lnR w="6350" cap="flat" cmpd="sng" algn="ctr">
                      <a:solidFill>
                        <a:srgbClr val="24334C"/>
                      </a:solidFill>
                      <a:prstDash val="solid"/>
                      <a:round/>
                      <a:headEnd type="none" w="med" len="med"/>
                      <a:tailEnd type="none" w="med" len="med"/>
                    </a:lnR>
                    <a:lnT w="6350" cap="flat" cmpd="sng" algn="ctr">
                      <a:solidFill>
                        <a:srgbClr val="24334C"/>
                      </a:solidFill>
                      <a:prstDash val="solid"/>
                      <a:round/>
                      <a:headEnd type="none" w="med" len="med"/>
                      <a:tailEnd type="none" w="med" len="med"/>
                    </a:lnT>
                    <a:lnB w="6350" cap="flat" cmpd="sng" algn="ctr">
                      <a:solidFill>
                        <a:srgbClr val="24334C"/>
                      </a:solidFill>
                      <a:prstDash val="solid"/>
                      <a:round/>
                      <a:headEnd type="none" w="med" len="med"/>
                      <a:tailEnd type="none" w="med" len="med"/>
                    </a:lnB>
                    <a:solidFill>
                      <a:srgbClr val="0D1524"/>
                    </a:solidFill>
                  </a:tcPr>
                </a:tc>
              </a:tr>
            </a:tbl>
          </a:graphicData>
        </a:graphic>
      </p:graphicFrame>
      <p:sp>
        <p:nvSpPr>
          <p:cNvPr id="11" name="Shape 8"/>
          <p:cNvSpPr/>
          <p:nvPr/>
        </p:nvSpPr>
        <p:spPr>
          <a:xfrm>
            <a:off x="548640" y="4343400"/>
            <a:ext cx="8046720" cy="411480"/>
          </a:xfrm>
          <a:prstGeom prst="roundRect">
            <a:avLst/>
          </a:prstGeom>
          <a:solidFill>
            <a:srgbClr val="1E1708"/>
          </a:solidFill>
          <a:ln w="12700">
            <a:solidFill>
              <a:srgbClr val="F59E0B"/>
            </a:solidFill>
            <a:prstDash val="solid"/>
          </a:ln>
        </p:spPr>
      </p:sp>
      <p:sp>
        <p:nvSpPr>
          <p:cNvPr id="12" name="Text 9"/>
          <p:cNvSpPr/>
          <p:nvPr/>
        </p:nvSpPr>
        <p:spPr>
          <a:xfrm>
            <a:off x="731520" y="4343400"/>
            <a:ext cx="7680960" cy="411480"/>
          </a:xfrm>
          <a:prstGeom prst="rect">
            <a:avLst/>
          </a:prstGeom>
          <a:noFill/>
          <a:ln/>
        </p:spPr>
        <p:txBody>
          <a:bodyPr wrap="square" rtlCol="0" anchor="ctr"/>
          <a:lstStyle/>
          <a:p>
            <a:pPr algn="ctr" indent="0" marL="0">
              <a:buNone/>
            </a:pPr>
            <a:r>
              <a:rPr lang="en-US" sz="820" b="1" dirty="0">
                <a:solidFill>
                  <a:srgbClr val="FBBF24"/>
                </a:solidFill>
                <a:latin typeface="Segoe UI" pitchFamily="34" charset="0"/>
                <a:ea typeface="Segoe UI" pitchFamily="34" charset="-122"/>
                <a:cs typeface="Segoe UI" pitchFamily="34" charset="-120"/>
              </a:rPr>
              <a:t>INCLUDED BENEFIT: Dedicated 6-actor ensemble voice cast and bespoke sound effects (SFX &amp; Foley) are 100% included ($0 extra) in the Flagship Streamline Master Suite.</a:t>
            </a:r>
            <a:endParaRPr lang="en-US" sz="8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B12"/>
        </a:solidFill>
      </p:bgPr>
    </p:bg>
    <p:spTree>
      <p:nvGrpSpPr>
        <p:cNvPr id="1" name=""/>
        <p:cNvGrpSpPr/>
        <p:nvPr/>
      </p:nvGrpSpPr>
      <p:grpSpPr>
        <a:xfrm>
          <a:off x="0" y="0"/>
          <a:ext cx="0" cy="0"/>
          <a:chOff x="0" y="0"/>
          <a:chExt cx="0" cy="0"/>
        </a:xfrm>
      </p:grpSpPr>
      <p:sp>
        <p:nvSpPr>
          <p:cNvPr id="2" name="Shape 0"/>
          <p:cNvSpPr/>
          <p:nvPr/>
        </p:nvSpPr>
        <p:spPr>
          <a:xfrm>
            <a:off x="548640" y="320040"/>
            <a:ext cx="8046720" cy="13716"/>
          </a:xfrm>
          <a:prstGeom prst="rect">
            <a:avLst/>
          </a:prstGeom>
          <a:solidFill>
            <a:srgbClr val="24334C"/>
          </a:solidFill>
          <a:ln/>
        </p:spPr>
      </p:sp>
      <p:sp>
        <p:nvSpPr>
          <p:cNvPr id="3" name="Text 1"/>
          <p:cNvSpPr/>
          <p:nvPr/>
        </p:nvSpPr>
        <p:spPr>
          <a:xfrm>
            <a:off x="548640" y="384048"/>
            <a:ext cx="6217920" cy="201168"/>
          </a:xfrm>
          <a:prstGeom prst="rect">
            <a:avLst/>
          </a:prstGeom>
          <a:noFill/>
          <a:ln/>
        </p:spPr>
        <p:txBody>
          <a:bodyPr wrap="square" rtlCol="0" anchor="ctr"/>
          <a:lstStyle/>
          <a:p>
            <a:pPr indent="0" marL="0">
              <a:buNone/>
            </a:pPr>
            <a:r>
              <a:rPr lang="en-US" sz="800" b="1" dirty="0">
                <a:solidFill>
                  <a:srgbClr val="38BDF8"/>
                </a:solidFill>
                <a:latin typeface="Segoe UI" pitchFamily="34" charset="0"/>
                <a:ea typeface="Segoe UI" pitchFamily="34" charset="-122"/>
                <a:cs typeface="Segoe UI" pitchFamily="34" charset="-120"/>
              </a:rPr>
              <a:t>MASTER INVESTMENT ARCHITECTURE</a:t>
            </a:r>
            <a:endParaRPr lang="en-US" sz="800" dirty="0"/>
          </a:p>
        </p:txBody>
      </p:sp>
      <p:sp>
        <p:nvSpPr>
          <p:cNvPr id="4" name="Text 2"/>
          <p:cNvSpPr/>
          <p:nvPr/>
        </p:nvSpPr>
        <p:spPr>
          <a:xfrm>
            <a:off x="548640" y="621792"/>
            <a:ext cx="6583680" cy="411480"/>
          </a:xfrm>
          <a:prstGeom prst="rect">
            <a:avLst/>
          </a:prstGeom>
          <a:noFill/>
          <a:ln/>
        </p:spPr>
        <p:txBody>
          <a:bodyPr wrap="square"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Production Packages &amp; Milestone Investment Flow</a:t>
            </a:r>
            <a:endParaRPr lang="en-US" sz="1700" dirty="0"/>
          </a:p>
        </p:txBody>
      </p:sp>
      <p:sp>
        <p:nvSpPr>
          <p:cNvPr id="5" name="Shape 3"/>
          <p:cNvSpPr/>
          <p:nvPr/>
        </p:nvSpPr>
        <p:spPr>
          <a:xfrm>
            <a:off x="7132320" y="411480"/>
            <a:ext cx="1463040" cy="292608"/>
          </a:xfrm>
          <a:prstGeom prst="roundRect">
            <a:avLst/>
          </a:prstGeom>
          <a:solidFill>
            <a:srgbClr val="0D1524"/>
          </a:solidFill>
          <a:ln w="12700">
            <a:solidFill>
              <a:srgbClr val="24334C"/>
            </a:solidFill>
            <a:prstDash val="solid"/>
          </a:ln>
        </p:spPr>
      </p:sp>
      <p:sp>
        <p:nvSpPr>
          <p:cNvPr id="6" name="Text 4"/>
          <p:cNvSpPr/>
          <p:nvPr/>
        </p:nvSpPr>
        <p:spPr>
          <a:xfrm>
            <a:off x="7132320" y="411480"/>
            <a:ext cx="1463040" cy="292608"/>
          </a:xfrm>
          <a:prstGeom prst="rect">
            <a:avLst/>
          </a:prstGeom>
          <a:noFill/>
          <a:ln/>
        </p:spPr>
        <p:txBody>
          <a:bodyPr wrap="square" rtlCol="0" anchor="ctr"/>
          <a:lstStyle/>
          <a:p>
            <a:pPr algn="ctr" indent="0" marL="0">
              <a:buNone/>
            </a:pPr>
            <a:r>
              <a:rPr lang="en-US" sz="750" b="1" dirty="0">
                <a:solidFill>
                  <a:srgbClr val="FBBF24"/>
                </a:solidFill>
                <a:latin typeface="Segoe UI" pitchFamily="34" charset="0"/>
                <a:ea typeface="Segoe UI" pitchFamily="34" charset="-122"/>
                <a:cs typeface="Segoe UI" pitchFamily="34" charset="-120"/>
              </a:rPr>
              <a:t>NEO GEN STUDIOS</a:t>
            </a:r>
            <a:endParaRPr lang="en-US" sz="750" dirty="0"/>
          </a:p>
        </p:txBody>
      </p:sp>
      <p:sp>
        <p:nvSpPr>
          <p:cNvPr id="7" name="Text 5"/>
          <p:cNvSpPr/>
          <p:nvPr/>
        </p:nvSpPr>
        <p:spPr>
          <a:xfrm>
            <a:off x="548640" y="4864608"/>
            <a:ext cx="8046720" cy="182880"/>
          </a:xfrm>
          <a:prstGeom prst="rect">
            <a:avLst/>
          </a:prstGeom>
          <a:noFill/>
          <a:ln/>
        </p:spPr>
        <p:txBody>
          <a:bodyPr wrap="square" rtlCol="0" anchor="ctr"/>
          <a:lstStyle/>
          <a:p>
            <a:pPr indent="0" marL="0">
              <a:buNone/>
            </a:pPr>
            <a:r>
              <a:rPr lang="en-US" sz="750" dirty="0">
                <a:solidFill>
                  <a:srgbClr val="94A3B8"/>
                </a:solidFill>
                <a:latin typeface="Segoe UI" pitchFamily="34" charset="0"/>
                <a:ea typeface="Segoe UI" pitchFamily="34" charset="-122"/>
                <a:cs typeface="Segoe UI" pitchFamily="34" charset="-120"/>
              </a:rPr>
              <a:t>NEO GEN TECHNOLOGIES  |  ROCKY: THE ROCKEFELLER CHRISTMAS TREE  |  EXECUTIVE SOW  |  SLIDE 8</a:t>
            </a:r>
            <a:endParaRPr lang="en-US" sz="750" dirty="0"/>
          </a:p>
        </p:txBody>
      </p:sp>
      <p:sp>
        <p:nvSpPr>
          <p:cNvPr id="8" name="Shape 6"/>
          <p:cNvSpPr/>
          <p:nvPr/>
        </p:nvSpPr>
        <p:spPr>
          <a:xfrm>
            <a:off x="548640" y="1234440"/>
            <a:ext cx="8046720" cy="1965960"/>
          </a:xfrm>
          <a:prstGeom prst="roundRect">
            <a:avLst/>
          </a:prstGeom>
          <a:solidFill>
            <a:srgbClr val="0F1D33"/>
          </a:solidFill>
          <a:ln w="25400">
            <a:solidFill>
              <a:srgbClr val="F59E0B"/>
            </a:solidFill>
            <a:prstDash val="solid"/>
          </a:ln>
        </p:spPr>
      </p:sp>
      <p:sp>
        <p:nvSpPr>
          <p:cNvPr id="9" name="Text 7"/>
          <p:cNvSpPr/>
          <p:nvPr/>
        </p:nvSpPr>
        <p:spPr>
          <a:xfrm>
            <a:off x="777240" y="1371600"/>
            <a:ext cx="5029200" cy="201168"/>
          </a:xfrm>
          <a:prstGeom prst="rect">
            <a:avLst/>
          </a:prstGeom>
          <a:noFill/>
          <a:ln/>
        </p:spPr>
        <p:txBody>
          <a:bodyPr wrap="square" rtlCol="0" anchor="ctr"/>
          <a:lstStyle/>
          <a:p>
            <a:pPr indent="0" marL="0">
              <a:buNone/>
            </a:pPr>
            <a:r>
              <a:rPr lang="en-US" sz="750" b="1" dirty="0">
                <a:solidFill>
                  <a:srgbClr val="FBBF24"/>
                </a:solidFill>
                <a:latin typeface="Segoe UI" pitchFamily="34" charset="0"/>
                <a:ea typeface="Segoe UI" pitchFamily="34" charset="-122"/>
                <a:cs typeface="Segoe UI" pitchFamily="34" charset="-120"/>
              </a:rPr>
              <a:t>FLAGSHIP MASTER PRODUCTION SUITE  |  RECOMMENDED ALL-IN-ONE SOLUTION</a:t>
            </a:r>
            <a:endParaRPr lang="en-US" sz="750" dirty="0"/>
          </a:p>
        </p:txBody>
      </p:sp>
      <p:sp>
        <p:nvSpPr>
          <p:cNvPr id="10" name="Text 8"/>
          <p:cNvSpPr/>
          <p:nvPr/>
        </p:nvSpPr>
        <p:spPr>
          <a:xfrm>
            <a:off x="777240" y="1591056"/>
            <a:ext cx="5029200" cy="347472"/>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Streamline Master: Full Movie + 10 Viral Highlights</a:t>
            </a:r>
            <a:endParaRPr lang="en-US" sz="1400" dirty="0"/>
          </a:p>
        </p:txBody>
      </p:sp>
      <p:sp>
        <p:nvSpPr>
          <p:cNvPr id="11" name="Text 9"/>
          <p:cNvSpPr/>
          <p:nvPr/>
        </p:nvSpPr>
        <p:spPr>
          <a:xfrm>
            <a:off x="777240" y="1965960"/>
            <a:ext cx="5029200" cy="594360"/>
          </a:xfrm>
          <a:prstGeom prst="rect">
            <a:avLst/>
          </a:prstGeom>
          <a:noFill/>
          <a:ln/>
        </p:spPr>
        <p:txBody>
          <a:bodyPr wrap="square" rtlCol="0" anchor="t"/>
          <a:lstStyle/>
          <a:p>
            <a:pPr indent="0" marL="0">
              <a:lnSpc>
                <a:spcPct val="125000"/>
              </a:lnSpc>
              <a:buNone/>
            </a:pPr>
            <a:r>
              <a:rPr lang="en-US" sz="820" dirty="0">
                <a:solidFill>
                  <a:srgbClr val="CBD5E1"/>
                </a:solidFill>
                <a:latin typeface="Segoe UI" pitchFamily="34" charset="0"/>
                <a:ea typeface="Segoe UI" pitchFamily="34" charset="-122"/>
                <a:cs typeface="Segoe UI" pitchFamily="34" charset="-120"/>
              </a:rPr>
              <a:t>Combines the full 33-beat animated cinema feature (16:9 Cinema 4K UHD) with 10 high-velocity viral short-drama highlight clips (9:16 vertical). Complete turn-key package engineered to capture both prestige family co-viewing and algorithmic mobile dominance.</a:t>
            </a:r>
            <a:endParaRPr lang="en-US" sz="820" dirty="0"/>
          </a:p>
        </p:txBody>
      </p:sp>
      <p:sp>
        <p:nvSpPr>
          <p:cNvPr id="12" name="Text 10"/>
          <p:cNvSpPr/>
          <p:nvPr/>
        </p:nvSpPr>
        <p:spPr>
          <a:xfrm>
            <a:off x="777240" y="2578608"/>
            <a:ext cx="5029200" cy="530352"/>
          </a:xfrm>
          <a:prstGeom prst="rect">
            <a:avLst/>
          </a:prstGeom>
          <a:noFill/>
          <a:ln/>
        </p:spPr>
        <p:txBody>
          <a:bodyPr wrap="square" rtlCol="0" anchor="ctr"/>
          <a:lstStyle/>
          <a:p>
            <a:pPr indent="0" marL="0">
              <a:lnSpc>
                <a:spcPct val="125000"/>
              </a:lnSpc>
              <a:buNone/>
            </a:pPr>
            <a:r>
              <a:rPr lang="en-US" sz="800" b="1" dirty="0">
                <a:solidFill>
                  <a:srgbClr val="6EE7B7"/>
                </a:solidFill>
                <a:latin typeface="Segoe UI" pitchFamily="34" charset="0"/>
                <a:ea typeface="Segoe UI" pitchFamily="34" charset="-122"/>
                <a:cs typeface="Segoe UI" pitchFamily="34" charset="-120"/>
              </a:rPr>
              <a:t>✓ 6-Actor Ensemble Voice Cast: INCLUDED ($0)</a:t>
            </a:r>
            <a:endParaRPr lang="en-US" sz="800" dirty="0"/>
          </a:p>
          <a:p>
            <a:pPr indent="0" marL="0">
              <a:lnSpc>
                <a:spcPct val="125000"/>
              </a:lnSpc>
              <a:buNone/>
            </a:pPr>
            <a:r>
              <a:rPr lang="en-US" sz="800" b="1" dirty="0">
                <a:solidFill>
                  <a:srgbClr val="6EE7B7"/>
                </a:solidFill>
                <a:latin typeface="Segoe UI" pitchFamily="34" charset="0"/>
                <a:ea typeface="Segoe UI" pitchFamily="34" charset="-122"/>
                <a:cs typeface="Segoe UI" pitchFamily="34" charset="-120"/>
              </a:rPr>
              <a:t>✓ Bespoke Sound Effects, Foley &amp; Orchestral Mix: INCLUDED ($0)</a:t>
            </a:r>
            <a:endParaRPr lang="en-US" sz="800" dirty="0"/>
          </a:p>
          <a:p>
            <a:pPr indent="0" marL="0">
              <a:lnSpc>
                <a:spcPct val="125000"/>
              </a:lnSpc>
              <a:buNone/>
            </a:pPr>
            <a:r>
              <a:rPr lang="en-US" sz="800" b="1" dirty="0">
                <a:solidFill>
                  <a:srgbClr val="6EE7B7"/>
                </a:solidFill>
                <a:latin typeface="Segoe UI" pitchFamily="34" charset="0"/>
                <a:ea typeface="Segoe UI" pitchFamily="34" charset="-122"/>
                <a:cs typeface="Segoe UI" pitchFamily="34" charset="-120"/>
              </a:rPr>
              <a:t>✓ Full 16:9 Cinema 4K UHD Master + 10 Vertical 9:16 Shorts</a:t>
            </a:r>
            <a:endParaRPr lang="en-US" sz="800" dirty="0"/>
          </a:p>
        </p:txBody>
      </p:sp>
      <p:sp>
        <p:nvSpPr>
          <p:cNvPr id="13" name="Shape 11"/>
          <p:cNvSpPr/>
          <p:nvPr/>
        </p:nvSpPr>
        <p:spPr>
          <a:xfrm>
            <a:off x="6035040" y="1417320"/>
            <a:ext cx="2377440" cy="1600200"/>
          </a:xfrm>
          <a:prstGeom prst="roundRect">
            <a:avLst/>
          </a:prstGeom>
          <a:solidFill>
            <a:srgbClr val="070B12"/>
          </a:solidFill>
          <a:ln w="15240">
            <a:solidFill>
              <a:srgbClr val="F59E0B"/>
            </a:solidFill>
            <a:prstDash val="solid"/>
          </a:ln>
        </p:spPr>
      </p:sp>
      <p:sp>
        <p:nvSpPr>
          <p:cNvPr id="14" name="Text 12"/>
          <p:cNvSpPr/>
          <p:nvPr/>
        </p:nvSpPr>
        <p:spPr>
          <a:xfrm>
            <a:off x="6035040" y="1554480"/>
            <a:ext cx="2377440" cy="182880"/>
          </a:xfrm>
          <a:prstGeom prst="rect">
            <a:avLst/>
          </a:prstGeom>
          <a:noFill/>
          <a:ln/>
        </p:spPr>
        <p:txBody>
          <a:bodyPr wrap="square" rtlCol="0" anchor="ctr"/>
          <a:lstStyle/>
          <a:p>
            <a:pPr algn="ctr" indent="0" marL="0">
              <a:buNone/>
            </a:pPr>
            <a:r>
              <a:rPr lang="en-US" sz="750" b="1" dirty="0">
                <a:solidFill>
                  <a:srgbClr val="FBBF24"/>
                </a:solidFill>
                <a:latin typeface="Segoe UI" pitchFamily="34" charset="0"/>
                <a:ea typeface="Segoe UI" pitchFamily="34" charset="-122"/>
                <a:cs typeface="Segoe UI" pitchFamily="34" charset="-120"/>
              </a:rPr>
              <a:t>TOTAL SOW INVESTMENT</a:t>
            </a:r>
            <a:endParaRPr lang="en-US" sz="750" dirty="0"/>
          </a:p>
        </p:txBody>
      </p:sp>
      <p:sp>
        <p:nvSpPr>
          <p:cNvPr id="15" name="Text 13"/>
          <p:cNvSpPr/>
          <p:nvPr/>
        </p:nvSpPr>
        <p:spPr>
          <a:xfrm>
            <a:off x="6035040" y="1737360"/>
            <a:ext cx="2377440" cy="548640"/>
          </a:xfrm>
          <a:prstGeom prst="rect">
            <a:avLst/>
          </a:prstGeom>
          <a:noFill/>
          <a:ln/>
        </p:spPr>
        <p:txBody>
          <a:bodyPr wrap="square" rtlCol="0" anchor="ctr"/>
          <a:lstStyle/>
          <a:p>
            <a:pPr algn="ctr" indent="0" marL="0">
              <a:buNone/>
            </a:pPr>
            <a:r>
              <a:rPr lang="en-US" sz="2600" b="1" dirty="0">
                <a:solidFill>
                  <a:srgbClr val="FBBF24"/>
                </a:solidFill>
                <a:latin typeface="Segoe UI" pitchFamily="34" charset="0"/>
                <a:ea typeface="Segoe UI" pitchFamily="34" charset="-122"/>
                <a:cs typeface="Segoe UI" pitchFamily="34" charset="-120"/>
              </a:rPr>
              <a:t>$25,950</a:t>
            </a:r>
            <a:endParaRPr lang="en-US" sz="2600" dirty="0"/>
          </a:p>
        </p:txBody>
      </p:sp>
      <p:sp>
        <p:nvSpPr>
          <p:cNvPr id="16" name="Text 14"/>
          <p:cNvSpPr/>
          <p:nvPr/>
        </p:nvSpPr>
        <p:spPr>
          <a:xfrm>
            <a:off x="6035040" y="2304288"/>
            <a:ext cx="2377440" cy="411480"/>
          </a:xfrm>
          <a:prstGeom prst="rect">
            <a:avLst/>
          </a:prstGeom>
          <a:noFill/>
          <a:ln/>
        </p:spPr>
        <p:txBody>
          <a:bodyPr wrap="square" rtlCol="0" anchor="ctr"/>
          <a:lstStyle/>
          <a:p>
            <a:pPr algn="ctr" indent="0" marL="0">
              <a:lnSpc>
                <a:spcPct val="125000"/>
              </a:lnSpc>
              <a:buNone/>
            </a:pPr>
            <a:r>
              <a:rPr lang="en-US" sz="750" dirty="0">
                <a:solidFill>
                  <a:srgbClr val="38BDF8"/>
                </a:solidFill>
                <a:latin typeface="Segoe UI" pitchFamily="34" charset="0"/>
                <a:ea typeface="Segoe UI" pitchFamily="34" charset="-122"/>
                <a:cs typeface="Segoe UI" pitchFamily="34" charset="-120"/>
              </a:rPr>
              <a:t>50% Inception Kickoff: $12,975</a:t>
            </a:r>
            <a:endParaRPr lang="en-US" sz="750" dirty="0"/>
          </a:p>
          <a:p>
            <a:pPr algn="ctr" indent="0" marL="0">
              <a:lnSpc>
                <a:spcPct val="125000"/>
              </a:lnSpc>
              <a:buNone/>
            </a:pPr>
            <a:r>
              <a:rPr lang="en-US" sz="750" dirty="0">
                <a:solidFill>
                  <a:srgbClr val="38BDF8"/>
                </a:solidFill>
                <a:latin typeface="Segoe UI" pitchFamily="34" charset="0"/>
                <a:ea typeface="Segoe UI" pitchFamily="34" charset="-122"/>
                <a:cs typeface="Segoe UI" pitchFamily="34" charset="-120"/>
              </a:rPr>
              <a:t>Two 25% Review Gates: $6,487.50 each</a:t>
            </a:r>
            <a:endParaRPr lang="en-US" sz="750" dirty="0"/>
          </a:p>
        </p:txBody>
      </p:sp>
      <p:sp>
        <p:nvSpPr>
          <p:cNvPr id="17" name="Shape 15"/>
          <p:cNvSpPr/>
          <p:nvPr/>
        </p:nvSpPr>
        <p:spPr>
          <a:xfrm>
            <a:off x="548640" y="3364992"/>
            <a:ext cx="2606040" cy="1371600"/>
          </a:xfrm>
          <a:prstGeom prst="roundRect">
            <a:avLst/>
          </a:prstGeom>
          <a:solidFill>
            <a:srgbClr val="0D1524"/>
          </a:solidFill>
          <a:ln w="12700">
            <a:solidFill>
              <a:srgbClr val="24334C"/>
            </a:solidFill>
            <a:prstDash val="solid"/>
          </a:ln>
        </p:spPr>
      </p:sp>
      <p:sp>
        <p:nvSpPr>
          <p:cNvPr id="18" name="Text 16"/>
          <p:cNvSpPr/>
          <p:nvPr/>
        </p:nvSpPr>
        <p:spPr>
          <a:xfrm>
            <a:off x="685800" y="3493008"/>
            <a:ext cx="2331720" cy="228600"/>
          </a:xfrm>
          <a:prstGeom prst="rect">
            <a:avLst/>
          </a:prstGeom>
          <a:noFill/>
          <a:ln/>
        </p:spPr>
        <p:txBody>
          <a:bodyPr wrap="square" rtlCol="0" anchor="ctr"/>
          <a:lstStyle/>
          <a:p>
            <a:pPr indent="0" marL="0">
              <a:buNone/>
            </a:pPr>
            <a:r>
              <a:rPr lang="en-US" sz="1000" b="1" dirty="0">
                <a:solidFill>
                  <a:srgbClr val="FBBF24"/>
                </a:solidFill>
                <a:latin typeface="Segoe UI" pitchFamily="34" charset="0"/>
                <a:ea typeface="Segoe UI" pitchFamily="34" charset="-122"/>
                <a:cs typeface="Segoe UI" pitchFamily="34" charset="-120"/>
              </a:rPr>
              <a:t>50%  |  $12,975</a:t>
            </a:r>
            <a:endParaRPr lang="en-US" sz="1000" dirty="0"/>
          </a:p>
        </p:txBody>
      </p:sp>
      <p:sp>
        <p:nvSpPr>
          <p:cNvPr id="19" name="Text 17"/>
          <p:cNvSpPr/>
          <p:nvPr/>
        </p:nvSpPr>
        <p:spPr>
          <a:xfrm>
            <a:off x="685800" y="3749040"/>
            <a:ext cx="2331720" cy="274320"/>
          </a:xfrm>
          <a:prstGeom prst="rect">
            <a:avLst/>
          </a:prstGeom>
          <a:noFill/>
          <a:ln/>
        </p:spPr>
        <p:txBody>
          <a:bodyPr wrap="square" rtlCol="0" anchor="ctr"/>
          <a:lstStyle/>
          <a:p>
            <a:pPr indent="0" marL="0">
              <a:buNone/>
            </a:pPr>
            <a:r>
              <a:rPr lang="en-US" sz="850" b="1" dirty="0">
                <a:solidFill>
                  <a:srgbClr val="FFFFFF"/>
                </a:solidFill>
                <a:latin typeface="Segoe UI" pitchFamily="34" charset="0"/>
                <a:ea typeface="Segoe UI" pitchFamily="34" charset="-122"/>
                <a:cs typeface="Segoe UI" pitchFamily="34" charset="-120"/>
              </a:rPr>
              <a:t>Gate 1: Inception &amp; Pre-Production</a:t>
            </a:r>
            <a:endParaRPr lang="en-US" sz="850" dirty="0"/>
          </a:p>
        </p:txBody>
      </p:sp>
      <p:sp>
        <p:nvSpPr>
          <p:cNvPr id="20" name="Text 18"/>
          <p:cNvSpPr/>
          <p:nvPr/>
        </p:nvSpPr>
        <p:spPr>
          <a:xfrm>
            <a:off x="685800" y="4041648"/>
            <a:ext cx="2331720" cy="594360"/>
          </a:xfrm>
          <a:prstGeom prst="rect">
            <a:avLst/>
          </a:prstGeom>
          <a:noFill/>
          <a:ln/>
        </p:spPr>
        <p:txBody>
          <a:bodyPr wrap="square" rtlCol="0" anchor="t"/>
          <a:lstStyle/>
          <a:p>
            <a:pPr indent="0" marL="0">
              <a:lnSpc>
                <a:spcPct val="125000"/>
              </a:lnSpc>
              <a:buNone/>
            </a:pPr>
            <a:r>
              <a:rPr lang="en-US" sz="750" dirty="0">
                <a:solidFill>
                  <a:srgbClr val="CBD5E1"/>
                </a:solidFill>
                <a:latin typeface="Segoe UI" pitchFamily="34" charset="0"/>
                <a:ea typeface="Segoe UI" pitchFamily="34" charset="-122"/>
                <a:cs typeface="Segoe UI" pitchFamily="34" charset="-120"/>
              </a:rPr>
              <a:t>Script breakdown, character model turnarounds, 33-beat animatic, scratch voice audio sync.</a:t>
            </a:r>
            <a:endParaRPr lang="en-US" sz="750" dirty="0"/>
          </a:p>
        </p:txBody>
      </p:sp>
      <p:sp>
        <p:nvSpPr>
          <p:cNvPr id="21" name="Shape 19"/>
          <p:cNvSpPr/>
          <p:nvPr/>
        </p:nvSpPr>
        <p:spPr>
          <a:xfrm>
            <a:off x="3246120" y="3364992"/>
            <a:ext cx="2606040" cy="1371600"/>
          </a:xfrm>
          <a:prstGeom prst="roundRect">
            <a:avLst/>
          </a:prstGeom>
          <a:solidFill>
            <a:srgbClr val="0D1524"/>
          </a:solidFill>
          <a:ln w="12700">
            <a:solidFill>
              <a:srgbClr val="24334C"/>
            </a:solidFill>
            <a:prstDash val="solid"/>
          </a:ln>
        </p:spPr>
      </p:sp>
      <p:sp>
        <p:nvSpPr>
          <p:cNvPr id="22" name="Text 20"/>
          <p:cNvSpPr/>
          <p:nvPr/>
        </p:nvSpPr>
        <p:spPr>
          <a:xfrm>
            <a:off x="3383280" y="3493008"/>
            <a:ext cx="2331720" cy="228600"/>
          </a:xfrm>
          <a:prstGeom prst="rect">
            <a:avLst/>
          </a:prstGeom>
          <a:noFill/>
          <a:ln/>
        </p:spPr>
        <p:txBody>
          <a:bodyPr wrap="square" rtlCol="0" anchor="ctr"/>
          <a:lstStyle/>
          <a:p>
            <a:pPr indent="0" marL="0">
              <a:buNone/>
            </a:pPr>
            <a:r>
              <a:rPr lang="en-US" sz="1000" b="1" dirty="0">
                <a:solidFill>
                  <a:srgbClr val="FBBF24"/>
                </a:solidFill>
                <a:latin typeface="Segoe UI" pitchFamily="34" charset="0"/>
                <a:ea typeface="Segoe UI" pitchFamily="34" charset="-122"/>
                <a:cs typeface="Segoe UI" pitchFamily="34" charset="-120"/>
              </a:rPr>
              <a:t>25%  |  $6,487.50</a:t>
            </a:r>
            <a:endParaRPr lang="en-US" sz="1000" dirty="0"/>
          </a:p>
        </p:txBody>
      </p:sp>
      <p:sp>
        <p:nvSpPr>
          <p:cNvPr id="23" name="Text 21"/>
          <p:cNvSpPr/>
          <p:nvPr/>
        </p:nvSpPr>
        <p:spPr>
          <a:xfrm>
            <a:off x="3383280" y="3749040"/>
            <a:ext cx="2331720" cy="274320"/>
          </a:xfrm>
          <a:prstGeom prst="rect">
            <a:avLst/>
          </a:prstGeom>
          <a:noFill/>
          <a:ln/>
        </p:spPr>
        <p:txBody>
          <a:bodyPr wrap="square" rtlCol="0" anchor="ctr"/>
          <a:lstStyle/>
          <a:p>
            <a:pPr indent="0" marL="0">
              <a:buNone/>
            </a:pPr>
            <a:r>
              <a:rPr lang="en-US" sz="850" b="1" dirty="0">
                <a:solidFill>
                  <a:srgbClr val="FFFFFF"/>
                </a:solidFill>
                <a:latin typeface="Segoe UI" pitchFamily="34" charset="0"/>
                <a:ea typeface="Segoe UI" pitchFamily="34" charset="-122"/>
                <a:cs typeface="Segoe UI" pitchFamily="34" charset="-120"/>
              </a:rPr>
              <a:t>Gate 2: Animation &amp; Rough Cut Review</a:t>
            </a:r>
            <a:endParaRPr lang="en-US" sz="850" dirty="0"/>
          </a:p>
        </p:txBody>
      </p:sp>
      <p:sp>
        <p:nvSpPr>
          <p:cNvPr id="24" name="Text 22"/>
          <p:cNvSpPr/>
          <p:nvPr/>
        </p:nvSpPr>
        <p:spPr>
          <a:xfrm>
            <a:off x="3383280" y="4041648"/>
            <a:ext cx="2331720" cy="594360"/>
          </a:xfrm>
          <a:prstGeom prst="rect">
            <a:avLst/>
          </a:prstGeom>
          <a:noFill/>
          <a:ln/>
        </p:spPr>
        <p:txBody>
          <a:bodyPr wrap="square" rtlCol="0" anchor="t"/>
          <a:lstStyle/>
          <a:p>
            <a:pPr indent="0" marL="0">
              <a:lnSpc>
                <a:spcPct val="125000"/>
              </a:lnSpc>
              <a:buNone/>
            </a:pPr>
            <a:r>
              <a:rPr lang="en-US" sz="750" dirty="0">
                <a:solidFill>
                  <a:srgbClr val="CBD5E1"/>
                </a:solidFill>
                <a:latin typeface="Segoe UI" pitchFamily="34" charset="0"/>
                <a:ea typeface="Segoe UI" pitchFamily="34" charset="-122"/>
                <a:cs typeface="Segoe UI" pitchFamily="34" charset="-120"/>
              </a:rPr>
              <a:t>Mid-point review, character rigging, lip-sync animation, background painting passes.</a:t>
            </a:r>
            <a:endParaRPr lang="en-US" sz="750" dirty="0"/>
          </a:p>
        </p:txBody>
      </p:sp>
      <p:sp>
        <p:nvSpPr>
          <p:cNvPr id="25" name="Shape 23"/>
          <p:cNvSpPr/>
          <p:nvPr/>
        </p:nvSpPr>
        <p:spPr>
          <a:xfrm>
            <a:off x="5943600" y="3364992"/>
            <a:ext cx="2606040" cy="1371600"/>
          </a:xfrm>
          <a:prstGeom prst="roundRect">
            <a:avLst/>
          </a:prstGeom>
          <a:solidFill>
            <a:srgbClr val="0D1524"/>
          </a:solidFill>
          <a:ln w="12700">
            <a:solidFill>
              <a:srgbClr val="24334C"/>
            </a:solidFill>
            <a:prstDash val="solid"/>
          </a:ln>
        </p:spPr>
      </p:sp>
      <p:sp>
        <p:nvSpPr>
          <p:cNvPr id="26" name="Text 24"/>
          <p:cNvSpPr/>
          <p:nvPr/>
        </p:nvSpPr>
        <p:spPr>
          <a:xfrm>
            <a:off x="6080760" y="3493008"/>
            <a:ext cx="2331720" cy="228600"/>
          </a:xfrm>
          <a:prstGeom prst="rect">
            <a:avLst/>
          </a:prstGeom>
          <a:noFill/>
          <a:ln/>
        </p:spPr>
        <p:txBody>
          <a:bodyPr wrap="square" rtlCol="0" anchor="ctr"/>
          <a:lstStyle/>
          <a:p>
            <a:pPr indent="0" marL="0">
              <a:buNone/>
            </a:pPr>
            <a:r>
              <a:rPr lang="en-US" sz="1000" b="1" dirty="0">
                <a:solidFill>
                  <a:srgbClr val="FBBF24"/>
                </a:solidFill>
                <a:latin typeface="Segoe UI" pitchFamily="34" charset="0"/>
                <a:ea typeface="Segoe UI" pitchFamily="34" charset="-122"/>
                <a:cs typeface="Segoe UI" pitchFamily="34" charset="-120"/>
              </a:rPr>
              <a:t>25%  |  $6,487.50</a:t>
            </a:r>
            <a:endParaRPr lang="en-US" sz="1000" dirty="0"/>
          </a:p>
        </p:txBody>
      </p:sp>
      <p:sp>
        <p:nvSpPr>
          <p:cNvPr id="27" name="Text 25"/>
          <p:cNvSpPr/>
          <p:nvPr/>
        </p:nvSpPr>
        <p:spPr>
          <a:xfrm>
            <a:off x="6080760" y="3749040"/>
            <a:ext cx="2331720" cy="274320"/>
          </a:xfrm>
          <a:prstGeom prst="rect">
            <a:avLst/>
          </a:prstGeom>
          <a:noFill/>
          <a:ln/>
        </p:spPr>
        <p:txBody>
          <a:bodyPr wrap="square" rtlCol="0" anchor="ctr"/>
          <a:lstStyle/>
          <a:p>
            <a:pPr indent="0" marL="0">
              <a:buNone/>
            </a:pPr>
            <a:r>
              <a:rPr lang="en-US" sz="850" b="1" dirty="0">
                <a:solidFill>
                  <a:srgbClr val="FFFFFF"/>
                </a:solidFill>
                <a:latin typeface="Segoe UI" pitchFamily="34" charset="0"/>
                <a:ea typeface="Segoe UI" pitchFamily="34" charset="-122"/>
                <a:cs typeface="Segoe UI" pitchFamily="34" charset="-120"/>
              </a:rPr>
              <a:t>Gate 3: Final Master &amp; YouTube Delivery</a:t>
            </a:r>
            <a:endParaRPr lang="en-US" sz="850" dirty="0"/>
          </a:p>
        </p:txBody>
      </p:sp>
      <p:sp>
        <p:nvSpPr>
          <p:cNvPr id="28" name="Text 26"/>
          <p:cNvSpPr/>
          <p:nvPr/>
        </p:nvSpPr>
        <p:spPr>
          <a:xfrm>
            <a:off x="6080760" y="4041648"/>
            <a:ext cx="2331720" cy="594360"/>
          </a:xfrm>
          <a:prstGeom prst="rect">
            <a:avLst/>
          </a:prstGeom>
          <a:noFill/>
          <a:ln/>
        </p:spPr>
        <p:txBody>
          <a:bodyPr wrap="square" rtlCol="0" anchor="t"/>
          <a:lstStyle/>
          <a:p>
            <a:pPr indent="0" marL="0">
              <a:lnSpc>
                <a:spcPct val="125000"/>
              </a:lnSpc>
              <a:buNone/>
            </a:pPr>
            <a:r>
              <a:rPr lang="en-US" sz="750" dirty="0">
                <a:solidFill>
                  <a:srgbClr val="CBD5E1"/>
                </a:solidFill>
                <a:latin typeface="Segoe UI" pitchFamily="34" charset="0"/>
                <a:ea typeface="Segoe UI" pitchFamily="34" charset="-122"/>
                <a:cs typeface="Segoe UI" pitchFamily="34" charset="-120"/>
              </a:rPr>
              <a:t>4K color grading, 5.1 sound mix, ProRes 4444 delivery, YouTube channel launch.</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B12"/>
        </a:solidFill>
      </p:bgPr>
    </p:bg>
    <p:spTree>
      <p:nvGrpSpPr>
        <p:cNvPr id="1" name=""/>
        <p:cNvGrpSpPr/>
        <p:nvPr/>
      </p:nvGrpSpPr>
      <p:grpSpPr>
        <a:xfrm>
          <a:off x="0" y="0"/>
          <a:ext cx="0" cy="0"/>
          <a:chOff x="0" y="0"/>
          <a:chExt cx="0" cy="0"/>
        </a:xfrm>
      </p:grpSpPr>
      <p:sp>
        <p:nvSpPr>
          <p:cNvPr id="2" name="Shape 0"/>
          <p:cNvSpPr/>
          <p:nvPr/>
        </p:nvSpPr>
        <p:spPr>
          <a:xfrm>
            <a:off x="548640" y="320040"/>
            <a:ext cx="8046720" cy="13716"/>
          </a:xfrm>
          <a:prstGeom prst="rect">
            <a:avLst/>
          </a:prstGeom>
          <a:solidFill>
            <a:srgbClr val="24334C"/>
          </a:solidFill>
          <a:ln/>
        </p:spPr>
      </p:sp>
      <p:sp>
        <p:nvSpPr>
          <p:cNvPr id="3" name="Text 1"/>
          <p:cNvSpPr/>
          <p:nvPr/>
        </p:nvSpPr>
        <p:spPr>
          <a:xfrm>
            <a:off x="548640" y="384048"/>
            <a:ext cx="6217920" cy="201168"/>
          </a:xfrm>
          <a:prstGeom prst="rect">
            <a:avLst/>
          </a:prstGeom>
          <a:noFill/>
          <a:ln/>
        </p:spPr>
        <p:txBody>
          <a:bodyPr wrap="square" rtlCol="0" anchor="ctr"/>
          <a:lstStyle/>
          <a:p>
            <a:pPr indent="0" marL="0">
              <a:buNone/>
            </a:pPr>
            <a:r>
              <a:rPr lang="en-US" sz="800" b="1" dirty="0">
                <a:solidFill>
                  <a:srgbClr val="38BDF8"/>
                </a:solidFill>
                <a:latin typeface="Segoe UI" pitchFamily="34" charset="0"/>
                <a:ea typeface="Segoe UI" pitchFamily="34" charset="-122"/>
                <a:cs typeface="Segoe UI" pitchFamily="34" charset="-120"/>
              </a:rPr>
              <a:t>POST-LAUNCH GROWTH &amp; AUDIENCE RETENTION</a:t>
            </a:r>
            <a:endParaRPr lang="en-US" sz="800" dirty="0"/>
          </a:p>
        </p:txBody>
      </p:sp>
      <p:sp>
        <p:nvSpPr>
          <p:cNvPr id="4" name="Text 2"/>
          <p:cNvSpPr/>
          <p:nvPr/>
        </p:nvSpPr>
        <p:spPr>
          <a:xfrm>
            <a:off x="548640" y="621792"/>
            <a:ext cx="6583680" cy="411480"/>
          </a:xfrm>
          <a:prstGeom prst="rect">
            <a:avLst/>
          </a:prstGeom>
          <a:noFill/>
          <a:ln/>
        </p:spPr>
        <p:txBody>
          <a:bodyPr wrap="square"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Monthly Social Media Management &amp; Syndication</a:t>
            </a:r>
            <a:endParaRPr lang="en-US" sz="1700" dirty="0"/>
          </a:p>
        </p:txBody>
      </p:sp>
      <p:sp>
        <p:nvSpPr>
          <p:cNvPr id="5" name="Shape 3"/>
          <p:cNvSpPr/>
          <p:nvPr/>
        </p:nvSpPr>
        <p:spPr>
          <a:xfrm>
            <a:off x="7132320" y="411480"/>
            <a:ext cx="1463040" cy="292608"/>
          </a:xfrm>
          <a:prstGeom prst="roundRect">
            <a:avLst/>
          </a:prstGeom>
          <a:solidFill>
            <a:srgbClr val="0D1524"/>
          </a:solidFill>
          <a:ln w="12700">
            <a:solidFill>
              <a:srgbClr val="24334C"/>
            </a:solidFill>
            <a:prstDash val="solid"/>
          </a:ln>
        </p:spPr>
      </p:sp>
      <p:sp>
        <p:nvSpPr>
          <p:cNvPr id="6" name="Text 4"/>
          <p:cNvSpPr/>
          <p:nvPr/>
        </p:nvSpPr>
        <p:spPr>
          <a:xfrm>
            <a:off x="7132320" y="411480"/>
            <a:ext cx="1463040" cy="292608"/>
          </a:xfrm>
          <a:prstGeom prst="rect">
            <a:avLst/>
          </a:prstGeom>
          <a:noFill/>
          <a:ln/>
        </p:spPr>
        <p:txBody>
          <a:bodyPr wrap="square" rtlCol="0" anchor="ctr"/>
          <a:lstStyle/>
          <a:p>
            <a:pPr algn="ctr" indent="0" marL="0">
              <a:buNone/>
            </a:pPr>
            <a:r>
              <a:rPr lang="en-US" sz="750" b="1" dirty="0">
                <a:solidFill>
                  <a:srgbClr val="FBBF24"/>
                </a:solidFill>
                <a:latin typeface="Segoe UI" pitchFamily="34" charset="0"/>
                <a:ea typeface="Segoe UI" pitchFamily="34" charset="-122"/>
                <a:cs typeface="Segoe UI" pitchFamily="34" charset="-120"/>
              </a:rPr>
              <a:t>NEO GEN STUDIOS</a:t>
            </a:r>
            <a:endParaRPr lang="en-US" sz="750" dirty="0"/>
          </a:p>
        </p:txBody>
      </p:sp>
      <p:sp>
        <p:nvSpPr>
          <p:cNvPr id="7" name="Text 5"/>
          <p:cNvSpPr/>
          <p:nvPr/>
        </p:nvSpPr>
        <p:spPr>
          <a:xfrm>
            <a:off x="548640" y="4864608"/>
            <a:ext cx="8046720" cy="182880"/>
          </a:xfrm>
          <a:prstGeom prst="rect">
            <a:avLst/>
          </a:prstGeom>
          <a:noFill/>
          <a:ln/>
        </p:spPr>
        <p:txBody>
          <a:bodyPr wrap="square" rtlCol="0" anchor="ctr"/>
          <a:lstStyle/>
          <a:p>
            <a:pPr indent="0" marL="0">
              <a:buNone/>
            </a:pPr>
            <a:r>
              <a:rPr lang="en-US" sz="750" dirty="0">
                <a:solidFill>
                  <a:srgbClr val="94A3B8"/>
                </a:solidFill>
                <a:latin typeface="Segoe UI" pitchFamily="34" charset="0"/>
                <a:ea typeface="Segoe UI" pitchFamily="34" charset="-122"/>
                <a:cs typeface="Segoe UI" pitchFamily="34" charset="-120"/>
              </a:rPr>
              <a:t>NEO GEN TECHNOLOGIES  |  ROCKY: THE ROCKEFELLER CHRISTMAS TREE  |  EXECUTIVE SOW  |  SLIDE 9</a:t>
            </a:r>
            <a:endParaRPr lang="en-US" sz="750" dirty="0"/>
          </a:p>
        </p:txBody>
      </p:sp>
      <p:sp>
        <p:nvSpPr>
          <p:cNvPr id="8" name="Shape 6"/>
          <p:cNvSpPr/>
          <p:nvPr/>
        </p:nvSpPr>
        <p:spPr>
          <a:xfrm>
            <a:off x="548640" y="1234440"/>
            <a:ext cx="2606040" cy="3474720"/>
          </a:xfrm>
          <a:prstGeom prst="roundRect">
            <a:avLst/>
          </a:prstGeom>
          <a:solidFill>
            <a:srgbClr val="0D1524"/>
          </a:solidFill>
          <a:ln w="19050">
            <a:solidFill>
              <a:srgbClr val="0088FF"/>
            </a:solidFill>
            <a:prstDash val="solid"/>
          </a:ln>
        </p:spPr>
      </p:sp>
      <p:sp>
        <p:nvSpPr>
          <p:cNvPr id="9" name="Shape 7"/>
          <p:cNvSpPr/>
          <p:nvPr/>
        </p:nvSpPr>
        <p:spPr>
          <a:xfrm>
            <a:off x="685800" y="1380744"/>
            <a:ext cx="2331720" cy="256032"/>
          </a:xfrm>
          <a:prstGeom prst="roundRect">
            <a:avLst/>
          </a:prstGeom>
          <a:solidFill>
            <a:srgbClr val="08172E"/>
          </a:solidFill>
          <a:ln w="10160">
            <a:solidFill>
              <a:srgbClr val="0088FF"/>
            </a:solidFill>
            <a:prstDash val="solid"/>
          </a:ln>
        </p:spPr>
      </p:sp>
      <p:sp>
        <p:nvSpPr>
          <p:cNvPr id="10" name="Text 8"/>
          <p:cNvSpPr/>
          <p:nvPr/>
        </p:nvSpPr>
        <p:spPr>
          <a:xfrm>
            <a:off x="685800" y="1380744"/>
            <a:ext cx="2331720" cy="256032"/>
          </a:xfrm>
          <a:prstGeom prst="rect">
            <a:avLst/>
          </a:prstGeom>
          <a:noFill/>
          <a:ln/>
        </p:spPr>
        <p:txBody>
          <a:bodyPr wrap="square" rtlCol="0" anchor="ctr"/>
          <a:lstStyle/>
          <a:p>
            <a:pPr algn="ctr" indent="0" marL="0">
              <a:buNone/>
            </a:pPr>
            <a:r>
              <a:rPr lang="en-US" sz="800" b="1" dirty="0">
                <a:solidFill>
                  <a:srgbClr val="0088FF"/>
                </a:solidFill>
                <a:latin typeface="Segoe UI" pitchFamily="34" charset="0"/>
                <a:ea typeface="Segoe UI" pitchFamily="34" charset="-122"/>
                <a:cs typeface="Segoe UI" pitchFamily="34" charset="-120"/>
              </a:rPr>
              <a:t>STARTER LAUNCH</a:t>
            </a:r>
            <a:endParaRPr lang="en-US" sz="800" dirty="0"/>
          </a:p>
        </p:txBody>
      </p:sp>
      <p:sp>
        <p:nvSpPr>
          <p:cNvPr id="11" name="Text 9"/>
          <p:cNvSpPr/>
          <p:nvPr/>
        </p:nvSpPr>
        <p:spPr>
          <a:xfrm>
            <a:off x="713232" y="1709928"/>
            <a:ext cx="1280160" cy="411480"/>
          </a:xfrm>
          <a:prstGeom prst="rect">
            <a:avLst/>
          </a:prstGeom>
          <a:noFill/>
          <a:ln/>
        </p:spPr>
        <p:txBody>
          <a:bodyPr wrap="square"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$1,250</a:t>
            </a:r>
            <a:endParaRPr lang="en-US" sz="1800" dirty="0"/>
          </a:p>
        </p:txBody>
      </p:sp>
      <p:sp>
        <p:nvSpPr>
          <p:cNvPr id="12" name="Text 10"/>
          <p:cNvSpPr/>
          <p:nvPr/>
        </p:nvSpPr>
        <p:spPr>
          <a:xfrm>
            <a:off x="1874520" y="1783080"/>
            <a:ext cx="1097280"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 month</a:t>
            </a:r>
            <a:endParaRPr lang="en-US" sz="850" dirty="0"/>
          </a:p>
        </p:txBody>
      </p:sp>
      <p:sp>
        <p:nvSpPr>
          <p:cNvPr id="13" name="Text 11"/>
          <p:cNvSpPr/>
          <p:nvPr/>
        </p:nvSpPr>
        <p:spPr>
          <a:xfrm>
            <a:off x="713232" y="2194560"/>
            <a:ext cx="2276856" cy="502920"/>
          </a:xfrm>
          <a:prstGeom prst="rect">
            <a:avLst/>
          </a:prstGeom>
          <a:noFill/>
          <a:ln/>
        </p:spPr>
        <p:txBody>
          <a:bodyPr wrap="square" rtlCol="0" anchor="t"/>
          <a:lstStyle/>
          <a:p>
            <a:pPr indent="0" marL="0">
              <a:lnSpc>
                <a:spcPct val="120000"/>
              </a:lnSpc>
              <a:buNone/>
            </a:pPr>
            <a:r>
              <a:rPr lang="en-US" sz="780" dirty="0">
                <a:solidFill>
                  <a:srgbClr val="CBD5E1"/>
                </a:solidFill>
                <a:latin typeface="Segoe UI" pitchFamily="34" charset="0"/>
                <a:ea typeface="Segoe UI" pitchFamily="34" charset="-122"/>
                <a:cs typeface="Segoe UI" pitchFamily="34" charset="-120"/>
              </a:rPr>
              <a:t>Essential post-launch social distribution for consistent holiday visibility.</a:t>
            </a:r>
            <a:endParaRPr lang="en-US" sz="780" dirty="0"/>
          </a:p>
        </p:txBody>
      </p:sp>
      <p:sp>
        <p:nvSpPr>
          <p:cNvPr id="14" name="Text 12"/>
          <p:cNvSpPr/>
          <p:nvPr/>
        </p:nvSpPr>
        <p:spPr>
          <a:xfrm>
            <a:off x="713232" y="2770632"/>
            <a:ext cx="2276856" cy="1463040"/>
          </a:xfrm>
          <a:prstGeom prst="rect">
            <a:avLst/>
          </a:prstGeom>
          <a:noFill/>
          <a:ln/>
        </p:spPr>
        <p:txBody>
          <a:bodyPr wrap="square" rtlCol="0" anchor="t"/>
          <a:lstStyle/>
          <a:p>
            <a:pPr indent="0" marL="0">
              <a:lnSpc>
                <a:spcPct val="120000"/>
              </a:lnSpc>
              <a:buNone/>
            </a:pPr>
            <a:r>
              <a:rPr lang="en-US" sz="750" dirty="0">
                <a:solidFill>
                  <a:srgbClr val="FFFFFF"/>
                </a:solidFill>
                <a:latin typeface="Segoe UI" pitchFamily="34" charset="0"/>
                <a:ea typeface="Segoe UI" pitchFamily="34" charset="-122"/>
                <a:cs typeface="Segoe UI" pitchFamily="34" charset="-120"/>
              </a:rPr>
              <a:t>✓  12 Vertical Shorts / Reels / TikToks per month</a:t>
            </a:r>
            <a:endParaRPr lang="en-US" sz="750" dirty="0"/>
          </a:p>
          <a:p>
            <a:pPr indent="0" marL="0">
              <a:lnSpc>
                <a:spcPct val="120000"/>
              </a:lnSpc>
              <a:buNone/>
            </a:pPr>
            <a:endParaRPr lang="en-US" sz="750" dirty="0"/>
          </a:p>
          <a:p>
            <a:pPr indent="0" marL="0">
              <a:lnSpc>
                <a:spcPct val="120000"/>
              </a:lnSpc>
              <a:buNone/>
            </a:pPr>
            <a:r>
              <a:rPr lang="en-US" sz="750" dirty="0">
                <a:solidFill>
                  <a:srgbClr val="FFFFFF"/>
                </a:solidFill>
                <a:latin typeface="Segoe UI" pitchFamily="34" charset="0"/>
                <a:ea typeface="Segoe UI" pitchFamily="34" charset="-122"/>
                <a:cs typeface="Segoe UI" pitchFamily="34" charset="-120"/>
              </a:rPr>
              <a:t>✓  Custom holiday cover thumbnail design</a:t>
            </a:r>
            <a:endParaRPr lang="en-US" sz="750" dirty="0"/>
          </a:p>
          <a:p>
            <a:pPr indent="0" marL="0">
              <a:lnSpc>
                <a:spcPct val="120000"/>
              </a:lnSpc>
              <a:buNone/>
            </a:pPr>
            <a:endParaRPr lang="en-US" sz="750" dirty="0"/>
          </a:p>
          <a:p>
            <a:pPr indent="0" marL="0">
              <a:lnSpc>
                <a:spcPct val="120000"/>
              </a:lnSpc>
              <a:buNone/>
            </a:pPr>
            <a:r>
              <a:rPr lang="en-US" sz="750" dirty="0">
                <a:solidFill>
                  <a:srgbClr val="FFFFFF"/>
                </a:solidFill>
                <a:latin typeface="Segoe UI" pitchFamily="34" charset="0"/>
                <a:ea typeface="Segoe UI" pitchFamily="34" charset="-122"/>
                <a:cs typeface="Segoe UI" pitchFamily="34" charset="-120"/>
              </a:rPr>
              <a:t>✓  Audience reply management &amp; comment pinning</a:t>
            </a:r>
            <a:endParaRPr lang="en-US" sz="750" dirty="0"/>
          </a:p>
          <a:p>
            <a:pPr indent="0" marL="0">
              <a:lnSpc>
                <a:spcPct val="120000"/>
              </a:lnSpc>
              <a:buNone/>
            </a:pPr>
            <a:endParaRPr lang="en-US" sz="750" dirty="0"/>
          </a:p>
          <a:p>
            <a:pPr indent="0" marL="0">
              <a:lnSpc>
                <a:spcPct val="120000"/>
              </a:lnSpc>
              <a:buNone/>
            </a:pPr>
            <a:r>
              <a:rPr lang="en-US" sz="750" dirty="0">
                <a:solidFill>
                  <a:srgbClr val="FFFFFF"/>
                </a:solidFill>
                <a:latin typeface="Segoe UI" pitchFamily="34" charset="0"/>
                <a:ea typeface="Segoe UI" pitchFamily="34" charset="-122"/>
                <a:cs typeface="Segoe UI" pitchFamily="34" charset="-120"/>
              </a:rPr>
              <a:t>✓  Weekly performance and retention report</a:t>
            </a:r>
            <a:endParaRPr lang="en-US" sz="750" dirty="0"/>
          </a:p>
        </p:txBody>
      </p:sp>
      <p:sp>
        <p:nvSpPr>
          <p:cNvPr id="15" name="Shape 13"/>
          <p:cNvSpPr/>
          <p:nvPr/>
        </p:nvSpPr>
        <p:spPr>
          <a:xfrm>
            <a:off x="685800" y="4270248"/>
            <a:ext cx="2331720" cy="320040"/>
          </a:xfrm>
          <a:prstGeom prst="roundRect">
            <a:avLst/>
          </a:prstGeom>
          <a:solidFill>
            <a:srgbClr val="14233D"/>
          </a:solidFill>
          <a:ln/>
        </p:spPr>
      </p:sp>
      <p:sp>
        <p:nvSpPr>
          <p:cNvPr id="16" name="Text 14"/>
          <p:cNvSpPr/>
          <p:nvPr/>
        </p:nvSpPr>
        <p:spPr>
          <a:xfrm>
            <a:off x="685800" y="4270248"/>
            <a:ext cx="2331720" cy="320040"/>
          </a:xfrm>
          <a:prstGeom prst="rect">
            <a:avLst/>
          </a:prstGeom>
          <a:noFill/>
          <a:ln/>
        </p:spPr>
        <p:txBody>
          <a:bodyPr wrap="square" rtlCol="0" anchor="ctr"/>
          <a:lstStyle/>
          <a:p>
            <a:pPr algn="ctr" indent="0" marL="0">
              <a:buNone/>
            </a:pPr>
            <a:r>
              <a:rPr lang="en-US" sz="720" b="1" dirty="0">
                <a:solidFill>
                  <a:srgbClr val="FBBF24"/>
                </a:solidFill>
                <a:latin typeface="Segoe UI" pitchFamily="34" charset="0"/>
                <a:ea typeface="Segoe UI" pitchFamily="34" charset="-122"/>
                <a:cs typeface="Segoe UI" pitchFamily="34" charset="-120"/>
              </a:rPr>
              <a:t>PLATFORMS:  TikTok  •  Instagram  •  Facebook</a:t>
            </a:r>
            <a:endParaRPr lang="en-US" sz="720" dirty="0"/>
          </a:p>
        </p:txBody>
      </p:sp>
      <p:sp>
        <p:nvSpPr>
          <p:cNvPr id="17" name="Shape 15"/>
          <p:cNvSpPr/>
          <p:nvPr/>
        </p:nvSpPr>
        <p:spPr>
          <a:xfrm>
            <a:off x="3246120" y="1234440"/>
            <a:ext cx="2606040" cy="3474720"/>
          </a:xfrm>
          <a:prstGeom prst="roundRect">
            <a:avLst/>
          </a:prstGeom>
          <a:solidFill>
            <a:srgbClr val="0D1524"/>
          </a:solidFill>
          <a:ln w="19050">
            <a:solidFill>
              <a:srgbClr val="F59E0B"/>
            </a:solidFill>
            <a:prstDash val="solid"/>
          </a:ln>
        </p:spPr>
      </p:sp>
      <p:sp>
        <p:nvSpPr>
          <p:cNvPr id="18" name="Shape 16"/>
          <p:cNvSpPr/>
          <p:nvPr/>
        </p:nvSpPr>
        <p:spPr>
          <a:xfrm>
            <a:off x="3383280" y="1380744"/>
            <a:ext cx="2331720" cy="256032"/>
          </a:xfrm>
          <a:prstGeom prst="roundRect">
            <a:avLst/>
          </a:prstGeom>
          <a:solidFill>
            <a:srgbClr val="1E1708"/>
          </a:solidFill>
          <a:ln w="10160">
            <a:solidFill>
              <a:srgbClr val="F59E0B"/>
            </a:solidFill>
            <a:prstDash val="solid"/>
          </a:ln>
        </p:spPr>
      </p:sp>
      <p:sp>
        <p:nvSpPr>
          <p:cNvPr id="19" name="Text 17"/>
          <p:cNvSpPr/>
          <p:nvPr/>
        </p:nvSpPr>
        <p:spPr>
          <a:xfrm>
            <a:off x="3383280" y="1380744"/>
            <a:ext cx="2331720" cy="256032"/>
          </a:xfrm>
          <a:prstGeom prst="rect">
            <a:avLst/>
          </a:prstGeom>
          <a:noFill/>
          <a:ln/>
        </p:spPr>
        <p:txBody>
          <a:bodyPr wrap="square" rtlCol="0" anchor="ctr"/>
          <a:lstStyle/>
          <a:p>
            <a:pPr algn="ctr" indent="0" marL="0">
              <a:buNone/>
            </a:pPr>
            <a:r>
              <a:rPr lang="en-US" sz="800" b="1" dirty="0">
                <a:solidFill>
                  <a:srgbClr val="F59E0B"/>
                </a:solidFill>
                <a:latin typeface="Segoe UI" pitchFamily="34" charset="0"/>
                <a:ea typeface="Segoe UI" pitchFamily="34" charset="-122"/>
                <a:cs typeface="Segoe UI" pitchFamily="34" charset="-120"/>
              </a:rPr>
              <a:t>GROWTH ACCELERATOR</a:t>
            </a:r>
            <a:endParaRPr lang="en-US" sz="800" dirty="0"/>
          </a:p>
        </p:txBody>
      </p:sp>
      <p:sp>
        <p:nvSpPr>
          <p:cNvPr id="20" name="Text 18"/>
          <p:cNvSpPr/>
          <p:nvPr/>
        </p:nvSpPr>
        <p:spPr>
          <a:xfrm>
            <a:off x="3410712" y="1709928"/>
            <a:ext cx="1280160" cy="411480"/>
          </a:xfrm>
          <a:prstGeom prst="rect">
            <a:avLst/>
          </a:prstGeom>
          <a:noFill/>
          <a:ln/>
        </p:spPr>
        <p:txBody>
          <a:bodyPr wrap="square"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$2,400</a:t>
            </a:r>
            <a:endParaRPr lang="en-US" sz="1800" dirty="0"/>
          </a:p>
        </p:txBody>
      </p:sp>
      <p:sp>
        <p:nvSpPr>
          <p:cNvPr id="21" name="Text 19"/>
          <p:cNvSpPr/>
          <p:nvPr/>
        </p:nvSpPr>
        <p:spPr>
          <a:xfrm>
            <a:off x="4572000" y="1783080"/>
            <a:ext cx="1097280"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 month</a:t>
            </a:r>
            <a:endParaRPr lang="en-US" sz="850" dirty="0"/>
          </a:p>
        </p:txBody>
      </p:sp>
      <p:sp>
        <p:nvSpPr>
          <p:cNvPr id="22" name="Text 20"/>
          <p:cNvSpPr/>
          <p:nvPr/>
        </p:nvSpPr>
        <p:spPr>
          <a:xfrm>
            <a:off x="3410712" y="2194560"/>
            <a:ext cx="2276856" cy="502920"/>
          </a:xfrm>
          <a:prstGeom prst="rect">
            <a:avLst/>
          </a:prstGeom>
          <a:noFill/>
          <a:ln/>
        </p:spPr>
        <p:txBody>
          <a:bodyPr wrap="square" rtlCol="0" anchor="t"/>
          <a:lstStyle/>
          <a:p>
            <a:pPr indent="0" marL="0">
              <a:lnSpc>
                <a:spcPct val="120000"/>
              </a:lnSpc>
              <a:buNone/>
            </a:pPr>
            <a:r>
              <a:rPr lang="en-US" sz="780" dirty="0">
                <a:solidFill>
                  <a:srgbClr val="CBD5E1"/>
                </a:solidFill>
                <a:latin typeface="Segoe UI" pitchFamily="34" charset="0"/>
                <a:ea typeface="Segoe UI" pitchFamily="34" charset="-122"/>
                <a:cs typeface="Segoe UI" pitchFamily="34" charset="-120"/>
              </a:rPr>
              <a:t>High-velocity distribution designed to trigger YouTube &amp; TikTok recommendation algorithms.</a:t>
            </a:r>
            <a:endParaRPr lang="en-US" sz="780" dirty="0"/>
          </a:p>
        </p:txBody>
      </p:sp>
      <p:sp>
        <p:nvSpPr>
          <p:cNvPr id="23" name="Text 21"/>
          <p:cNvSpPr/>
          <p:nvPr/>
        </p:nvSpPr>
        <p:spPr>
          <a:xfrm>
            <a:off x="3410712" y="2770632"/>
            <a:ext cx="2276856" cy="1463040"/>
          </a:xfrm>
          <a:prstGeom prst="rect">
            <a:avLst/>
          </a:prstGeom>
          <a:noFill/>
          <a:ln/>
        </p:spPr>
        <p:txBody>
          <a:bodyPr wrap="square" rtlCol="0" anchor="t"/>
          <a:lstStyle/>
          <a:p>
            <a:pPr indent="0" marL="0">
              <a:lnSpc>
                <a:spcPct val="120000"/>
              </a:lnSpc>
              <a:buNone/>
            </a:pPr>
            <a:r>
              <a:rPr lang="en-US" sz="750" dirty="0">
                <a:solidFill>
                  <a:srgbClr val="FFFFFF"/>
                </a:solidFill>
                <a:latin typeface="Segoe UI" pitchFamily="34" charset="0"/>
                <a:ea typeface="Segoe UI" pitchFamily="34" charset="-122"/>
                <a:cs typeface="Segoe UI" pitchFamily="34" charset="-120"/>
              </a:rPr>
              <a:t>✓  20 Vertical Shorts / Reels / TikToks per month</a:t>
            </a:r>
            <a:endParaRPr lang="en-US" sz="750" dirty="0"/>
          </a:p>
          <a:p>
            <a:pPr indent="0" marL="0">
              <a:lnSpc>
                <a:spcPct val="120000"/>
              </a:lnSpc>
              <a:buNone/>
            </a:pPr>
            <a:endParaRPr lang="en-US" sz="750" dirty="0"/>
          </a:p>
          <a:p>
            <a:pPr indent="0" marL="0">
              <a:lnSpc>
                <a:spcPct val="120000"/>
              </a:lnSpc>
              <a:buNone/>
            </a:pPr>
            <a:r>
              <a:rPr lang="en-US" sz="750" dirty="0">
                <a:solidFill>
                  <a:srgbClr val="FFFFFF"/>
                </a:solidFill>
                <a:latin typeface="Segoe UI" pitchFamily="34" charset="0"/>
                <a:ea typeface="Segoe UI" pitchFamily="34" charset="-122"/>
                <a:cs typeface="Segoe UI" pitchFamily="34" charset="-120"/>
              </a:rPr>
              <a:t>✓  Native A/B thumbnail testing &amp; title iteration</a:t>
            </a:r>
            <a:endParaRPr lang="en-US" sz="750" dirty="0"/>
          </a:p>
          <a:p>
            <a:pPr indent="0" marL="0">
              <a:lnSpc>
                <a:spcPct val="120000"/>
              </a:lnSpc>
              <a:buNone/>
            </a:pPr>
            <a:endParaRPr lang="en-US" sz="750" dirty="0"/>
          </a:p>
          <a:p>
            <a:pPr indent="0" marL="0">
              <a:lnSpc>
                <a:spcPct val="120000"/>
              </a:lnSpc>
              <a:buNone/>
            </a:pPr>
            <a:r>
              <a:rPr lang="en-US" sz="750" dirty="0">
                <a:solidFill>
                  <a:srgbClr val="FFFFFF"/>
                </a:solidFill>
                <a:latin typeface="Segoe UI" pitchFamily="34" charset="0"/>
                <a:ea typeface="Segoe UI" pitchFamily="34" charset="-122"/>
                <a:cs typeface="Segoe UI" pitchFamily="34" charset="-120"/>
              </a:rPr>
              <a:t>✓  YouTube Community Tab polls &amp; story posts</a:t>
            </a:r>
            <a:endParaRPr lang="en-US" sz="750" dirty="0"/>
          </a:p>
          <a:p>
            <a:pPr indent="0" marL="0">
              <a:lnSpc>
                <a:spcPct val="120000"/>
              </a:lnSpc>
              <a:buNone/>
            </a:pPr>
            <a:endParaRPr lang="en-US" sz="750" dirty="0"/>
          </a:p>
          <a:p>
            <a:pPr indent="0" marL="0">
              <a:lnSpc>
                <a:spcPct val="120000"/>
              </a:lnSpc>
              <a:buNone/>
            </a:pPr>
            <a:r>
              <a:rPr lang="en-US" sz="750" dirty="0">
                <a:solidFill>
                  <a:srgbClr val="FFFFFF"/>
                </a:solidFill>
                <a:latin typeface="Segoe UI" pitchFamily="34" charset="0"/>
                <a:ea typeface="Segoe UI" pitchFamily="34" charset="-122"/>
                <a:cs typeface="Segoe UI" pitchFamily="34" charset="-120"/>
              </a:rPr>
              <a:t>✓  Amazon book conversion tracking &amp; optimization</a:t>
            </a:r>
            <a:endParaRPr lang="en-US" sz="750" dirty="0"/>
          </a:p>
          <a:p>
            <a:pPr indent="0" marL="0">
              <a:lnSpc>
                <a:spcPct val="120000"/>
              </a:lnSpc>
              <a:buNone/>
            </a:pPr>
            <a:endParaRPr lang="en-US" sz="750" dirty="0"/>
          </a:p>
          <a:p>
            <a:pPr indent="0" marL="0">
              <a:lnSpc>
                <a:spcPct val="120000"/>
              </a:lnSpc>
              <a:buNone/>
            </a:pPr>
            <a:r>
              <a:rPr lang="en-US" sz="750" dirty="0">
                <a:solidFill>
                  <a:srgbClr val="FFFFFF"/>
                </a:solidFill>
                <a:latin typeface="Segoe UI" pitchFamily="34" charset="0"/>
                <a:ea typeface="Segoe UI" pitchFamily="34" charset="-122"/>
                <a:cs typeface="Segoe UI" pitchFamily="34" charset="-120"/>
              </a:rPr>
              <a:t>✓  Monthly 1-on-1 strategy call with Producer Ayaz</a:t>
            </a:r>
            <a:endParaRPr lang="en-US" sz="750" dirty="0"/>
          </a:p>
        </p:txBody>
      </p:sp>
      <p:sp>
        <p:nvSpPr>
          <p:cNvPr id="24" name="Shape 22"/>
          <p:cNvSpPr/>
          <p:nvPr/>
        </p:nvSpPr>
        <p:spPr>
          <a:xfrm>
            <a:off x="3383280" y="4270248"/>
            <a:ext cx="2331720" cy="320040"/>
          </a:xfrm>
          <a:prstGeom prst="roundRect">
            <a:avLst/>
          </a:prstGeom>
          <a:solidFill>
            <a:srgbClr val="14233D"/>
          </a:solidFill>
          <a:ln/>
        </p:spPr>
      </p:sp>
      <p:sp>
        <p:nvSpPr>
          <p:cNvPr id="25" name="Text 23"/>
          <p:cNvSpPr/>
          <p:nvPr/>
        </p:nvSpPr>
        <p:spPr>
          <a:xfrm>
            <a:off x="3383280" y="4270248"/>
            <a:ext cx="2331720" cy="320040"/>
          </a:xfrm>
          <a:prstGeom prst="rect">
            <a:avLst/>
          </a:prstGeom>
          <a:noFill/>
          <a:ln/>
        </p:spPr>
        <p:txBody>
          <a:bodyPr wrap="square" rtlCol="0" anchor="ctr"/>
          <a:lstStyle/>
          <a:p>
            <a:pPr algn="ctr" indent="0" marL="0">
              <a:buNone/>
            </a:pPr>
            <a:r>
              <a:rPr lang="en-US" sz="720" b="1" dirty="0">
                <a:solidFill>
                  <a:srgbClr val="FBBF24"/>
                </a:solidFill>
                <a:latin typeface="Segoe UI" pitchFamily="34" charset="0"/>
                <a:ea typeface="Segoe UI" pitchFamily="34" charset="-122"/>
                <a:cs typeface="Segoe UI" pitchFamily="34" charset="-120"/>
              </a:rPr>
              <a:t>PLATFORMS:  TikTok  •  Instagram  •  Facebook</a:t>
            </a:r>
            <a:endParaRPr lang="en-US" sz="720" dirty="0"/>
          </a:p>
        </p:txBody>
      </p:sp>
      <p:sp>
        <p:nvSpPr>
          <p:cNvPr id="26" name="Shape 24"/>
          <p:cNvSpPr/>
          <p:nvPr/>
        </p:nvSpPr>
        <p:spPr>
          <a:xfrm>
            <a:off x="5943600" y="1234440"/>
            <a:ext cx="2606040" cy="3474720"/>
          </a:xfrm>
          <a:prstGeom prst="roundRect">
            <a:avLst/>
          </a:prstGeom>
          <a:solidFill>
            <a:srgbClr val="0D1524"/>
          </a:solidFill>
          <a:ln w="19050">
            <a:solidFill>
              <a:srgbClr val="10B981"/>
            </a:solidFill>
            <a:prstDash val="solid"/>
          </a:ln>
        </p:spPr>
      </p:sp>
      <p:sp>
        <p:nvSpPr>
          <p:cNvPr id="27" name="Shape 25"/>
          <p:cNvSpPr/>
          <p:nvPr/>
        </p:nvSpPr>
        <p:spPr>
          <a:xfrm>
            <a:off x="6080760" y="1380744"/>
            <a:ext cx="2331720" cy="256032"/>
          </a:xfrm>
          <a:prstGeom prst="roundRect">
            <a:avLst/>
          </a:prstGeom>
          <a:solidFill>
            <a:srgbClr val="0A241A"/>
          </a:solidFill>
          <a:ln w="10160">
            <a:solidFill>
              <a:srgbClr val="10B981"/>
            </a:solidFill>
            <a:prstDash val="solid"/>
          </a:ln>
        </p:spPr>
      </p:sp>
      <p:sp>
        <p:nvSpPr>
          <p:cNvPr id="28" name="Text 26"/>
          <p:cNvSpPr/>
          <p:nvPr/>
        </p:nvSpPr>
        <p:spPr>
          <a:xfrm>
            <a:off x="6080760" y="1380744"/>
            <a:ext cx="2331720" cy="256032"/>
          </a:xfrm>
          <a:prstGeom prst="rect">
            <a:avLst/>
          </a:prstGeom>
          <a:noFill/>
          <a:ln/>
        </p:spPr>
        <p:txBody>
          <a:bodyPr wrap="square" rtlCol="0" anchor="ctr"/>
          <a:lstStyle/>
          <a:p>
            <a:pPr algn="ctr" indent="0" marL="0">
              <a:buNone/>
            </a:pPr>
            <a:r>
              <a:rPr lang="en-US" sz="800" b="1" dirty="0">
                <a:solidFill>
                  <a:srgbClr val="10B981"/>
                </a:solidFill>
                <a:latin typeface="Segoe UI" pitchFamily="34" charset="0"/>
                <a:ea typeface="Segoe UI" pitchFamily="34" charset="-122"/>
                <a:cs typeface="Segoe UI" pitchFamily="34" charset="-120"/>
              </a:rPr>
              <a:t>OMNICHANNEL SYNDICATE</a:t>
            </a:r>
            <a:endParaRPr lang="en-US" sz="800" dirty="0"/>
          </a:p>
        </p:txBody>
      </p:sp>
      <p:sp>
        <p:nvSpPr>
          <p:cNvPr id="29" name="Text 27"/>
          <p:cNvSpPr/>
          <p:nvPr/>
        </p:nvSpPr>
        <p:spPr>
          <a:xfrm>
            <a:off x="6108192" y="1709928"/>
            <a:ext cx="1280160" cy="411480"/>
          </a:xfrm>
          <a:prstGeom prst="rect">
            <a:avLst/>
          </a:prstGeom>
          <a:noFill/>
          <a:ln/>
        </p:spPr>
        <p:txBody>
          <a:bodyPr wrap="square"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$3,800</a:t>
            </a:r>
            <a:endParaRPr lang="en-US" sz="1800" dirty="0"/>
          </a:p>
        </p:txBody>
      </p:sp>
      <p:sp>
        <p:nvSpPr>
          <p:cNvPr id="30" name="Text 28"/>
          <p:cNvSpPr/>
          <p:nvPr/>
        </p:nvSpPr>
        <p:spPr>
          <a:xfrm>
            <a:off x="7269480" y="1783080"/>
            <a:ext cx="1097280"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 month</a:t>
            </a:r>
            <a:endParaRPr lang="en-US" sz="850" dirty="0"/>
          </a:p>
        </p:txBody>
      </p:sp>
      <p:sp>
        <p:nvSpPr>
          <p:cNvPr id="31" name="Text 29"/>
          <p:cNvSpPr/>
          <p:nvPr/>
        </p:nvSpPr>
        <p:spPr>
          <a:xfrm>
            <a:off x="6108192" y="2194560"/>
            <a:ext cx="2276856" cy="502920"/>
          </a:xfrm>
          <a:prstGeom prst="rect">
            <a:avLst/>
          </a:prstGeom>
          <a:noFill/>
          <a:ln/>
        </p:spPr>
        <p:txBody>
          <a:bodyPr wrap="square" rtlCol="0" anchor="t"/>
          <a:lstStyle/>
          <a:p>
            <a:pPr indent="0" marL="0">
              <a:lnSpc>
                <a:spcPct val="120000"/>
              </a:lnSpc>
              <a:buNone/>
            </a:pPr>
            <a:r>
              <a:rPr lang="en-US" sz="780" dirty="0">
                <a:solidFill>
                  <a:srgbClr val="CBD5E1"/>
                </a:solidFill>
                <a:latin typeface="Segoe UI" pitchFamily="34" charset="0"/>
                <a:ea typeface="Segoe UI" pitchFamily="34" charset="-122"/>
                <a:cs typeface="Segoe UI" pitchFamily="34" charset="-120"/>
              </a:rPr>
              <a:t>Dominant holiday campaign running full multi-platform publishing and rights enforcement.</a:t>
            </a:r>
            <a:endParaRPr lang="en-US" sz="780" dirty="0"/>
          </a:p>
        </p:txBody>
      </p:sp>
      <p:sp>
        <p:nvSpPr>
          <p:cNvPr id="32" name="Text 30"/>
          <p:cNvSpPr/>
          <p:nvPr/>
        </p:nvSpPr>
        <p:spPr>
          <a:xfrm>
            <a:off x="6108192" y="2770632"/>
            <a:ext cx="2276856" cy="1463040"/>
          </a:xfrm>
          <a:prstGeom prst="rect">
            <a:avLst/>
          </a:prstGeom>
          <a:noFill/>
          <a:ln/>
        </p:spPr>
        <p:txBody>
          <a:bodyPr wrap="square" rtlCol="0" anchor="t"/>
          <a:lstStyle/>
          <a:p>
            <a:pPr indent="0" marL="0">
              <a:lnSpc>
                <a:spcPct val="120000"/>
              </a:lnSpc>
              <a:buNone/>
            </a:pPr>
            <a:r>
              <a:rPr lang="en-US" sz="750" dirty="0">
                <a:solidFill>
                  <a:srgbClr val="FFFFFF"/>
                </a:solidFill>
                <a:latin typeface="Segoe UI" pitchFamily="34" charset="0"/>
                <a:ea typeface="Segoe UI" pitchFamily="34" charset="-122"/>
                <a:cs typeface="Segoe UI" pitchFamily="34" charset="-120"/>
              </a:rPr>
              <a:t>✓  Daily Publishing (30+ Short-form videos / mo)</a:t>
            </a:r>
            <a:endParaRPr lang="en-US" sz="750" dirty="0"/>
          </a:p>
          <a:p>
            <a:pPr indent="0" marL="0">
              <a:lnSpc>
                <a:spcPct val="120000"/>
              </a:lnSpc>
              <a:buNone/>
            </a:pPr>
            <a:endParaRPr lang="en-US" sz="750" dirty="0"/>
          </a:p>
          <a:p>
            <a:pPr indent="0" marL="0">
              <a:lnSpc>
                <a:spcPct val="120000"/>
              </a:lnSpc>
              <a:buNone/>
            </a:pPr>
            <a:r>
              <a:rPr lang="en-US" sz="750" dirty="0">
                <a:solidFill>
                  <a:srgbClr val="FFFFFF"/>
                </a:solidFill>
                <a:latin typeface="Segoe UI" pitchFamily="34" charset="0"/>
                <a:ea typeface="Segoe UI" pitchFamily="34" charset="-122"/>
                <a:cs typeface="Segoe UI" pitchFamily="34" charset="-120"/>
              </a:rPr>
              <a:t>✓  Content ID anti-piracy audio/video fingerprinting</a:t>
            </a:r>
            <a:endParaRPr lang="en-US" sz="750" dirty="0"/>
          </a:p>
          <a:p>
            <a:pPr indent="0" marL="0">
              <a:lnSpc>
                <a:spcPct val="120000"/>
              </a:lnSpc>
              <a:buNone/>
            </a:pPr>
            <a:endParaRPr lang="en-US" sz="750" dirty="0"/>
          </a:p>
          <a:p>
            <a:pPr indent="0" marL="0">
              <a:lnSpc>
                <a:spcPct val="120000"/>
              </a:lnSpc>
              <a:buNone/>
            </a:pPr>
            <a:r>
              <a:rPr lang="en-US" sz="750" dirty="0">
                <a:solidFill>
                  <a:srgbClr val="FFFFFF"/>
                </a:solidFill>
                <a:latin typeface="Segoe UI" pitchFamily="34" charset="0"/>
                <a:ea typeface="Segoe UI" pitchFamily="34" charset="-122"/>
                <a:cs typeface="Segoe UI" pitchFamily="34" charset="-120"/>
              </a:rPr>
              <a:t>✓  Podcast and audio excerpt syndication</a:t>
            </a:r>
            <a:endParaRPr lang="en-US" sz="750" dirty="0"/>
          </a:p>
          <a:p>
            <a:pPr indent="0" marL="0">
              <a:lnSpc>
                <a:spcPct val="120000"/>
              </a:lnSpc>
              <a:buNone/>
            </a:pPr>
            <a:endParaRPr lang="en-US" sz="750" dirty="0"/>
          </a:p>
          <a:p>
            <a:pPr indent="0" marL="0">
              <a:lnSpc>
                <a:spcPct val="120000"/>
              </a:lnSpc>
              <a:buNone/>
            </a:pPr>
            <a:r>
              <a:rPr lang="en-US" sz="750" dirty="0">
                <a:solidFill>
                  <a:srgbClr val="FFFFFF"/>
                </a:solidFill>
                <a:latin typeface="Segoe UI" pitchFamily="34" charset="0"/>
                <a:ea typeface="Segoe UI" pitchFamily="34" charset="-122"/>
                <a:cs typeface="Segoe UI" pitchFamily="34" charset="-120"/>
              </a:rPr>
              <a:t>✓  Dedicated Social Account Producer on 24/7 Slack</a:t>
            </a:r>
            <a:endParaRPr lang="en-US" sz="750" dirty="0"/>
          </a:p>
          <a:p>
            <a:pPr indent="0" marL="0">
              <a:lnSpc>
                <a:spcPct val="120000"/>
              </a:lnSpc>
              <a:buNone/>
            </a:pPr>
            <a:endParaRPr lang="en-US" sz="750" dirty="0"/>
          </a:p>
          <a:p>
            <a:pPr indent="0" marL="0">
              <a:lnSpc>
                <a:spcPct val="120000"/>
              </a:lnSpc>
              <a:buNone/>
            </a:pPr>
            <a:r>
              <a:rPr lang="en-US" sz="750" dirty="0">
                <a:solidFill>
                  <a:srgbClr val="FFFFFF"/>
                </a:solidFill>
                <a:latin typeface="Segoe UI" pitchFamily="34" charset="0"/>
                <a:ea typeface="Segoe UI" pitchFamily="34" charset="-122"/>
                <a:cs typeface="Segoe UI" pitchFamily="34" charset="-120"/>
              </a:rPr>
              <a:t>✓  Influencer holiday duet and remix management</a:t>
            </a:r>
            <a:endParaRPr lang="en-US" sz="750" dirty="0"/>
          </a:p>
        </p:txBody>
      </p:sp>
      <p:sp>
        <p:nvSpPr>
          <p:cNvPr id="33" name="Shape 31"/>
          <p:cNvSpPr/>
          <p:nvPr/>
        </p:nvSpPr>
        <p:spPr>
          <a:xfrm>
            <a:off x="6080760" y="4270248"/>
            <a:ext cx="2331720" cy="320040"/>
          </a:xfrm>
          <a:prstGeom prst="roundRect">
            <a:avLst/>
          </a:prstGeom>
          <a:solidFill>
            <a:srgbClr val="14233D"/>
          </a:solidFill>
          <a:ln/>
        </p:spPr>
      </p:sp>
      <p:sp>
        <p:nvSpPr>
          <p:cNvPr id="34" name="Text 32"/>
          <p:cNvSpPr/>
          <p:nvPr/>
        </p:nvSpPr>
        <p:spPr>
          <a:xfrm>
            <a:off x="6080760" y="4270248"/>
            <a:ext cx="2331720" cy="320040"/>
          </a:xfrm>
          <a:prstGeom prst="rect">
            <a:avLst/>
          </a:prstGeom>
          <a:noFill/>
          <a:ln/>
        </p:spPr>
        <p:txBody>
          <a:bodyPr wrap="square" rtlCol="0" anchor="ctr"/>
          <a:lstStyle/>
          <a:p>
            <a:pPr algn="ctr" indent="0" marL="0">
              <a:buNone/>
            </a:pPr>
            <a:r>
              <a:rPr lang="en-US" sz="720" b="1" dirty="0">
                <a:solidFill>
                  <a:srgbClr val="FBBF24"/>
                </a:solidFill>
                <a:latin typeface="Segoe UI" pitchFamily="34" charset="0"/>
                <a:ea typeface="Segoe UI" pitchFamily="34" charset="-122"/>
                <a:cs typeface="Segoe UI" pitchFamily="34" charset="-120"/>
              </a:rPr>
              <a:t>PLATFORMS:  TikTok  •  Instagram  •  Facebook</a:t>
            </a:r>
            <a:endParaRPr lang="en-US" sz="7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0B12"/>
        </a:solidFill>
      </p:bgPr>
    </p:bg>
    <p:spTree>
      <p:nvGrpSpPr>
        <p:cNvPr id="1" name=""/>
        <p:cNvGrpSpPr/>
        <p:nvPr/>
      </p:nvGrpSpPr>
      <p:grpSpPr>
        <a:xfrm>
          <a:off x="0" y="0"/>
          <a:ext cx="0" cy="0"/>
          <a:chOff x="0" y="0"/>
          <a:chExt cx="0" cy="0"/>
        </a:xfrm>
      </p:grpSpPr>
      <p:sp>
        <p:nvSpPr>
          <p:cNvPr id="2" name="Shape 0"/>
          <p:cNvSpPr/>
          <p:nvPr/>
        </p:nvSpPr>
        <p:spPr>
          <a:xfrm>
            <a:off x="548640" y="320040"/>
            <a:ext cx="8046720" cy="13716"/>
          </a:xfrm>
          <a:prstGeom prst="rect">
            <a:avLst/>
          </a:prstGeom>
          <a:solidFill>
            <a:srgbClr val="24334C"/>
          </a:solidFill>
          <a:ln/>
        </p:spPr>
      </p:sp>
      <p:sp>
        <p:nvSpPr>
          <p:cNvPr id="3" name="Text 1"/>
          <p:cNvSpPr/>
          <p:nvPr/>
        </p:nvSpPr>
        <p:spPr>
          <a:xfrm>
            <a:off x="548640" y="384048"/>
            <a:ext cx="6217920" cy="201168"/>
          </a:xfrm>
          <a:prstGeom prst="rect">
            <a:avLst/>
          </a:prstGeom>
          <a:noFill/>
          <a:ln/>
        </p:spPr>
        <p:txBody>
          <a:bodyPr wrap="square" rtlCol="0" anchor="ctr"/>
          <a:lstStyle/>
          <a:p>
            <a:pPr indent="0" marL="0">
              <a:buNone/>
            </a:pPr>
            <a:r>
              <a:rPr lang="en-US" sz="800" b="1" dirty="0">
                <a:solidFill>
                  <a:srgbClr val="38BDF8"/>
                </a:solidFill>
                <a:latin typeface="Segoe UI" pitchFamily="34" charset="0"/>
                <a:ea typeface="Segoe UI" pitchFamily="34" charset="-122"/>
                <a:cs typeface="Segoe UI" pitchFamily="34" charset="-120"/>
              </a:rPr>
              <a:t>TURN-KEY CHANNEL OPERATIONS</a:t>
            </a:r>
            <a:endParaRPr lang="en-US" sz="800" dirty="0"/>
          </a:p>
        </p:txBody>
      </p:sp>
      <p:sp>
        <p:nvSpPr>
          <p:cNvPr id="4" name="Text 2"/>
          <p:cNvSpPr/>
          <p:nvPr/>
        </p:nvSpPr>
        <p:spPr>
          <a:xfrm>
            <a:off x="548640" y="621792"/>
            <a:ext cx="6583680" cy="411480"/>
          </a:xfrm>
          <a:prstGeom prst="rect">
            <a:avLst/>
          </a:prstGeom>
          <a:noFill/>
          <a:ln/>
        </p:spPr>
        <p:txBody>
          <a:bodyPr wrap="square"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8-Point YouTube Publishing Engine &amp; Rights Protection</a:t>
            </a:r>
            <a:endParaRPr lang="en-US" sz="1700" dirty="0"/>
          </a:p>
        </p:txBody>
      </p:sp>
      <p:sp>
        <p:nvSpPr>
          <p:cNvPr id="5" name="Shape 3"/>
          <p:cNvSpPr/>
          <p:nvPr/>
        </p:nvSpPr>
        <p:spPr>
          <a:xfrm>
            <a:off x="7132320" y="411480"/>
            <a:ext cx="1463040" cy="292608"/>
          </a:xfrm>
          <a:prstGeom prst="roundRect">
            <a:avLst/>
          </a:prstGeom>
          <a:solidFill>
            <a:srgbClr val="0D1524"/>
          </a:solidFill>
          <a:ln w="12700">
            <a:solidFill>
              <a:srgbClr val="24334C"/>
            </a:solidFill>
            <a:prstDash val="solid"/>
          </a:ln>
        </p:spPr>
      </p:sp>
      <p:sp>
        <p:nvSpPr>
          <p:cNvPr id="6" name="Text 4"/>
          <p:cNvSpPr/>
          <p:nvPr/>
        </p:nvSpPr>
        <p:spPr>
          <a:xfrm>
            <a:off x="7132320" y="411480"/>
            <a:ext cx="1463040" cy="292608"/>
          </a:xfrm>
          <a:prstGeom prst="rect">
            <a:avLst/>
          </a:prstGeom>
          <a:noFill/>
          <a:ln/>
        </p:spPr>
        <p:txBody>
          <a:bodyPr wrap="square" rtlCol="0" anchor="ctr"/>
          <a:lstStyle/>
          <a:p>
            <a:pPr algn="ctr" indent="0" marL="0">
              <a:buNone/>
            </a:pPr>
            <a:r>
              <a:rPr lang="en-US" sz="750" b="1" dirty="0">
                <a:solidFill>
                  <a:srgbClr val="FBBF24"/>
                </a:solidFill>
                <a:latin typeface="Segoe UI" pitchFamily="34" charset="0"/>
                <a:ea typeface="Segoe UI" pitchFamily="34" charset="-122"/>
                <a:cs typeface="Segoe UI" pitchFamily="34" charset="-120"/>
              </a:rPr>
              <a:t>NEO GEN STUDIOS</a:t>
            </a:r>
            <a:endParaRPr lang="en-US" sz="750" dirty="0"/>
          </a:p>
        </p:txBody>
      </p:sp>
      <p:sp>
        <p:nvSpPr>
          <p:cNvPr id="7" name="Text 5"/>
          <p:cNvSpPr/>
          <p:nvPr/>
        </p:nvSpPr>
        <p:spPr>
          <a:xfrm>
            <a:off x="548640" y="4864608"/>
            <a:ext cx="8046720" cy="182880"/>
          </a:xfrm>
          <a:prstGeom prst="rect">
            <a:avLst/>
          </a:prstGeom>
          <a:noFill/>
          <a:ln/>
        </p:spPr>
        <p:txBody>
          <a:bodyPr wrap="square" rtlCol="0" anchor="ctr"/>
          <a:lstStyle/>
          <a:p>
            <a:pPr indent="0" marL="0">
              <a:buNone/>
            </a:pPr>
            <a:r>
              <a:rPr lang="en-US" sz="750" dirty="0">
                <a:solidFill>
                  <a:srgbClr val="94A3B8"/>
                </a:solidFill>
                <a:latin typeface="Segoe UI" pitchFamily="34" charset="0"/>
                <a:ea typeface="Segoe UI" pitchFamily="34" charset="-122"/>
                <a:cs typeface="Segoe UI" pitchFamily="34" charset="-120"/>
              </a:rPr>
              <a:t>NEO GEN TECHNOLOGIES  |  ROCKY: THE ROCKEFELLER CHRISTMAS TREE  |  EXECUTIVE SOW  |  SLIDE 10</a:t>
            </a:r>
            <a:endParaRPr lang="en-US" sz="750" dirty="0"/>
          </a:p>
        </p:txBody>
      </p:sp>
      <p:sp>
        <p:nvSpPr>
          <p:cNvPr id="8" name="Shape 6"/>
          <p:cNvSpPr/>
          <p:nvPr/>
        </p:nvSpPr>
        <p:spPr>
          <a:xfrm>
            <a:off x="548640" y="1234440"/>
            <a:ext cx="3977640" cy="804672"/>
          </a:xfrm>
          <a:prstGeom prst="roundRect">
            <a:avLst/>
          </a:prstGeom>
          <a:solidFill>
            <a:srgbClr val="0D1524"/>
          </a:solidFill>
          <a:ln w="12700">
            <a:solidFill>
              <a:srgbClr val="24334C"/>
            </a:solidFill>
            <a:prstDash val="solid"/>
          </a:ln>
        </p:spPr>
      </p:sp>
      <p:sp>
        <p:nvSpPr>
          <p:cNvPr id="9" name="Text 7"/>
          <p:cNvSpPr/>
          <p:nvPr/>
        </p:nvSpPr>
        <p:spPr>
          <a:xfrm>
            <a:off x="685800" y="1325880"/>
            <a:ext cx="3703320" cy="228600"/>
          </a:xfrm>
          <a:prstGeom prst="rect">
            <a:avLst/>
          </a:prstGeom>
          <a:noFill/>
          <a:ln/>
        </p:spPr>
        <p:txBody>
          <a:bodyPr wrap="square" rtlCol="0" anchor="ctr"/>
          <a:lstStyle/>
          <a:p>
            <a:pPr indent="0" marL="0">
              <a:buNone/>
            </a:pPr>
            <a:r>
              <a:rPr lang="en-US" sz="850" b="1" dirty="0">
                <a:solidFill>
                  <a:srgbClr val="FBBF24"/>
                </a:solidFill>
                <a:latin typeface="Segoe UI" pitchFamily="34" charset="0"/>
                <a:ea typeface="Segoe UI" pitchFamily="34" charset="-122"/>
                <a:cs typeface="Segoe UI" pitchFamily="34" charset="-120"/>
              </a:rPr>
              <a:t>01. Content ID Audio/Visual Fingerprinting</a:t>
            </a:r>
            <a:endParaRPr lang="en-US" sz="850" dirty="0"/>
          </a:p>
        </p:txBody>
      </p:sp>
      <p:sp>
        <p:nvSpPr>
          <p:cNvPr id="10" name="Text 8"/>
          <p:cNvSpPr/>
          <p:nvPr/>
        </p:nvSpPr>
        <p:spPr>
          <a:xfrm>
            <a:off x="685800" y="1581912"/>
            <a:ext cx="3703320" cy="411480"/>
          </a:xfrm>
          <a:prstGeom prst="rect">
            <a:avLst/>
          </a:prstGeom>
          <a:noFill/>
          <a:ln/>
        </p:spPr>
        <p:txBody>
          <a:bodyPr wrap="square" rtlCol="0" anchor="t"/>
          <a:lstStyle/>
          <a:p>
            <a:pPr indent="0" marL="0">
              <a:lnSpc>
                <a:spcPct val="120000"/>
              </a:lnSpc>
              <a:buNone/>
            </a:pPr>
            <a:r>
              <a:rPr lang="en-US" sz="720" dirty="0">
                <a:solidFill>
                  <a:srgbClr val="CBD5E1"/>
                </a:solidFill>
                <a:latin typeface="Segoe UI" pitchFamily="34" charset="0"/>
                <a:ea typeface="Segoe UI" pitchFamily="34" charset="-122"/>
                <a:cs typeface="Segoe UI" pitchFamily="34" charset="-120"/>
              </a:rPr>
              <a:t>Automated digital fingerprinting prevents piracy and unauthorized reposts, ensuring all global AdSense flows directly to Jennie Nicassio.</a:t>
            </a:r>
            <a:endParaRPr lang="en-US" sz="720" dirty="0"/>
          </a:p>
        </p:txBody>
      </p:sp>
      <p:sp>
        <p:nvSpPr>
          <p:cNvPr id="11" name="Shape 9"/>
          <p:cNvSpPr/>
          <p:nvPr/>
        </p:nvSpPr>
        <p:spPr>
          <a:xfrm>
            <a:off x="4617720" y="1234440"/>
            <a:ext cx="3977640" cy="804672"/>
          </a:xfrm>
          <a:prstGeom prst="roundRect">
            <a:avLst/>
          </a:prstGeom>
          <a:solidFill>
            <a:srgbClr val="0D1524"/>
          </a:solidFill>
          <a:ln w="12700">
            <a:solidFill>
              <a:srgbClr val="24334C"/>
            </a:solidFill>
            <a:prstDash val="solid"/>
          </a:ln>
        </p:spPr>
      </p:sp>
      <p:sp>
        <p:nvSpPr>
          <p:cNvPr id="12" name="Text 10"/>
          <p:cNvSpPr/>
          <p:nvPr/>
        </p:nvSpPr>
        <p:spPr>
          <a:xfrm>
            <a:off x="4754880" y="1325880"/>
            <a:ext cx="3703320" cy="228600"/>
          </a:xfrm>
          <a:prstGeom prst="rect">
            <a:avLst/>
          </a:prstGeom>
          <a:noFill/>
          <a:ln/>
        </p:spPr>
        <p:txBody>
          <a:bodyPr wrap="square" rtlCol="0" anchor="ctr"/>
          <a:lstStyle/>
          <a:p>
            <a:pPr indent="0" marL="0">
              <a:buNone/>
            </a:pPr>
            <a:r>
              <a:rPr lang="en-US" sz="850" b="1" dirty="0">
                <a:solidFill>
                  <a:srgbClr val="FBBF24"/>
                </a:solidFill>
                <a:latin typeface="Segoe UI" pitchFamily="34" charset="0"/>
                <a:ea typeface="Segoe UI" pitchFamily="34" charset="-122"/>
                <a:cs typeface="Segoe UI" pitchFamily="34" charset="-120"/>
              </a:rPr>
              <a:t>02. Native A/B Thumbnail Optimization</a:t>
            </a:r>
            <a:endParaRPr lang="en-US" sz="850" dirty="0"/>
          </a:p>
        </p:txBody>
      </p:sp>
      <p:sp>
        <p:nvSpPr>
          <p:cNvPr id="13" name="Text 11"/>
          <p:cNvSpPr/>
          <p:nvPr/>
        </p:nvSpPr>
        <p:spPr>
          <a:xfrm>
            <a:off x="4754880" y="1581912"/>
            <a:ext cx="3703320" cy="411480"/>
          </a:xfrm>
          <a:prstGeom prst="rect">
            <a:avLst/>
          </a:prstGeom>
          <a:noFill/>
          <a:ln/>
        </p:spPr>
        <p:txBody>
          <a:bodyPr wrap="square" rtlCol="0" anchor="t"/>
          <a:lstStyle/>
          <a:p>
            <a:pPr indent="0" marL="0">
              <a:lnSpc>
                <a:spcPct val="120000"/>
              </a:lnSpc>
              <a:buNone/>
            </a:pPr>
            <a:r>
              <a:rPr lang="en-US" sz="720" dirty="0">
                <a:solidFill>
                  <a:srgbClr val="CBD5E1"/>
                </a:solidFill>
                <a:latin typeface="Segoe UI" pitchFamily="34" charset="0"/>
                <a:ea typeface="Segoe UI" pitchFamily="34" charset="-122"/>
                <a:cs typeface="Segoe UI" pitchFamily="34" charset="-120"/>
              </a:rPr>
              <a:t>Multi-variant visual thumbnails deployed concurrently to maximize click-through rates across family and animation fan audiences.</a:t>
            </a:r>
            <a:endParaRPr lang="en-US" sz="720" dirty="0"/>
          </a:p>
        </p:txBody>
      </p:sp>
      <p:sp>
        <p:nvSpPr>
          <p:cNvPr id="14" name="Shape 12"/>
          <p:cNvSpPr/>
          <p:nvPr/>
        </p:nvSpPr>
        <p:spPr>
          <a:xfrm>
            <a:off x="548640" y="2103120"/>
            <a:ext cx="3977640" cy="804672"/>
          </a:xfrm>
          <a:prstGeom prst="roundRect">
            <a:avLst/>
          </a:prstGeom>
          <a:solidFill>
            <a:srgbClr val="0D1524"/>
          </a:solidFill>
          <a:ln w="12700">
            <a:solidFill>
              <a:srgbClr val="24334C"/>
            </a:solidFill>
            <a:prstDash val="solid"/>
          </a:ln>
        </p:spPr>
      </p:sp>
      <p:sp>
        <p:nvSpPr>
          <p:cNvPr id="15" name="Text 13"/>
          <p:cNvSpPr/>
          <p:nvPr/>
        </p:nvSpPr>
        <p:spPr>
          <a:xfrm>
            <a:off x="685800" y="2194560"/>
            <a:ext cx="3703320" cy="228600"/>
          </a:xfrm>
          <a:prstGeom prst="rect">
            <a:avLst/>
          </a:prstGeom>
          <a:noFill/>
          <a:ln/>
        </p:spPr>
        <p:txBody>
          <a:bodyPr wrap="square" rtlCol="0" anchor="ctr"/>
          <a:lstStyle/>
          <a:p>
            <a:pPr indent="0" marL="0">
              <a:buNone/>
            </a:pPr>
            <a:r>
              <a:rPr lang="en-US" sz="850" b="1" dirty="0">
                <a:solidFill>
                  <a:srgbClr val="FBBF24"/>
                </a:solidFill>
                <a:latin typeface="Segoe UI" pitchFamily="34" charset="0"/>
                <a:ea typeface="Segoe UI" pitchFamily="34" charset="-122"/>
                <a:cs typeface="Segoe UI" pitchFamily="34" charset="-120"/>
              </a:rPr>
              <a:t>03. Community Tab &amp; Fan Cultivation</a:t>
            </a:r>
            <a:endParaRPr lang="en-US" sz="850" dirty="0"/>
          </a:p>
        </p:txBody>
      </p:sp>
      <p:sp>
        <p:nvSpPr>
          <p:cNvPr id="16" name="Text 14"/>
          <p:cNvSpPr/>
          <p:nvPr/>
        </p:nvSpPr>
        <p:spPr>
          <a:xfrm>
            <a:off x="685800" y="2450592"/>
            <a:ext cx="3703320" cy="411480"/>
          </a:xfrm>
          <a:prstGeom prst="rect">
            <a:avLst/>
          </a:prstGeom>
          <a:noFill/>
          <a:ln/>
        </p:spPr>
        <p:txBody>
          <a:bodyPr wrap="square" rtlCol="0" anchor="t"/>
          <a:lstStyle/>
          <a:p>
            <a:pPr indent="0" marL="0">
              <a:lnSpc>
                <a:spcPct val="120000"/>
              </a:lnSpc>
              <a:buNone/>
            </a:pPr>
            <a:r>
              <a:rPr lang="en-US" sz="720" dirty="0">
                <a:solidFill>
                  <a:srgbClr val="CBD5E1"/>
                </a:solidFill>
                <a:latin typeface="Segoe UI" pitchFamily="34" charset="0"/>
                <a:ea typeface="Segoe UI" pitchFamily="34" charset="-122"/>
                <a:cs typeface="Segoe UI" pitchFamily="34" charset="-120"/>
              </a:rPr>
              <a:t>Weekly behind-the-scenes concept art, character trivia, and polls building active subscriber loyalty prior to the winter premiere.</a:t>
            </a:r>
            <a:endParaRPr lang="en-US" sz="720" dirty="0"/>
          </a:p>
        </p:txBody>
      </p:sp>
      <p:sp>
        <p:nvSpPr>
          <p:cNvPr id="17" name="Shape 15"/>
          <p:cNvSpPr/>
          <p:nvPr/>
        </p:nvSpPr>
        <p:spPr>
          <a:xfrm>
            <a:off x="4617720" y="2103120"/>
            <a:ext cx="3977640" cy="804672"/>
          </a:xfrm>
          <a:prstGeom prst="roundRect">
            <a:avLst/>
          </a:prstGeom>
          <a:solidFill>
            <a:srgbClr val="0D1524"/>
          </a:solidFill>
          <a:ln w="12700">
            <a:solidFill>
              <a:srgbClr val="24334C"/>
            </a:solidFill>
            <a:prstDash val="solid"/>
          </a:ln>
        </p:spPr>
      </p:sp>
      <p:sp>
        <p:nvSpPr>
          <p:cNvPr id="18" name="Text 16"/>
          <p:cNvSpPr/>
          <p:nvPr/>
        </p:nvSpPr>
        <p:spPr>
          <a:xfrm>
            <a:off x="4754880" y="2194560"/>
            <a:ext cx="3703320" cy="228600"/>
          </a:xfrm>
          <a:prstGeom prst="rect">
            <a:avLst/>
          </a:prstGeom>
          <a:noFill/>
          <a:ln/>
        </p:spPr>
        <p:txBody>
          <a:bodyPr wrap="square" rtlCol="0" anchor="ctr"/>
          <a:lstStyle/>
          <a:p>
            <a:pPr indent="0" marL="0">
              <a:buNone/>
            </a:pPr>
            <a:r>
              <a:rPr lang="en-US" sz="850" b="1" dirty="0">
                <a:solidFill>
                  <a:srgbClr val="FBBF24"/>
                </a:solidFill>
                <a:latin typeface="Segoe UI" pitchFamily="34" charset="0"/>
                <a:ea typeface="Segoe UI" pitchFamily="34" charset="-122"/>
                <a:cs typeface="Segoe UI" pitchFamily="34" charset="-120"/>
              </a:rPr>
              <a:t>04. Shorts Remixing &amp; Sound Virality</a:t>
            </a:r>
            <a:endParaRPr lang="en-US" sz="850" dirty="0"/>
          </a:p>
        </p:txBody>
      </p:sp>
      <p:sp>
        <p:nvSpPr>
          <p:cNvPr id="19" name="Text 17"/>
          <p:cNvSpPr/>
          <p:nvPr/>
        </p:nvSpPr>
        <p:spPr>
          <a:xfrm>
            <a:off x="4754880" y="2450592"/>
            <a:ext cx="3703320" cy="411480"/>
          </a:xfrm>
          <a:prstGeom prst="rect">
            <a:avLst/>
          </a:prstGeom>
          <a:noFill/>
          <a:ln/>
        </p:spPr>
        <p:txBody>
          <a:bodyPr wrap="square" rtlCol="0" anchor="t"/>
          <a:lstStyle/>
          <a:p>
            <a:pPr indent="0" marL="0">
              <a:lnSpc>
                <a:spcPct val="120000"/>
              </a:lnSpc>
              <a:buNone/>
            </a:pPr>
            <a:r>
              <a:rPr lang="en-US" sz="720" dirty="0">
                <a:solidFill>
                  <a:srgbClr val="CBD5E1"/>
                </a:solidFill>
                <a:latin typeface="Segoe UI" pitchFamily="34" charset="0"/>
                <a:ea typeface="Segoe UI" pitchFamily="34" charset="-122"/>
                <a:cs typeface="Segoe UI" pitchFamily="34" charset="-120"/>
              </a:rPr>
              <a:t>Key emotional scenes and musical moments packaged into native YouTube Shorts to tap into algorithmic recommendations.</a:t>
            </a:r>
            <a:endParaRPr lang="en-US" sz="720" dirty="0"/>
          </a:p>
        </p:txBody>
      </p:sp>
      <p:sp>
        <p:nvSpPr>
          <p:cNvPr id="20" name="Shape 18"/>
          <p:cNvSpPr/>
          <p:nvPr/>
        </p:nvSpPr>
        <p:spPr>
          <a:xfrm>
            <a:off x="548640" y="2971800"/>
            <a:ext cx="3977640" cy="804672"/>
          </a:xfrm>
          <a:prstGeom prst="roundRect">
            <a:avLst/>
          </a:prstGeom>
          <a:solidFill>
            <a:srgbClr val="0D1524"/>
          </a:solidFill>
          <a:ln w="12700">
            <a:solidFill>
              <a:srgbClr val="24334C"/>
            </a:solidFill>
            <a:prstDash val="solid"/>
          </a:ln>
        </p:spPr>
      </p:sp>
      <p:sp>
        <p:nvSpPr>
          <p:cNvPr id="21" name="Text 19"/>
          <p:cNvSpPr/>
          <p:nvPr/>
        </p:nvSpPr>
        <p:spPr>
          <a:xfrm>
            <a:off x="685800" y="3063240"/>
            <a:ext cx="3703320" cy="228600"/>
          </a:xfrm>
          <a:prstGeom prst="rect">
            <a:avLst/>
          </a:prstGeom>
          <a:noFill/>
          <a:ln/>
        </p:spPr>
        <p:txBody>
          <a:bodyPr wrap="square" rtlCol="0" anchor="ctr"/>
          <a:lstStyle/>
          <a:p>
            <a:pPr indent="0" marL="0">
              <a:buNone/>
            </a:pPr>
            <a:r>
              <a:rPr lang="en-US" sz="850" b="1" dirty="0">
                <a:solidFill>
                  <a:srgbClr val="FBBF24"/>
                </a:solidFill>
                <a:latin typeface="Segoe UI" pitchFamily="34" charset="0"/>
                <a:ea typeface="Segoe UI" pitchFamily="34" charset="-122"/>
                <a:cs typeface="Segoe UI" pitchFamily="34" charset="-120"/>
              </a:rPr>
              <a:t>05. SEO Metadata &amp; Semantic Tagging</a:t>
            </a:r>
            <a:endParaRPr lang="en-US" sz="850" dirty="0"/>
          </a:p>
        </p:txBody>
      </p:sp>
      <p:sp>
        <p:nvSpPr>
          <p:cNvPr id="22" name="Text 20"/>
          <p:cNvSpPr/>
          <p:nvPr/>
        </p:nvSpPr>
        <p:spPr>
          <a:xfrm>
            <a:off x="685800" y="3319272"/>
            <a:ext cx="3703320" cy="411480"/>
          </a:xfrm>
          <a:prstGeom prst="rect">
            <a:avLst/>
          </a:prstGeom>
          <a:noFill/>
          <a:ln/>
        </p:spPr>
        <p:txBody>
          <a:bodyPr wrap="square" rtlCol="0" anchor="t"/>
          <a:lstStyle/>
          <a:p>
            <a:pPr indent="0" marL="0">
              <a:lnSpc>
                <a:spcPct val="120000"/>
              </a:lnSpc>
              <a:buNone/>
            </a:pPr>
            <a:r>
              <a:rPr lang="en-US" sz="720" dirty="0">
                <a:solidFill>
                  <a:srgbClr val="CBD5E1"/>
                </a:solidFill>
                <a:latin typeface="Segoe UI" pitchFamily="34" charset="0"/>
                <a:ea typeface="Segoe UI" pitchFamily="34" charset="-122"/>
                <a:cs typeface="Segoe UI" pitchFamily="34" charset="-120"/>
              </a:rPr>
              <a:t>Search-optimized titles, comprehensive holiday descriptions, chapter timestamps, and closed-caption transcripts.</a:t>
            </a:r>
            <a:endParaRPr lang="en-US" sz="720" dirty="0"/>
          </a:p>
        </p:txBody>
      </p:sp>
      <p:sp>
        <p:nvSpPr>
          <p:cNvPr id="23" name="Shape 21"/>
          <p:cNvSpPr/>
          <p:nvPr/>
        </p:nvSpPr>
        <p:spPr>
          <a:xfrm>
            <a:off x="4617720" y="2971800"/>
            <a:ext cx="3977640" cy="804672"/>
          </a:xfrm>
          <a:prstGeom prst="roundRect">
            <a:avLst/>
          </a:prstGeom>
          <a:solidFill>
            <a:srgbClr val="0D1524"/>
          </a:solidFill>
          <a:ln w="12700">
            <a:solidFill>
              <a:srgbClr val="24334C"/>
            </a:solidFill>
            <a:prstDash val="solid"/>
          </a:ln>
        </p:spPr>
      </p:sp>
      <p:sp>
        <p:nvSpPr>
          <p:cNvPr id="24" name="Text 22"/>
          <p:cNvSpPr/>
          <p:nvPr/>
        </p:nvSpPr>
        <p:spPr>
          <a:xfrm>
            <a:off x="4754880" y="3063240"/>
            <a:ext cx="3703320" cy="228600"/>
          </a:xfrm>
          <a:prstGeom prst="rect">
            <a:avLst/>
          </a:prstGeom>
          <a:noFill/>
          <a:ln/>
        </p:spPr>
        <p:txBody>
          <a:bodyPr wrap="square" rtlCol="0" anchor="ctr"/>
          <a:lstStyle/>
          <a:p>
            <a:pPr indent="0" marL="0">
              <a:buNone/>
            </a:pPr>
            <a:r>
              <a:rPr lang="en-US" sz="850" b="1" dirty="0">
                <a:solidFill>
                  <a:srgbClr val="FBBF24"/>
                </a:solidFill>
                <a:latin typeface="Segoe UI" pitchFamily="34" charset="0"/>
                <a:ea typeface="Segoe UI" pitchFamily="34" charset="-122"/>
                <a:cs typeface="Segoe UI" pitchFamily="34" charset="-120"/>
              </a:rPr>
              <a:t>06. Amazon Holiday Book Conversion</a:t>
            </a:r>
            <a:endParaRPr lang="en-US" sz="850" dirty="0"/>
          </a:p>
        </p:txBody>
      </p:sp>
      <p:sp>
        <p:nvSpPr>
          <p:cNvPr id="25" name="Text 23"/>
          <p:cNvSpPr/>
          <p:nvPr/>
        </p:nvSpPr>
        <p:spPr>
          <a:xfrm>
            <a:off x="4754880" y="3319272"/>
            <a:ext cx="3703320" cy="411480"/>
          </a:xfrm>
          <a:prstGeom prst="rect">
            <a:avLst/>
          </a:prstGeom>
          <a:noFill/>
          <a:ln/>
        </p:spPr>
        <p:txBody>
          <a:bodyPr wrap="square" rtlCol="0" anchor="t"/>
          <a:lstStyle/>
          <a:p>
            <a:pPr indent="0" marL="0">
              <a:lnSpc>
                <a:spcPct val="120000"/>
              </a:lnSpc>
              <a:buNone/>
            </a:pPr>
            <a:r>
              <a:rPr lang="en-US" sz="720" dirty="0">
                <a:solidFill>
                  <a:srgbClr val="CBD5E1"/>
                </a:solidFill>
                <a:latin typeface="Segoe UI" pitchFamily="34" charset="0"/>
                <a:ea typeface="Segoe UI" pitchFamily="34" charset="-122"/>
                <a:cs typeface="Segoe UI" pitchFamily="34" charset="-120"/>
              </a:rPr>
              <a:t>Pinned cards, end-screens, and tracked bio links engineered to convert video viewers into verified Amazon book purchases.</a:t>
            </a:r>
            <a:endParaRPr lang="en-US" sz="720" dirty="0"/>
          </a:p>
        </p:txBody>
      </p:sp>
      <p:sp>
        <p:nvSpPr>
          <p:cNvPr id="26" name="Shape 24"/>
          <p:cNvSpPr/>
          <p:nvPr/>
        </p:nvSpPr>
        <p:spPr>
          <a:xfrm>
            <a:off x="548640" y="3840480"/>
            <a:ext cx="3977640" cy="804672"/>
          </a:xfrm>
          <a:prstGeom prst="roundRect">
            <a:avLst/>
          </a:prstGeom>
          <a:solidFill>
            <a:srgbClr val="0D1524"/>
          </a:solidFill>
          <a:ln w="12700">
            <a:solidFill>
              <a:srgbClr val="24334C"/>
            </a:solidFill>
            <a:prstDash val="solid"/>
          </a:ln>
        </p:spPr>
      </p:sp>
      <p:sp>
        <p:nvSpPr>
          <p:cNvPr id="27" name="Text 25"/>
          <p:cNvSpPr/>
          <p:nvPr/>
        </p:nvSpPr>
        <p:spPr>
          <a:xfrm>
            <a:off x="685800" y="3931920"/>
            <a:ext cx="3703320" cy="228600"/>
          </a:xfrm>
          <a:prstGeom prst="rect">
            <a:avLst/>
          </a:prstGeom>
          <a:noFill/>
          <a:ln/>
        </p:spPr>
        <p:txBody>
          <a:bodyPr wrap="square" rtlCol="0" anchor="ctr"/>
          <a:lstStyle/>
          <a:p>
            <a:pPr indent="0" marL="0">
              <a:buNone/>
            </a:pPr>
            <a:r>
              <a:rPr lang="en-US" sz="850" b="1" dirty="0">
                <a:solidFill>
                  <a:srgbClr val="FBBF24"/>
                </a:solidFill>
                <a:latin typeface="Segoe UI" pitchFamily="34" charset="0"/>
                <a:ea typeface="Segoe UI" pitchFamily="34" charset="-122"/>
                <a:cs typeface="Segoe UI" pitchFamily="34" charset="-120"/>
              </a:rPr>
              <a:t>07. Multi-Format Master Archival</a:t>
            </a:r>
            <a:endParaRPr lang="en-US" sz="850" dirty="0"/>
          </a:p>
        </p:txBody>
      </p:sp>
      <p:sp>
        <p:nvSpPr>
          <p:cNvPr id="28" name="Text 26"/>
          <p:cNvSpPr/>
          <p:nvPr/>
        </p:nvSpPr>
        <p:spPr>
          <a:xfrm>
            <a:off x="685800" y="4187952"/>
            <a:ext cx="3703320" cy="411480"/>
          </a:xfrm>
          <a:prstGeom prst="rect">
            <a:avLst/>
          </a:prstGeom>
          <a:noFill/>
          <a:ln/>
        </p:spPr>
        <p:txBody>
          <a:bodyPr wrap="square" rtlCol="0" anchor="t"/>
          <a:lstStyle/>
          <a:p>
            <a:pPr indent="0" marL="0">
              <a:lnSpc>
                <a:spcPct val="120000"/>
              </a:lnSpc>
              <a:buNone/>
            </a:pPr>
            <a:r>
              <a:rPr lang="en-US" sz="720" dirty="0">
                <a:solidFill>
                  <a:srgbClr val="CBD5E1"/>
                </a:solidFill>
                <a:latin typeface="Segoe UI" pitchFamily="34" charset="0"/>
                <a:ea typeface="Segoe UI" pitchFamily="34" charset="-122"/>
                <a:cs typeface="Segoe UI" pitchFamily="34" charset="-120"/>
              </a:rPr>
              <a:t>Master files archived in ProRes 4444, stereo broadcast, and 5.1 surround ready for instant festival or broadcast submission.</a:t>
            </a:r>
            <a:endParaRPr lang="en-US" sz="720" dirty="0"/>
          </a:p>
        </p:txBody>
      </p:sp>
      <p:sp>
        <p:nvSpPr>
          <p:cNvPr id="29" name="Shape 27"/>
          <p:cNvSpPr/>
          <p:nvPr/>
        </p:nvSpPr>
        <p:spPr>
          <a:xfrm>
            <a:off x="4617720" y="3840480"/>
            <a:ext cx="3977640" cy="804672"/>
          </a:xfrm>
          <a:prstGeom prst="roundRect">
            <a:avLst/>
          </a:prstGeom>
          <a:solidFill>
            <a:srgbClr val="0D1524"/>
          </a:solidFill>
          <a:ln w="12700">
            <a:solidFill>
              <a:srgbClr val="24334C"/>
            </a:solidFill>
            <a:prstDash val="solid"/>
          </a:ln>
        </p:spPr>
      </p:sp>
      <p:sp>
        <p:nvSpPr>
          <p:cNvPr id="30" name="Text 28"/>
          <p:cNvSpPr/>
          <p:nvPr/>
        </p:nvSpPr>
        <p:spPr>
          <a:xfrm>
            <a:off x="4754880" y="3931920"/>
            <a:ext cx="3703320" cy="228600"/>
          </a:xfrm>
          <a:prstGeom prst="rect">
            <a:avLst/>
          </a:prstGeom>
          <a:noFill/>
          <a:ln/>
        </p:spPr>
        <p:txBody>
          <a:bodyPr wrap="square" rtlCol="0" anchor="ctr"/>
          <a:lstStyle/>
          <a:p>
            <a:pPr indent="0" marL="0">
              <a:buNone/>
            </a:pPr>
            <a:r>
              <a:rPr lang="en-US" sz="850" b="1" dirty="0">
                <a:solidFill>
                  <a:srgbClr val="FBBF24"/>
                </a:solidFill>
                <a:latin typeface="Segoe UI" pitchFamily="34" charset="0"/>
                <a:ea typeface="Segoe UI" pitchFamily="34" charset="-122"/>
                <a:cs typeface="Segoe UI" pitchFamily="34" charset="-120"/>
              </a:rPr>
              <a:t>08. Monthly Strategy Calls with Producer Ayaz</a:t>
            </a:r>
            <a:endParaRPr lang="en-US" sz="850" dirty="0"/>
          </a:p>
        </p:txBody>
      </p:sp>
      <p:sp>
        <p:nvSpPr>
          <p:cNvPr id="31" name="Text 29"/>
          <p:cNvSpPr/>
          <p:nvPr/>
        </p:nvSpPr>
        <p:spPr>
          <a:xfrm>
            <a:off x="4754880" y="4187952"/>
            <a:ext cx="3703320" cy="411480"/>
          </a:xfrm>
          <a:prstGeom prst="rect">
            <a:avLst/>
          </a:prstGeom>
          <a:noFill/>
          <a:ln/>
        </p:spPr>
        <p:txBody>
          <a:bodyPr wrap="square" rtlCol="0" anchor="t"/>
          <a:lstStyle/>
          <a:p>
            <a:pPr indent="0" marL="0">
              <a:lnSpc>
                <a:spcPct val="120000"/>
              </a:lnSpc>
              <a:buNone/>
            </a:pPr>
            <a:r>
              <a:rPr lang="en-US" sz="720" dirty="0">
                <a:solidFill>
                  <a:srgbClr val="CBD5E1"/>
                </a:solidFill>
                <a:latin typeface="Segoe UI" pitchFamily="34" charset="0"/>
                <a:ea typeface="Segoe UI" pitchFamily="34" charset="-122"/>
                <a:cs typeface="Segoe UI" pitchFamily="34" charset="-120"/>
              </a:rPr>
              <a:t>Direct video conference reviews analyzing watch time, viewer retention graphs, and upcoming seasonal holiday pushes.</a:t>
            </a:r>
            <a:endParaRPr lang="en-US" sz="7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0B12"/>
        </a:solidFill>
      </p:bgPr>
    </p:bg>
    <p:spTree>
      <p:nvGrpSpPr>
        <p:cNvPr id="1" name=""/>
        <p:cNvGrpSpPr/>
        <p:nvPr/>
      </p:nvGrpSpPr>
      <p:grpSpPr>
        <a:xfrm>
          <a:off x="0" y="0"/>
          <a:ext cx="0" cy="0"/>
          <a:chOff x="0" y="0"/>
          <a:chExt cx="0" cy="0"/>
        </a:xfrm>
      </p:grpSpPr>
      <p:sp>
        <p:nvSpPr>
          <p:cNvPr id="2" name="Shape 0"/>
          <p:cNvSpPr/>
          <p:nvPr/>
        </p:nvSpPr>
        <p:spPr>
          <a:xfrm>
            <a:off x="548640" y="320040"/>
            <a:ext cx="8046720" cy="13716"/>
          </a:xfrm>
          <a:prstGeom prst="rect">
            <a:avLst/>
          </a:prstGeom>
          <a:solidFill>
            <a:srgbClr val="24334C"/>
          </a:solidFill>
          <a:ln/>
        </p:spPr>
      </p:sp>
      <p:sp>
        <p:nvSpPr>
          <p:cNvPr id="3" name="Text 1"/>
          <p:cNvSpPr/>
          <p:nvPr/>
        </p:nvSpPr>
        <p:spPr>
          <a:xfrm>
            <a:off x="548640" y="384048"/>
            <a:ext cx="6217920" cy="201168"/>
          </a:xfrm>
          <a:prstGeom prst="rect">
            <a:avLst/>
          </a:prstGeom>
          <a:noFill/>
          <a:ln/>
        </p:spPr>
        <p:txBody>
          <a:bodyPr wrap="square" rtlCol="0" anchor="ctr"/>
          <a:lstStyle/>
          <a:p>
            <a:pPr indent="0" marL="0">
              <a:buNone/>
            </a:pPr>
            <a:r>
              <a:rPr lang="en-US" sz="800" b="1" dirty="0">
                <a:solidFill>
                  <a:srgbClr val="38BDF8"/>
                </a:solidFill>
                <a:latin typeface="Segoe UI" pitchFamily="34" charset="0"/>
                <a:ea typeface="Segoe UI" pitchFamily="34" charset="-122"/>
                <a:cs typeface="Segoe UI" pitchFamily="34" charset="-120"/>
              </a:rPr>
              <a:t>TIMELINE &amp; STUDIO GOVERNANCE</a:t>
            </a:r>
            <a:endParaRPr lang="en-US" sz="800" dirty="0"/>
          </a:p>
        </p:txBody>
      </p:sp>
      <p:sp>
        <p:nvSpPr>
          <p:cNvPr id="4" name="Text 2"/>
          <p:cNvSpPr/>
          <p:nvPr/>
        </p:nvSpPr>
        <p:spPr>
          <a:xfrm>
            <a:off x="548640" y="621792"/>
            <a:ext cx="6583680" cy="411480"/>
          </a:xfrm>
          <a:prstGeom prst="rect">
            <a:avLst/>
          </a:prstGeom>
          <a:noFill/>
          <a:ln/>
        </p:spPr>
        <p:txBody>
          <a:bodyPr wrap="square"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18-Week Production Master Timeline &amp; 24/7 SLA</a:t>
            </a:r>
            <a:endParaRPr lang="en-US" sz="1700" dirty="0"/>
          </a:p>
        </p:txBody>
      </p:sp>
      <p:sp>
        <p:nvSpPr>
          <p:cNvPr id="5" name="Shape 3"/>
          <p:cNvSpPr/>
          <p:nvPr/>
        </p:nvSpPr>
        <p:spPr>
          <a:xfrm>
            <a:off x="7132320" y="411480"/>
            <a:ext cx="1463040" cy="292608"/>
          </a:xfrm>
          <a:prstGeom prst="roundRect">
            <a:avLst/>
          </a:prstGeom>
          <a:solidFill>
            <a:srgbClr val="0D1524"/>
          </a:solidFill>
          <a:ln w="12700">
            <a:solidFill>
              <a:srgbClr val="24334C"/>
            </a:solidFill>
            <a:prstDash val="solid"/>
          </a:ln>
        </p:spPr>
      </p:sp>
      <p:sp>
        <p:nvSpPr>
          <p:cNvPr id="6" name="Text 4"/>
          <p:cNvSpPr/>
          <p:nvPr/>
        </p:nvSpPr>
        <p:spPr>
          <a:xfrm>
            <a:off x="7132320" y="411480"/>
            <a:ext cx="1463040" cy="292608"/>
          </a:xfrm>
          <a:prstGeom prst="rect">
            <a:avLst/>
          </a:prstGeom>
          <a:noFill/>
          <a:ln/>
        </p:spPr>
        <p:txBody>
          <a:bodyPr wrap="square" rtlCol="0" anchor="ctr"/>
          <a:lstStyle/>
          <a:p>
            <a:pPr algn="ctr" indent="0" marL="0">
              <a:buNone/>
            </a:pPr>
            <a:r>
              <a:rPr lang="en-US" sz="750" b="1" dirty="0">
                <a:solidFill>
                  <a:srgbClr val="FBBF24"/>
                </a:solidFill>
                <a:latin typeface="Segoe UI" pitchFamily="34" charset="0"/>
                <a:ea typeface="Segoe UI" pitchFamily="34" charset="-122"/>
                <a:cs typeface="Segoe UI" pitchFamily="34" charset="-120"/>
              </a:rPr>
              <a:t>NEO GEN STUDIOS</a:t>
            </a:r>
            <a:endParaRPr lang="en-US" sz="750" dirty="0"/>
          </a:p>
        </p:txBody>
      </p:sp>
      <p:sp>
        <p:nvSpPr>
          <p:cNvPr id="7" name="Text 5"/>
          <p:cNvSpPr/>
          <p:nvPr/>
        </p:nvSpPr>
        <p:spPr>
          <a:xfrm>
            <a:off x="548640" y="4864608"/>
            <a:ext cx="8046720" cy="182880"/>
          </a:xfrm>
          <a:prstGeom prst="rect">
            <a:avLst/>
          </a:prstGeom>
          <a:noFill/>
          <a:ln/>
        </p:spPr>
        <p:txBody>
          <a:bodyPr wrap="square" rtlCol="0" anchor="ctr"/>
          <a:lstStyle/>
          <a:p>
            <a:pPr indent="0" marL="0">
              <a:buNone/>
            </a:pPr>
            <a:r>
              <a:rPr lang="en-US" sz="750" dirty="0">
                <a:solidFill>
                  <a:srgbClr val="94A3B8"/>
                </a:solidFill>
                <a:latin typeface="Segoe UI" pitchFamily="34" charset="0"/>
                <a:ea typeface="Segoe UI" pitchFamily="34" charset="-122"/>
                <a:cs typeface="Segoe UI" pitchFamily="34" charset="-120"/>
              </a:rPr>
              <a:t>NEO GEN TECHNOLOGIES  |  ROCKY: THE ROCKEFELLER CHRISTMAS TREE  |  EXECUTIVE SOW  |  SLIDE 11</a:t>
            </a:r>
            <a:endParaRPr lang="en-US" sz="750" dirty="0"/>
          </a:p>
        </p:txBody>
      </p:sp>
      <p:sp>
        <p:nvSpPr>
          <p:cNvPr id="8" name="Shape 6"/>
          <p:cNvSpPr/>
          <p:nvPr/>
        </p:nvSpPr>
        <p:spPr>
          <a:xfrm>
            <a:off x="548640" y="1234440"/>
            <a:ext cx="1536192" cy="1691640"/>
          </a:xfrm>
          <a:prstGeom prst="roundRect">
            <a:avLst/>
          </a:prstGeom>
          <a:solidFill>
            <a:srgbClr val="0D1524"/>
          </a:solidFill>
          <a:ln w="12700">
            <a:solidFill>
              <a:srgbClr val="F59E0B"/>
            </a:solidFill>
            <a:prstDash val="solid"/>
          </a:ln>
        </p:spPr>
      </p:sp>
      <p:sp>
        <p:nvSpPr>
          <p:cNvPr id="9" name="Text 7"/>
          <p:cNvSpPr/>
          <p:nvPr/>
        </p:nvSpPr>
        <p:spPr>
          <a:xfrm>
            <a:off x="640080" y="1344168"/>
            <a:ext cx="1353312" cy="201168"/>
          </a:xfrm>
          <a:prstGeom prst="rect">
            <a:avLst/>
          </a:prstGeom>
          <a:noFill/>
          <a:ln/>
        </p:spPr>
        <p:txBody>
          <a:bodyPr wrap="square" rtlCol="0" anchor="ctr"/>
          <a:lstStyle/>
          <a:p>
            <a:pPr algn="ctr" indent="0" marL="0">
              <a:buNone/>
            </a:pPr>
            <a:r>
              <a:rPr lang="en-US" sz="750" b="1" dirty="0">
                <a:solidFill>
                  <a:srgbClr val="FBBF24"/>
                </a:solidFill>
                <a:latin typeface="Segoe UI" pitchFamily="34" charset="0"/>
                <a:ea typeface="Segoe UI" pitchFamily="34" charset="-122"/>
                <a:cs typeface="Segoe UI" pitchFamily="34" charset="-120"/>
              </a:rPr>
              <a:t>Weeks 1–4</a:t>
            </a:r>
            <a:endParaRPr lang="en-US" sz="750" dirty="0"/>
          </a:p>
        </p:txBody>
      </p:sp>
      <p:sp>
        <p:nvSpPr>
          <p:cNvPr id="10" name="Text 8"/>
          <p:cNvSpPr/>
          <p:nvPr/>
        </p:nvSpPr>
        <p:spPr>
          <a:xfrm>
            <a:off x="640080" y="1563624"/>
            <a:ext cx="1353312" cy="292608"/>
          </a:xfrm>
          <a:prstGeom prst="rect">
            <a:avLst/>
          </a:prstGeom>
          <a:noFill/>
          <a:ln/>
        </p:spPr>
        <p:txBody>
          <a:bodyPr wrap="square"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Phase 1: Inception</a:t>
            </a:r>
            <a:endParaRPr lang="en-US" sz="850" dirty="0"/>
          </a:p>
        </p:txBody>
      </p:sp>
      <p:sp>
        <p:nvSpPr>
          <p:cNvPr id="11" name="Text 9"/>
          <p:cNvSpPr/>
          <p:nvPr/>
        </p:nvSpPr>
        <p:spPr>
          <a:xfrm>
            <a:off x="640080" y="1892808"/>
            <a:ext cx="1353312" cy="960120"/>
          </a:xfrm>
          <a:prstGeom prst="rect">
            <a:avLst/>
          </a:prstGeom>
          <a:noFill/>
          <a:ln/>
        </p:spPr>
        <p:txBody>
          <a:bodyPr wrap="square" rtlCol="0" anchor="t"/>
          <a:lstStyle/>
          <a:p>
            <a:pPr indent="0" marL="0">
              <a:lnSpc>
                <a:spcPct val="120000"/>
              </a:lnSpc>
              <a:buNone/>
            </a:pPr>
            <a:r>
              <a:rPr lang="en-US" sz="720" dirty="0">
                <a:solidFill>
                  <a:srgbClr val="CBD5E1"/>
                </a:solidFill>
                <a:latin typeface="Segoe UI" pitchFamily="34" charset="0"/>
                <a:ea typeface="Segoe UI" pitchFamily="34" charset="-122"/>
                <a:cs typeface="Segoe UI" pitchFamily="34" charset="-120"/>
              </a:rPr>
              <a:t>Script breakdown, character model turnarounds, color scripts, 33-beat animatic.</a:t>
            </a:r>
            <a:endParaRPr lang="en-US" sz="720" dirty="0"/>
          </a:p>
        </p:txBody>
      </p:sp>
      <p:sp>
        <p:nvSpPr>
          <p:cNvPr id="12" name="Shape 10"/>
          <p:cNvSpPr/>
          <p:nvPr/>
        </p:nvSpPr>
        <p:spPr>
          <a:xfrm>
            <a:off x="2157984" y="1234440"/>
            <a:ext cx="1536192" cy="1691640"/>
          </a:xfrm>
          <a:prstGeom prst="roundRect">
            <a:avLst/>
          </a:prstGeom>
          <a:solidFill>
            <a:srgbClr val="0D1524"/>
          </a:solidFill>
          <a:ln w="12700">
            <a:solidFill>
              <a:srgbClr val="F59E0B"/>
            </a:solidFill>
            <a:prstDash val="solid"/>
          </a:ln>
        </p:spPr>
      </p:sp>
      <p:sp>
        <p:nvSpPr>
          <p:cNvPr id="13" name="Text 11"/>
          <p:cNvSpPr/>
          <p:nvPr/>
        </p:nvSpPr>
        <p:spPr>
          <a:xfrm>
            <a:off x="2249424" y="1344168"/>
            <a:ext cx="1353312" cy="201168"/>
          </a:xfrm>
          <a:prstGeom prst="rect">
            <a:avLst/>
          </a:prstGeom>
          <a:noFill/>
          <a:ln/>
        </p:spPr>
        <p:txBody>
          <a:bodyPr wrap="square" rtlCol="0" anchor="ctr"/>
          <a:lstStyle/>
          <a:p>
            <a:pPr algn="ctr" indent="0" marL="0">
              <a:buNone/>
            </a:pPr>
            <a:r>
              <a:rPr lang="en-US" sz="750" b="1" dirty="0">
                <a:solidFill>
                  <a:srgbClr val="FBBF24"/>
                </a:solidFill>
                <a:latin typeface="Segoe UI" pitchFamily="34" charset="0"/>
                <a:ea typeface="Segoe UI" pitchFamily="34" charset="-122"/>
                <a:cs typeface="Segoe UI" pitchFamily="34" charset="-120"/>
              </a:rPr>
              <a:t>Weeks 5–8</a:t>
            </a:r>
            <a:endParaRPr lang="en-US" sz="750" dirty="0"/>
          </a:p>
        </p:txBody>
      </p:sp>
      <p:sp>
        <p:nvSpPr>
          <p:cNvPr id="14" name="Text 12"/>
          <p:cNvSpPr/>
          <p:nvPr/>
        </p:nvSpPr>
        <p:spPr>
          <a:xfrm>
            <a:off x="2249424" y="1563624"/>
            <a:ext cx="1353312" cy="292608"/>
          </a:xfrm>
          <a:prstGeom prst="rect">
            <a:avLst/>
          </a:prstGeom>
          <a:noFill/>
          <a:ln/>
        </p:spPr>
        <p:txBody>
          <a:bodyPr wrap="square"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Phase 2: Assets</a:t>
            </a:r>
            <a:endParaRPr lang="en-US" sz="850" dirty="0"/>
          </a:p>
        </p:txBody>
      </p:sp>
      <p:sp>
        <p:nvSpPr>
          <p:cNvPr id="15" name="Text 13"/>
          <p:cNvSpPr/>
          <p:nvPr/>
        </p:nvSpPr>
        <p:spPr>
          <a:xfrm>
            <a:off x="2249424" y="1892808"/>
            <a:ext cx="1353312" cy="960120"/>
          </a:xfrm>
          <a:prstGeom prst="rect">
            <a:avLst/>
          </a:prstGeom>
          <a:noFill/>
          <a:ln/>
        </p:spPr>
        <p:txBody>
          <a:bodyPr wrap="square" rtlCol="0" anchor="t"/>
          <a:lstStyle/>
          <a:p>
            <a:pPr indent="0" marL="0">
              <a:lnSpc>
                <a:spcPct val="120000"/>
              </a:lnSpc>
              <a:buNone/>
            </a:pPr>
            <a:r>
              <a:rPr lang="en-US" sz="720" dirty="0">
                <a:solidFill>
                  <a:srgbClr val="CBD5E1"/>
                </a:solidFill>
                <a:latin typeface="Segoe UI" pitchFamily="34" charset="0"/>
                <a:ea typeface="Segoe UI" pitchFamily="34" charset="-122"/>
                <a:cs typeface="Segoe UI" pitchFamily="34" charset="-120"/>
              </a:rPr>
              <a:t>Background environment paintings, Rocky hollow, Rockefeller Plaza, character rigs.</a:t>
            </a:r>
            <a:endParaRPr lang="en-US" sz="720" dirty="0"/>
          </a:p>
        </p:txBody>
      </p:sp>
      <p:sp>
        <p:nvSpPr>
          <p:cNvPr id="16" name="Shape 14"/>
          <p:cNvSpPr/>
          <p:nvPr/>
        </p:nvSpPr>
        <p:spPr>
          <a:xfrm>
            <a:off x="3767328" y="1234440"/>
            <a:ext cx="1536192" cy="1691640"/>
          </a:xfrm>
          <a:prstGeom prst="roundRect">
            <a:avLst/>
          </a:prstGeom>
          <a:solidFill>
            <a:srgbClr val="0D1524"/>
          </a:solidFill>
          <a:ln w="12700">
            <a:solidFill>
              <a:srgbClr val="F59E0B"/>
            </a:solidFill>
            <a:prstDash val="solid"/>
          </a:ln>
        </p:spPr>
      </p:sp>
      <p:sp>
        <p:nvSpPr>
          <p:cNvPr id="17" name="Text 15"/>
          <p:cNvSpPr/>
          <p:nvPr/>
        </p:nvSpPr>
        <p:spPr>
          <a:xfrm>
            <a:off x="3858768" y="1344168"/>
            <a:ext cx="1353312" cy="201168"/>
          </a:xfrm>
          <a:prstGeom prst="rect">
            <a:avLst/>
          </a:prstGeom>
          <a:noFill/>
          <a:ln/>
        </p:spPr>
        <p:txBody>
          <a:bodyPr wrap="square" rtlCol="0" anchor="ctr"/>
          <a:lstStyle/>
          <a:p>
            <a:pPr algn="ctr" indent="0" marL="0">
              <a:buNone/>
            </a:pPr>
            <a:r>
              <a:rPr lang="en-US" sz="750" b="1" dirty="0">
                <a:solidFill>
                  <a:srgbClr val="FBBF24"/>
                </a:solidFill>
                <a:latin typeface="Segoe UI" pitchFamily="34" charset="0"/>
                <a:ea typeface="Segoe UI" pitchFamily="34" charset="-122"/>
                <a:cs typeface="Segoe UI" pitchFamily="34" charset="-120"/>
              </a:rPr>
              <a:t>Weeks 9–14</a:t>
            </a:r>
            <a:endParaRPr lang="en-US" sz="750" dirty="0"/>
          </a:p>
        </p:txBody>
      </p:sp>
      <p:sp>
        <p:nvSpPr>
          <p:cNvPr id="18" name="Text 16"/>
          <p:cNvSpPr/>
          <p:nvPr/>
        </p:nvSpPr>
        <p:spPr>
          <a:xfrm>
            <a:off x="3858768" y="1563624"/>
            <a:ext cx="1353312" cy="292608"/>
          </a:xfrm>
          <a:prstGeom prst="rect">
            <a:avLst/>
          </a:prstGeom>
          <a:noFill/>
          <a:ln/>
        </p:spPr>
        <p:txBody>
          <a:bodyPr wrap="square"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Phase 3: Animation</a:t>
            </a:r>
            <a:endParaRPr lang="en-US" sz="850" dirty="0"/>
          </a:p>
        </p:txBody>
      </p:sp>
      <p:sp>
        <p:nvSpPr>
          <p:cNvPr id="19" name="Text 17"/>
          <p:cNvSpPr/>
          <p:nvPr/>
        </p:nvSpPr>
        <p:spPr>
          <a:xfrm>
            <a:off x="3858768" y="1892808"/>
            <a:ext cx="1353312" cy="960120"/>
          </a:xfrm>
          <a:prstGeom prst="rect">
            <a:avLst/>
          </a:prstGeom>
          <a:noFill/>
          <a:ln/>
        </p:spPr>
        <p:txBody>
          <a:bodyPr wrap="square" rtlCol="0" anchor="t"/>
          <a:lstStyle/>
          <a:p>
            <a:pPr indent="0" marL="0">
              <a:lnSpc>
                <a:spcPct val="120000"/>
              </a:lnSpc>
              <a:buNone/>
            </a:pPr>
            <a:r>
              <a:rPr lang="en-US" sz="720" dirty="0">
                <a:solidFill>
                  <a:srgbClr val="CBD5E1"/>
                </a:solidFill>
                <a:latin typeface="Segoe UI" pitchFamily="34" charset="0"/>
                <a:ea typeface="Segoe UI" pitchFamily="34" charset="-122"/>
                <a:cs typeface="Segoe UI" pitchFamily="34" charset="-120"/>
              </a:rPr>
              <a:t>Full 2D animation, phoneme lip-sync, secondary needle dynamics, pencil cleanup.</a:t>
            </a:r>
            <a:endParaRPr lang="en-US" sz="720" dirty="0"/>
          </a:p>
        </p:txBody>
      </p:sp>
      <p:sp>
        <p:nvSpPr>
          <p:cNvPr id="20" name="Shape 18"/>
          <p:cNvSpPr/>
          <p:nvPr/>
        </p:nvSpPr>
        <p:spPr>
          <a:xfrm>
            <a:off x="5376672" y="1234440"/>
            <a:ext cx="1536192" cy="1691640"/>
          </a:xfrm>
          <a:prstGeom prst="roundRect">
            <a:avLst/>
          </a:prstGeom>
          <a:solidFill>
            <a:srgbClr val="0D1524"/>
          </a:solidFill>
          <a:ln w="12700">
            <a:solidFill>
              <a:srgbClr val="F59E0B"/>
            </a:solidFill>
            <a:prstDash val="solid"/>
          </a:ln>
        </p:spPr>
      </p:sp>
      <p:sp>
        <p:nvSpPr>
          <p:cNvPr id="21" name="Text 19"/>
          <p:cNvSpPr/>
          <p:nvPr/>
        </p:nvSpPr>
        <p:spPr>
          <a:xfrm>
            <a:off x="5468112" y="1344168"/>
            <a:ext cx="1353312" cy="201168"/>
          </a:xfrm>
          <a:prstGeom prst="rect">
            <a:avLst/>
          </a:prstGeom>
          <a:noFill/>
          <a:ln/>
        </p:spPr>
        <p:txBody>
          <a:bodyPr wrap="square" rtlCol="0" anchor="ctr"/>
          <a:lstStyle/>
          <a:p>
            <a:pPr algn="ctr" indent="0" marL="0">
              <a:buNone/>
            </a:pPr>
            <a:r>
              <a:rPr lang="en-US" sz="750" b="1" dirty="0">
                <a:solidFill>
                  <a:srgbClr val="FBBF24"/>
                </a:solidFill>
                <a:latin typeface="Segoe UI" pitchFamily="34" charset="0"/>
                <a:ea typeface="Segoe UI" pitchFamily="34" charset="-122"/>
                <a:cs typeface="Segoe UI" pitchFamily="34" charset="-120"/>
              </a:rPr>
              <a:t>Weeks 15–16</a:t>
            </a:r>
            <a:endParaRPr lang="en-US" sz="750" dirty="0"/>
          </a:p>
        </p:txBody>
      </p:sp>
      <p:sp>
        <p:nvSpPr>
          <p:cNvPr id="22" name="Text 20"/>
          <p:cNvSpPr/>
          <p:nvPr/>
        </p:nvSpPr>
        <p:spPr>
          <a:xfrm>
            <a:off x="5468112" y="1563624"/>
            <a:ext cx="1353312" cy="292608"/>
          </a:xfrm>
          <a:prstGeom prst="rect">
            <a:avLst/>
          </a:prstGeom>
          <a:noFill/>
          <a:ln/>
        </p:spPr>
        <p:txBody>
          <a:bodyPr wrap="square"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Phase 4: Compositing</a:t>
            </a:r>
            <a:endParaRPr lang="en-US" sz="850" dirty="0"/>
          </a:p>
        </p:txBody>
      </p:sp>
      <p:sp>
        <p:nvSpPr>
          <p:cNvPr id="23" name="Text 21"/>
          <p:cNvSpPr/>
          <p:nvPr/>
        </p:nvSpPr>
        <p:spPr>
          <a:xfrm>
            <a:off x="5468112" y="1892808"/>
            <a:ext cx="1353312" cy="960120"/>
          </a:xfrm>
          <a:prstGeom prst="rect">
            <a:avLst/>
          </a:prstGeom>
          <a:noFill/>
          <a:ln/>
        </p:spPr>
        <p:txBody>
          <a:bodyPr wrap="square" rtlCol="0" anchor="t"/>
          <a:lstStyle/>
          <a:p>
            <a:pPr indent="0" marL="0">
              <a:lnSpc>
                <a:spcPct val="120000"/>
              </a:lnSpc>
              <a:buNone/>
            </a:pPr>
            <a:r>
              <a:rPr lang="en-US" sz="720" dirty="0">
                <a:solidFill>
                  <a:srgbClr val="CBD5E1"/>
                </a:solidFill>
                <a:latin typeface="Segoe UI" pitchFamily="34" charset="0"/>
                <a:ea typeface="Segoe UI" pitchFamily="34" charset="-122"/>
                <a:cs typeface="Segoe UI" pitchFamily="34" charset="-120"/>
              </a:rPr>
              <a:t>Lighting passes, 50,000 bulb illumination glow, atmospheric snow, color grading.</a:t>
            </a:r>
            <a:endParaRPr lang="en-US" sz="720" dirty="0"/>
          </a:p>
        </p:txBody>
      </p:sp>
      <p:sp>
        <p:nvSpPr>
          <p:cNvPr id="24" name="Shape 22"/>
          <p:cNvSpPr/>
          <p:nvPr/>
        </p:nvSpPr>
        <p:spPr>
          <a:xfrm>
            <a:off x="6986016" y="1234440"/>
            <a:ext cx="1536192" cy="1691640"/>
          </a:xfrm>
          <a:prstGeom prst="roundRect">
            <a:avLst/>
          </a:prstGeom>
          <a:solidFill>
            <a:srgbClr val="0D1524"/>
          </a:solidFill>
          <a:ln w="12700">
            <a:solidFill>
              <a:srgbClr val="F59E0B"/>
            </a:solidFill>
            <a:prstDash val="solid"/>
          </a:ln>
        </p:spPr>
      </p:sp>
      <p:sp>
        <p:nvSpPr>
          <p:cNvPr id="25" name="Text 23"/>
          <p:cNvSpPr/>
          <p:nvPr/>
        </p:nvSpPr>
        <p:spPr>
          <a:xfrm>
            <a:off x="7077456" y="1344168"/>
            <a:ext cx="1353312" cy="201168"/>
          </a:xfrm>
          <a:prstGeom prst="rect">
            <a:avLst/>
          </a:prstGeom>
          <a:noFill/>
          <a:ln/>
        </p:spPr>
        <p:txBody>
          <a:bodyPr wrap="square" rtlCol="0" anchor="ctr"/>
          <a:lstStyle/>
          <a:p>
            <a:pPr algn="ctr" indent="0" marL="0">
              <a:buNone/>
            </a:pPr>
            <a:r>
              <a:rPr lang="en-US" sz="750" b="1" dirty="0">
                <a:solidFill>
                  <a:srgbClr val="FBBF24"/>
                </a:solidFill>
                <a:latin typeface="Segoe UI" pitchFamily="34" charset="0"/>
                <a:ea typeface="Segoe UI" pitchFamily="34" charset="-122"/>
                <a:cs typeface="Segoe UI" pitchFamily="34" charset="-120"/>
              </a:rPr>
              <a:t>Weeks 17–18</a:t>
            </a:r>
            <a:endParaRPr lang="en-US" sz="750" dirty="0"/>
          </a:p>
        </p:txBody>
      </p:sp>
      <p:sp>
        <p:nvSpPr>
          <p:cNvPr id="26" name="Text 24"/>
          <p:cNvSpPr/>
          <p:nvPr/>
        </p:nvSpPr>
        <p:spPr>
          <a:xfrm>
            <a:off x="7077456" y="1563624"/>
            <a:ext cx="1353312" cy="292608"/>
          </a:xfrm>
          <a:prstGeom prst="rect">
            <a:avLst/>
          </a:prstGeom>
          <a:noFill/>
          <a:ln/>
        </p:spPr>
        <p:txBody>
          <a:bodyPr wrap="square"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Phase 5: Mix &amp; Master</a:t>
            </a:r>
            <a:endParaRPr lang="en-US" sz="850" dirty="0"/>
          </a:p>
        </p:txBody>
      </p:sp>
      <p:sp>
        <p:nvSpPr>
          <p:cNvPr id="27" name="Text 25"/>
          <p:cNvSpPr/>
          <p:nvPr/>
        </p:nvSpPr>
        <p:spPr>
          <a:xfrm>
            <a:off x="7077456" y="1892808"/>
            <a:ext cx="1353312" cy="960120"/>
          </a:xfrm>
          <a:prstGeom prst="rect">
            <a:avLst/>
          </a:prstGeom>
          <a:noFill/>
          <a:ln/>
        </p:spPr>
        <p:txBody>
          <a:bodyPr wrap="square" rtlCol="0" anchor="t"/>
          <a:lstStyle/>
          <a:p>
            <a:pPr indent="0" marL="0">
              <a:lnSpc>
                <a:spcPct val="120000"/>
              </a:lnSpc>
              <a:buNone/>
            </a:pPr>
            <a:r>
              <a:rPr lang="en-US" sz="720" dirty="0">
                <a:solidFill>
                  <a:srgbClr val="CBD5E1"/>
                </a:solidFill>
                <a:latin typeface="Segoe UI" pitchFamily="34" charset="0"/>
                <a:ea typeface="Segoe UI" pitchFamily="34" charset="-122"/>
                <a:cs typeface="Segoe UI" pitchFamily="34" charset="-120"/>
              </a:rPr>
              <a:t>5.1 sound mastering, final orchestral mix, 4K ProRes archival, YouTube publishing.</a:t>
            </a:r>
            <a:endParaRPr lang="en-US" sz="720" dirty="0"/>
          </a:p>
        </p:txBody>
      </p:sp>
      <p:sp>
        <p:nvSpPr>
          <p:cNvPr id="28" name="Shape 26"/>
          <p:cNvSpPr/>
          <p:nvPr/>
        </p:nvSpPr>
        <p:spPr>
          <a:xfrm>
            <a:off x="548640" y="3063240"/>
            <a:ext cx="3931920" cy="1645920"/>
          </a:xfrm>
          <a:prstGeom prst="roundRect">
            <a:avLst/>
          </a:prstGeom>
          <a:solidFill>
            <a:srgbClr val="0D1524"/>
          </a:solidFill>
          <a:ln w="15240">
            <a:solidFill>
              <a:srgbClr val="0088FF"/>
            </a:solidFill>
            <a:prstDash val="solid"/>
          </a:ln>
        </p:spPr>
      </p:sp>
      <p:sp>
        <p:nvSpPr>
          <p:cNvPr id="29" name="Text 27"/>
          <p:cNvSpPr/>
          <p:nvPr/>
        </p:nvSpPr>
        <p:spPr>
          <a:xfrm>
            <a:off x="731520" y="3182112"/>
            <a:ext cx="3566160" cy="201168"/>
          </a:xfrm>
          <a:prstGeom prst="rect">
            <a:avLst/>
          </a:prstGeom>
          <a:noFill/>
          <a:ln/>
        </p:spPr>
        <p:txBody>
          <a:bodyPr wrap="square" rtlCol="0" anchor="ctr"/>
          <a:lstStyle/>
          <a:p>
            <a:pPr indent="0" marL="0">
              <a:buNone/>
            </a:pPr>
            <a:r>
              <a:rPr lang="en-US" sz="800" b="1" dirty="0">
                <a:solidFill>
                  <a:srgbClr val="38BDF8"/>
                </a:solidFill>
                <a:latin typeface="Segoe UI" pitchFamily="34" charset="0"/>
                <a:ea typeface="Segoe UI" pitchFamily="34" charset="-122"/>
                <a:cs typeface="Segoe UI" pitchFamily="34" charset="-120"/>
              </a:rPr>
              <a:t>24/7 PRODUCTION SLA &amp; DIRECT ACCESS</a:t>
            </a:r>
            <a:endParaRPr lang="en-US" sz="800" dirty="0"/>
          </a:p>
        </p:txBody>
      </p:sp>
      <p:sp>
        <p:nvSpPr>
          <p:cNvPr id="30" name="Text 28"/>
          <p:cNvSpPr/>
          <p:nvPr/>
        </p:nvSpPr>
        <p:spPr>
          <a:xfrm>
            <a:off x="731520" y="3401568"/>
            <a:ext cx="3566160" cy="32004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Direct Account Management with Producer Ayaz</a:t>
            </a:r>
            <a:endParaRPr lang="en-US" sz="1100" dirty="0"/>
          </a:p>
        </p:txBody>
      </p:sp>
      <p:sp>
        <p:nvSpPr>
          <p:cNvPr id="31" name="Text 29"/>
          <p:cNvSpPr/>
          <p:nvPr/>
        </p:nvSpPr>
        <p:spPr>
          <a:xfrm>
            <a:off x="731520" y="3767328"/>
            <a:ext cx="3566160" cy="868680"/>
          </a:xfrm>
          <a:prstGeom prst="rect">
            <a:avLst/>
          </a:prstGeom>
          <a:noFill/>
          <a:ln/>
        </p:spPr>
        <p:txBody>
          <a:bodyPr wrap="square" rtlCol="0" anchor="t"/>
          <a:lstStyle/>
          <a:p>
            <a:pPr indent="0" marL="0">
              <a:lnSpc>
                <a:spcPct val="125000"/>
              </a:lnSpc>
              <a:buNone/>
            </a:pPr>
            <a:r>
              <a:rPr lang="en-US" sz="750" dirty="0">
                <a:solidFill>
                  <a:srgbClr val="CBD5E1"/>
                </a:solidFill>
                <a:latin typeface="Segoe UI" pitchFamily="34" charset="0"/>
                <a:ea typeface="Segoe UI" pitchFamily="34" charset="-122"/>
                <a:cs typeface="Segoe UI" pitchFamily="34" charset="-120"/>
              </a:rPr>
              <a:t>• Dedicated private Slack/Discord studio channel for real-time production queries</a:t>
            </a:r>
            <a:endParaRPr lang="en-US" sz="750" dirty="0"/>
          </a:p>
          <a:p>
            <a:pPr indent="0" marL="0">
              <a:lnSpc>
                <a:spcPct val="125000"/>
              </a:lnSpc>
              <a:buNone/>
            </a:pPr>
            <a:r>
              <a:rPr lang="en-US" sz="750" dirty="0">
                <a:solidFill>
                  <a:srgbClr val="CBD5E1"/>
                </a:solidFill>
                <a:latin typeface="Segoe UI" pitchFamily="34" charset="0"/>
                <a:ea typeface="Segoe UI" pitchFamily="34" charset="-122"/>
                <a:cs typeface="Segoe UI" pitchFamily="34" charset="-120"/>
              </a:rPr>
              <a:t>• Weekly synchronous sprint video reviews with screen-share animatics</a:t>
            </a:r>
            <a:endParaRPr lang="en-US" sz="750" dirty="0"/>
          </a:p>
          <a:p>
            <a:pPr indent="0" marL="0">
              <a:lnSpc>
                <a:spcPct val="125000"/>
              </a:lnSpc>
              <a:buNone/>
            </a:pPr>
            <a:r>
              <a:rPr lang="en-US" sz="750" dirty="0">
                <a:solidFill>
                  <a:srgbClr val="CBD5E1"/>
                </a:solidFill>
                <a:latin typeface="Segoe UI" pitchFamily="34" charset="0"/>
                <a:ea typeface="Segoe UI" pitchFamily="34" charset="-122"/>
                <a:cs typeface="Segoe UI" pitchFamily="34" charset="-120"/>
              </a:rPr>
              <a:t>• Maximum 4-hour response SLA on all production feedback and inquiries</a:t>
            </a:r>
            <a:endParaRPr lang="en-US" sz="750" dirty="0"/>
          </a:p>
          <a:p>
            <a:pPr indent="0" marL="0">
              <a:lnSpc>
                <a:spcPct val="125000"/>
              </a:lnSpc>
              <a:buNone/>
            </a:pPr>
            <a:r>
              <a:rPr lang="en-US" sz="750" dirty="0">
                <a:solidFill>
                  <a:srgbClr val="CBD5E1"/>
                </a:solidFill>
                <a:latin typeface="Segoe UI" pitchFamily="34" charset="0"/>
                <a:ea typeface="Segoe UI" pitchFamily="34" charset="-122"/>
                <a:cs typeface="Segoe UI" pitchFamily="34" charset="-120"/>
              </a:rPr>
              <a:t>• Direct email access: ayaz@neogentechnologies.com</a:t>
            </a:r>
            <a:endParaRPr lang="en-US" sz="750" dirty="0"/>
          </a:p>
        </p:txBody>
      </p:sp>
      <p:sp>
        <p:nvSpPr>
          <p:cNvPr id="32" name="Shape 30"/>
          <p:cNvSpPr/>
          <p:nvPr/>
        </p:nvSpPr>
        <p:spPr>
          <a:xfrm>
            <a:off x="4663440" y="3063240"/>
            <a:ext cx="3931920" cy="1645920"/>
          </a:xfrm>
          <a:prstGeom prst="roundRect">
            <a:avLst/>
          </a:prstGeom>
          <a:solidFill>
            <a:srgbClr val="0D1524"/>
          </a:solidFill>
          <a:ln w="15240">
            <a:solidFill>
              <a:srgbClr val="10B981"/>
            </a:solidFill>
            <a:prstDash val="solid"/>
          </a:ln>
        </p:spPr>
      </p:sp>
      <p:sp>
        <p:nvSpPr>
          <p:cNvPr id="33" name="Text 31"/>
          <p:cNvSpPr/>
          <p:nvPr/>
        </p:nvSpPr>
        <p:spPr>
          <a:xfrm>
            <a:off x="4846320" y="3182112"/>
            <a:ext cx="3566160" cy="201168"/>
          </a:xfrm>
          <a:prstGeom prst="rect">
            <a:avLst/>
          </a:prstGeom>
          <a:noFill/>
          <a:ln/>
        </p:spPr>
        <p:txBody>
          <a:bodyPr wrap="square" rtlCol="0" anchor="ctr"/>
          <a:lstStyle/>
          <a:p>
            <a:pPr indent="0" marL="0">
              <a:buNone/>
            </a:pPr>
            <a:r>
              <a:rPr lang="en-US" sz="800" b="1" dirty="0">
                <a:solidFill>
                  <a:srgbClr val="6EE7B7"/>
                </a:solidFill>
                <a:latin typeface="Segoe UI" pitchFamily="34" charset="0"/>
                <a:ea typeface="Segoe UI" pitchFamily="34" charset="-122"/>
                <a:cs typeface="Segoe UI" pitchFamily="34" charset="-120"/>
              </a:rPr>
              <a:t>REVISION GATES &amp; CLIENT CREATIVE CONTROL</a:t>
            </a:r>
            <a:endParaRPr lang="en-US" sz="800" dirty="0"/>
          </a:p>
        </p:txBody>
      </p:sp>
      <p:sp>
        <p:nvSpPr>
          <p:cNvPr id="34" name="Text 32"/>
          <p:cNvSpPr/>
          <p:nvPr/>
        </p:nvSpPr>
        <p:spPr>
          <a:xfrm>
            <a:off x="4846320" y="3401568"/>
            <a:ext cx="3566160" cy="32004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Guaranteed Milestone Approvals</a:t>
            </a:r>
            <a:endParaRPr lang="en-US" sz="1100" dirty="0"/>
          </a:p>
        </p:txBody>
      </p:sp>
      <p:sp>
        <p:nvSpPr>
          <p:cNvPr id="35" name="Text 33"/>
          <p:cNvSpPr/>
          <p:nvPr/>
        </p:nvSpPr>
        <p:spPr>
          <a:xfrm>
            <a:off x="4846320" y="3767328"/>
            <a:ext cx="3566160" cy="868680"/>
          </a:xfrm>
          <a:prstGeom prst="rect">
            <a:avLst/>
          </a:prstGeom>
          <a:noFill/>
          <a:ln/>
        </p:spPr>
        <p:txBody>
          <a:bodyPr wrap="square" rtlCol="0" anchor="t"/>
          <a:lstStyle/>
          <a:p>
            <a:pPr indent="0" marL="0">
              <a:lnSpc>
                <a:spcPct val="125000"/>
              </a:lnSpc>
              <a:buNone/>
            </a:pPr>
            <a:r>
              <a:rPr lang="en-US" sz="750" dirty="0">
                <a:solidFill>
                  <a:srgbClr val="CBD5E1"/>
                </a:solidFill>
                <a:latin typeface="Segoe UI" pitchFamily="34" charset="0"/>
                <a:ea typeface="Segoe UI" pitchFamily="34" charset="-122"/>
                <a:cs typeface="Segoe UI" pitchFamily="34" charset="-120"/>
              </a:rPr>
              <a:t>• Two comprehensive revision rounds included per milestone phase</a:t>
            </a:r>
            <a:endParaRPr lang="en-US" sz="750" dirty="0"/>
          </a:p>
          <a:p>
            <a:pPr indent="0" marL="0">
              <a:lnSpc>
                <a:spcPct val="125000"/>
              </a:lnSpc>
              <a:buNone/>
            </a:pPr>
            <a:r>
              <a:rPr lang="en-US" sz="750" dirty="0">
                <a:solidFill>
                  <a:srgbClr val="CBD5E1"/>
                </a:solidFill>
                <a:latin typeface="Segoe UI" pitchFamily="34" charset="0"/>
                <a:ea typeface="Segoe UI" pitchFamily="34" charset="-122"/>
                <a:cs typeface="Segoe UI" pitchFamily="34" charset="-120"/>
              </a:rPr>
              <a:t>• No work progresses to subsequent phase without Jennie Nicassio's formal sign-off</a:t>
            </a:r>
            <a:endParaRPr lang="en-US" sz="750" dirty="0"/>
          </a:p>
          <a:p>
            <a:pPr indent="0" marL="0">
              <a:lnSpc>
                <a:spcPct val="125000"/>
              </a:lnSpc>
              <a:buNone/>
            </a:pPr>
            <a:r>
              <a:rPr lang="en-US" sz="750" dirty="0">
                <a:solidFill>
                  <a:srgbClr val="CBD5E1"/>
                </a:solidFill>
                <a:latin typeface="Segoe UI" pitchFamily="34" charset="0"/>
                <a:ea typeface="Segoe UI" pitchFamily="34" charset="-122"/>
                <a:cs typeface="Segoe UI" pitchFamily="34" charset="-120"/>
              </a:rPr>
              <a:t>• Complete intellectual property ownership retained 100% by the creator</a:t>
            </a:r>
            <a:endParaRPr lang="en-US" sz="750" dirty="0"/>
          </a:p>
          <a:p>
            <a:pPr indent="0" marL="0">
              <a:lnSpc>
                <a:spcPct val="125000"/>
              </a:lnSpc>
              <a:buNone/>
            </a:pPr>
            <a:r>
              <a:rPr lang="en-US" sz="750" dirty="0">
                <a:solidFill>
                  <a:srgbClr val="CBD5E1"/>
                </a:solidFill>
                <a:latin typeface="Segoe UI" pitchFamily="34" charset="0"/>
                <a:ea typeface="Segoe UI" pitchFamily="34" charset="-122"/>
                <a:cs typeface="Segoe UI" pitchFamily="34" charset="-120"/>
              </a:rPr>
              <a:t>• All raw source files (Toon Boom, Pro Tools, DaVinci) provided upon master delivery</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0B12"/>
        </a:solidFill>
      </p:bgPr>
    </p:bg>
    <p:spTree>
      <p:nvGrpSpPr>
        <p:cNvPr id="1" name=""/>
        <p:cNvGrpSpPr/>
        <p:nvPr/>
      </p:nvGrpSpPr>
      <p:grpSpPr>
        <a:xfrm>
          <a:off x="0" y="0"/>
          <a:ext cx="0" cy="0"/>
          <a:chOff x="0" y="0"/>
          <a:chExt cx="0" cy="0"/>
        </a:xfrm>
      </p:grpSpPr>
      <p:sp>
        <p:nvSpPr>
          <p:cNvPr id="2" name="Shape 0"/>
          <p:cNvSpPr/>
          <p:nvPr/>
        </p:nvSpPr>
        <p:spPr>
          <a:xfrm>
            <a:off x="548640" y="320040"/>
            <a:ext cx="8046720" cy="13716"/>
          </a:xfrm>
          <a:prstGeom prst="rect">
            <a:avLst/>
          </a:prstGeom>
          <a:solidFill>
            <a:srgbClr val="24334C"/>
          </a:solidFill>
          <a:ln/>
        </p:spPr>
      </p:sp>
      <p:sp>
        <p:nvSpPr>
          <p:cNvPr id="3" name="Text 1"/>
          <p:cNvSpPr/>
          <p:nvPr/>
        </p:nvSpPr>
        <p:spPr>
          <a:xfrm>
            <a:off x="548640" y="384048"/>
            <a:ext cx="6217920" cy="201168"/>
          </a:xfrm>
          <a:prstGeom prst="rect">
            <a:avLst/>
          </a:prstGeom>
          <a:noFill/>
          <a:ln/>
        </p:spPr>
        <p:txBody>
          <a:bodyPr wrap="square" rtlCol="0" anchor="ctr"/>
          <a:lstStyle/>
          <a:p>
            <a:pPr indent="0" marL="0">
              <a:buNone/>
            </a:pPr>
            <a:r>
              <a:rPr lang="en-US" sz="800" b="1" dirty="0">
                <a:solidFill>
                  <a:srgbClr val="38BDF8"/>
                </a:solidFill>
                <a:latin typeface="Segoe UI" pitchFamily="34" charset="0"/>
                <a:ea typeface="Segoe UI" pitchFamily="34" charset="-122"/>
                <a:cs typeface="Segoe UI" pitchFamily="34" charset="-120"/>
              </a:rPr>
              <a:t>EXECUTIVE ACCEPTANCE &amp; BINDING AGREEMENT</a:t>
            </a:r>
            <a:endParaRPr lang="en-US" sz="800" dirty="0"/>
          </a:p>
        </p:txBody>
      </p:sp>
      <p:sp>
        <p:nvSpPr>
          <p:cNvPr id="4" name="Text 2"/>
          <p:cNvSpPr/>
          <p:nvPr/>
        </p:nvSpPr>
        <p:spPr>
          <a:xfrm>
            <a:off x="548640" y="621792"/>
            <a:ext cx="6583680" cy="411480"/>
          </a:xfrm>
          <a:prstGeom prst="rect">
            <a:avLst/>
          </a:prstGeom>
          <a:noFill/>
          <a:ln/>
        </p:spPr>
        <p:txBody>
          <a:bodyPr wrap="square"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Official Scope of Work Authorization &amp; Sign-Off</a:t>
            </a:r>
            <a:endParaRPr lang="en-US" sz="1700" dirty="0"/>
          </a:p>
        </p:txBody>
      </p:sp>
      <p:sp>
        <p:nvSpPr>
          <p:cNvPr id="5" name="Shape 3"/>
          <p:cNvSpPr/>
          <p:nvPr/>
        </p:nvSpPr>
        <p:spPr>
          <a:xfrm>
            <a:off x="7132320" y="411480"/>
            <a:ext cx="1463040" cy="292608"/>
          </a:xfrm>
          <a:prstGeom prst="roundRect">
            <a:avLst/>
          </a:prstGeom>
          <a:solidFill>
            <a:srgbClr val="0D1524"/>
          </a:solidFill>
          <a:ln w="12700">
            <a:solidFill>
              <a:srgbClr val="24334C"/>
            </a:solidFill>
            <a:prstDash val="solid"/>
          </a:ln>
        </p:spPr>
      </p:sp>
      <p:sp>
        <p:nvSpPr>
          <p:cNvPr id="6" name="Text 4"/>
          <p:cNvSpPr/>
          <p:nvPr/>
        </p:nvSpPr>
        <p:spPr>
          <a:xfrm>
            <a:off x="7132320" y="411480"/>
            <a:ext cx="1463040" cy="292608"/>
          </a:xfrm>
          <a:prstGeom prst="rect">
            <a:avLst/>
          </a:prstGeom>
          <a:noFill/>
          <a:ln/>
        </p:spPr>
        <p:txBody>
          <a:bodyPr wrap="square" rtlCol="0" anchor="ctr"/>
          <a:lstStyle/>
          <a:p>
            <a:pPr algn="ctr" indent="0" marL="0">
              <a:buNone/>
            </a:pPr>
            <a:r>
              <a:rPr lang="en-US" sz="750" b="1" dirty="0">
                <a:solidFill>
                  <a:srgbClr val="FBBF24"/>
                </a:solidFill>
                <a:latin typeface="Segoe UI" pitchFamily="34" charset="0"/>
                <a:ea typeface="Segoe UI" pitchFamily="34" charset="-122"/>
                <a:cs typeface="Segoe UI" pitchFamily="34" charset="-120"/>
              </a:rPr>
              <a:t>NEO GEN STUDIOS</a:t>
            </a:r>
            <a:endParaRPr lang="en-US" sz="750" dirty="0"/>
          </a:p>
        </p:txBody>
      </p:sp>
      <p:sp>
        <p:nvSpPr>
          <p:cNvPr id="7" name="Text 5"/>
          <p:cNvSpPr/>
          <p:nvPr/>
        </p:nvSpPr>
        <p:spPr>
          <a:xfrm>
            <a:off x="548640" y="4864608"/>
            <a:ext cx="8046720" cy="182880"/>
          </a:xfrm>
          <a:prstGeom prst="rect">
            <a:avLst/>
          </a:prstGeom>
          <a:noFill/>
          <a:ln/>
        </p:spPr>
        <p:txBody>
          <a:bodyPr wrap="square" rtlCol="0" anchor="ctr"/>
          <a:lstStyle/>
          <a:p>
            <a:pPr indent="0" marL="0">
              <a:buNone/>
            </a:pPr>
            <a:r>
              <a:rPr lang="en-US" sz="750" dirty="0">
                <a:solidFill>
                  <a:srgbClr val="94A3B8"/>
                </a:solidFill>
                <a:latin typeface="Segoe UI" pitchFamily="34" charset="0"/>
                <a:ea typeface="Segoe UI" pitchFamily="34" charset="-122"/>
                <a:cs typeface="Segoe UI" pitchFamily="34" charset="-120"/>
              </a:rPr>
              <a:t>NEO GEN TECHNOLOGIES  |  ROCKY: THE ROCKEFELLER CHRISTMAS TREE  |  EXECUTIVE SOW  |  SLIDE 12</a:t>
            </a:r>
            <a:endParaRPr lang="en-US" sz="750" dirty="0"/>
          </a:p>
        </p:txBody>
      </p:sp>
      <p:sp>
        <p:nvSpPr>
          <p:cNvPr id="8" name="Text 6"/>
          <p:cNvSpPr/>
          <p:nvPr/>
        </p:nvSpPr>
        <p:spPr>
          <a:xfrm>
            <a:off x="548640" y="1234440"/>
            <a:ext cx="8046720" cy="411480"/>
          </a:xfrm>
          <a:prstGeom prst="rect">
            <a:avLst/>
          </a:prstGeom>
          <a:noFill/>
          <a:ln/>
        </p:spPr>
        <p:txBody>
          <a:bodyPr wrap="square" rtlCol="0" anchor="ctr"/>
          <a:lstStyle/>
          <a:p>
            <a:pPr indent="0" marL="0">
              <a:lnSpc>
                <a:spcPct val="125000"/>
              </a:lnSpc>
              <a:buNone/>
            </a:pPr>
            <a:r>
              <a:rPr lang="en-US" sz="820" dirty="0">
                <a:solidFill>
                  <a:srgbClr val="CBD5E1"/>
                </a:solidFill>
                <a:latin typeface="Segoe UI" pitchFamily="34" charset="0"/>
                <a:ea typeface="Segoe UI" pitchFamily="34" charset="-122"/>
                <a:cs typeface="Segoe UI" pitchFamily="34" charset="-120"/>
              </a:rPr>
              <a:t>This document represents the formal Scope of Work and Production Master Agreement between Jennie E. Nicassio and Neo Gen Technologies. Upon mutual countersignature, production will initiate in accordance with the 18-week master schedule.</a:t>
            </a:r>
            <a:endParaRPr lang="en-US" sz="820" dirty="0"/>
          </a:p>
        </p:txBody>
      </p:sp>
      <p:sp>
        <p:nvSpPr>
          <p:cNvPr id="9" name="Shape 7"/>
          <p:cNvSpPr/>
          <p:nvPr/>
        </p:nvSpPr>
        <p:spPr>
          <a:xfrm>
            <a:off x="548640" y="1737360"/>
            <a:ext cx="3931920" cy="2926080"/>
          </a:xfrm>
          <a:prstGeom prst="roundRect">
            <a:avLst/>
          </a:prstGeom>
          <a:solidFill>
            <a:srgbClr val="0D1524"/>
          </a:solidFill>
          <a:ln w="15240">
            <a:solidFill>
              <a:srgbClr val="F59E0B"/>
            </a:solidFill>
            <a:prstDash val="solid"/>
          </a:ln>
        </p:spPr>
      </p:sp>
      <p:sp>
        <p:nvSpPr>
          <p:cNvPr id="10" name="Text 8"/>
          <p:cNvSpPr/>
          <p:nvPr/>
        </p:nvSpPr>
        <p:spPr>
          <a:xfrm>
            <a:off x="777240" y="1874520"/>
            <a:ext cx="3474720" cy="228600"/>
          </a:xfrm>
          <a:prstGeom prst="rect">
            <a:avLst/>
          </a:prstGeom>
          <a:noFill/>
          <a:ln/>
        </p:spPr>
        <p:txBody>
          <a:bodyPr wrap="square" rtlCol="0" anchor="ctr"/>
          <a:lstStyle/>
          <a:p>
            <a:pPr indent="0" marL="0">
              <a:buNone/>
            </a:pPr>
            <a:r>
              <a:rPr lang="en-US" sz="850" b="1" dirty="0">
                <a:solidFill>
                  <a:srgbClr val="FBBF24"/>
                </a:solidFill>
                <a:latin typeface="Segoe UI" pitchFamily="34" charset="0"/>
                <a:ea typeface="Segoe UI" pitchFamily="34" charset="-122"/>
                <a:cs typeface="Segoe UI" pitchFamily="34" charset="-120"/>
              </a:rPr>
              <a:t>CLIENT AUTHORIZATION &amp; ACCEPTANCE</a:t>
            </a:r>
            <a:endParaRPr lang="en-US" sz="850" dirty="0"/>
          </a:p>
        </p:txBody>
      </p:sp>
      <p:sp>
        <p:nvSpPr>
          <p:cNvPr id="11" name="Shape 9"/>
          <p:cNvSpPr/>
          <p:nvPr/>
        </p:nvSpPr>
        <p:spPr>
          <a:xfrm>
            <a:off x="777240" y="2971800"/>
            <a:ext cx="3474720" cy="13716"/>
          </a:xfrm>
          <a:prstGeom prst="rect">
            <a:avLst/>
          </a:prstGeom>
          <a:solidFill>
            <a:srgbClr val="4B5563"/>
          </a:solidFill>
          <a:ln/>
        </p:spPr>
      </p:sp>
      <p:sp>
        <p:nvSpPr>
          <p:cNvPr id="12" name="Text 10"/>
          <p:cNvSpPr/>
          <p:nvPr/>
        </p:nvSpPr>
        <p:spPr>
          <a:xfrm>
            <a:off x="777240" y="3017520"/>
            <a:ext cx="3474720" cy="182880"/>
          </a:xfrm>
          <a:prstGeom prst="rect">
            <a:avLst/>
          </a:prstGeom>
          <a:noFill/>
          <a:ln/>
        </p:spPr>
        <p:txBody>
          <a:bodyPr wrap="square" rtlCol="0" anchor="ctr"/>
          <a:lstStyle/>
          <a:p>
            <a:pPr indent="0" marL="0">
              <a:buNone/>
            </a:pPr>
            <a:r>
              <a:rPr lang="en-US" sz="700" dirty="0">
                <a:solidFill>
                  <a:srgbClr val="94A3B8"/>
                </a:solidFill>
                <a:latin typeface="Segoe UI" pitchFamily="34" charset="0"/>
                <a:ea typeface="Segoe UI" pitchFamily="34" charset="-122"/>
                <a:cs typeface="Segoe UI" pitchFamily="34" charset="-120"/>
              </a:rPr>
              <a:t>Authorized Signature Line</a:t>
            </a:r>
            <a:endParaRPr lang="en-US" sz="700" dirty="0"/>
          </a:p>
        </p:txBody>
      </p:sp>
      <p:sp>
        <p:nvSpPr>
          <p:cNvPr id="13" name="Text 11"/>
          <p:cNvSpPr/>
          <p:nvPr/>
        </p:nvSpPr>
        <p:spPr>
          <a:xfrm>
            <a:off x="777240" y="3291840"/>
            <a:ext cx="3474720" cy="32004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Jennie E. Nicassio</a:t>
            </a:r>
            <a:endParaRPr lang="en-US" sz="1200" dirty="0"/>
          </a:p>
        </p:txBody>
      </p:sp>
      <p:sp>
        <p:nvSpPr>
          <p:cNvPr id="14" name="Text 12"/>
          <p:cNvSpPr/>
          <p:nvPr/>
        </p:nvSpPr>
        <p:spPr>
          <a:xfrm>
            <a:off x="777240" y="3657600"/>
            <a:ext cx="3474720" cy="868680"/>
          </a:xfrm>
          <a:prstGeom prst="rect">
            <a:avLst/>
          </a:prstGeom>
          <a:noFill/>
          <a:ln/>
        </p:spPr>
        <p:txBody>
          <a:bodyPr wrap="square" rtlCol="0" anchor="t"/>
          <a:lstStyle/>
          <a:p>
            <a:pPr indent="0" marL="0">
              <a:lnSpc>
                <a:spcPct val="130000"/>
              </a:lnSpc>
              <a:buNone/>
            </a:pPr>
            <a:r>
              <a:rPr lang="en-US" sz="800" dirty="0">
                <a:solidFill>
                  <a:srgbClr val="CBD5E1"/>
                </a:solidFill>
                <a:latin typeface="Segoe UI" pitchFamily="34" charset="0"/>
                <a:ea typeface="Segoe UI" pitchFamily="34" charset="-122"/>
                <a:cs typeface="Segoe UI" pitchFamily="34" charset="-120"/>
              </a:rPr>
              <a:t>Author, Creator &amp; Screenwriter</a:t>
            </a:r>
            <a:endParaRPr lang="en-US" sz="800" dirty="0"/>
          </a:p>
          <a:p>
            <a:pPr indent="0" marL="0">
              <a:lnSpc>
                <a:spcPct val="130000"/>
              </a:lnSpc>
              <a:buNone/>
            </a:pPr>
            <a:r>
              <a:rPr lang="en-US" sz="800" dirty="0">
                <a:solidFill>
                  <a:srgbClr val="CBD5E1"/>
                </a:solidFill>
                <a:latin typeface="Segoe UI" pitchFamily="34" charset="0"/>
                <a:ea typeface="Segoe UI" pitchFamily="34" charset="-122"/>
                <a:cs typeface="Segoe UI" pitchFamily="34" charset="-120"/>
              </a:rPr>
              <a:t>ROCKY: THE ROCKEFELLER CHRISTMAS TREE</a:t>
            </a:r>
            <a:endParaRPr lang="en-US" sz="800" dirty="0"/>
          </a:p>
          <a:p>
            <a:pPr indent="0" marL="0">
              <a:lnSpc>
                <a:spcPct val="130000"/>
              </a:lnSpc>
              <a:buNone/>
            </a:pPr>
            <a:r>
              <a:rPr lang="en-US" sz="800" dirty="0">
                <a:solidFill>
                  <a:srgbClr val="CBD5E1"/>
                </a:solidFill>
                <a:latin typeface="Segoe UI" pitchFamily="34" charset="0"/>
                <a:ea typeface="Segoe UI" pitchFamily="34" charset="-122"/>
                <a:cs typeface="Segoe UI" pitchFamily="34" charset="-120"/>
              </a:rPr>
              <a:t>Direct Email: Jennie3963@gmail.com</a:t>
            </a:r>
            <a:endParaRPr lang="en-US" sz="800" dirty="0"/>
          </a:p>
          <a:p>
            <a:pPr indent="0" marL="0">
              <a:lnSpc>
                <a:spcPct val="130000"/>
              </a:lnSpc>
              <a:buNone/>
            </a:pPr>
            <a:r>
              <a:rPr lang="en-US" sz="800" dirty="0">
                <a:solidFill>
                  <a:srgbClr val="CBD5E1"/>
                </a:solidFill>
                <a:latin typeface="Segoe UI" pitchFamily="34" charset="0"/>
                <a:ea typeface="Segoe UI" pitchFamily="34" charset="-122"/>
                <a:cs typeface="Segoe UI" pitchFamily="34" charset="-120"/>
              </a:rPr>
              <a:t>Date: ____________________________________</a:t>
            </a:r>
            <a:endParaRPr lang="en-US" sz="800" dirty="0"/>
          </a:p>
        </p:txBody>
      </p:sp>
      <p:sp>
        <p:nvSpPr>
          <p:cNvPr id="15" name="Shape 13"/>
          <p:cNvSpPr/>
          <p:nvPr/>
        </p:nvSpPr>
        <p:spPr>
          <a:xfrm>
            <a:off x="4663440" y="1737360"/>
            <a:ext cx="3931920" cy="2926080"/>
          </a:xfrm>
          <a:prstGeom prst="roundRect">
            <a:avLst/>
          </a:prstGeom>
          <a:solidFill>
            <a:srgbClr val="0D1524"/>
          </a:solidFill>
          <a:ln w="15240">
            <a:solidFill>
              <a:srgbClr val="0088FF"/>
            </a:solidFill>
            <a:prstDash val="solid"/>
          </a:ln>
        </p:spPr>
      </p:sp>
      <p:sp>
        <p:nvSpPr>
          <p:cNvPr id="16" name="Text 14"/>
          <p:cNvSpPr/>
          <p:nvPr/>
        </p:nvSpPr>
        <p:spPr>
          <a:xfrm>
            <a:off x="4892040" y="1874520"/>
            <a:ext cx="3474720" cy="228600"/>
          </a:xfrm>
          <a:prstGeom prst="rect">
            <a:avLst/>
          </a:prstGeom>
          <a:noFill/>
          <a:ln/>
        </p:spPr>
        <p:txBody>
          <a:bodyPr wrap="square" rtlCol="0" anchor="ctr"/>
          <a:lstStyle/>
          <a:p>
            <a:pPr indent="0" marL="0">
              <a:buNone/>
            </a:pPr>
            <a:r>
              <a:rPr lang="en-US" sz="850" b="1" dirty="0">
                <a:solidFill>
                  <a:srgbClr val="38BDF8"/>
                </a:solidFill>
                <a:latin typeface="Segoe UI" pitchFamily="34" charset="0"/>
                <a:ea typeface="Segoe UI" pitchFamily="34" charset="-122"/>
                <a:cs typeface="Segoe UI" pitchFamily="34" charset="-120"/>
              </a:rPr>
              <a:t>AGENCY COUNTERSIGNATURE &amp; ACCEPTANCE</a:t>
            </a:r>
            <a:endParaRPr lang="en-US" sz="850" dirty="0"/>
          </a:p>
        </p:txBody>
      </p:sp>
      <p:sp>
        <p:nvSpPr>
          <p:cNvPr id="17" name="Shape 15"/>
          <p:cNvSpPr/>
          <p:nvPr/>
        </p:nvSpPr>
        <p:spPr>
          <a:xfrm>
            <a:off x="4892040" y="2971800"/>
            <a:ext cx="3474720" cy="13716"/>
          </a:xfrm>
          <a:prstGeom prst="rect">
            <a:avLst/>
          </a:prstGeom>
          <a:solidFill>
            <a:srgbClr val="4B5563"/>
          </a:solidFill>
          <a:ln/>
        </p:spPr>
      </p:sp>
      <p:sp>
        <p:nvSpPr>
          <p:cNvPr id="18" name="Text 16"/>
          <p:cNvSpPr/>
          <p:nvPr/>
        </p:nvSpPr>
        <p:spPr>
          <a:xfrm>
            <a:off x="4892040" y="3017520"/>
            <a:ext cx="3474720" cy="182880"/>
          </a:xfrm>
          <a:prstGeom prst="rect">
            <a:avLst/>
          </a:prstGeom>
          <a:noFill/>
          <a:ln/>
        </p:spPr>
        <p:txBody>
          <a:bodyPr wrap="square" rtlCol="0" anchor="ctr"/>
          <a:lstStyle/>
          <a:p>
            <a:pPr indent="0" marL="0">
              <a:buNone/>
            </a:pPr>
            <a:r>
              <a:rPr lang="en-US" sz="700" dirty="0">
                <a:solidFill>
                  <a:srgbClr val="94A3B8"/>
                </a:solidFill>
                <a:latin typeface="Segoe UI" pitchFamily="34" charset="0"/>
                <a:ea typeface="Segoe UI" pitchFamily="34" charset="-122"/>
                <a:cs typeface="Segoe UI" pitchFamily="34" charset="-120"/>
              </a:rPr>
              <a:t>Producer Countersignature Line</a:t>
            </a:r>
            <a:endParaRPr lang="en-US" sz="700" dirty="0"/>
          </a:p>
        </p:txBody>
      </p:sp>
      <p:sp>
        <p:nvSpPr>
          <p:cNvPr id="19" name="Text 17"/>
          <p:cNvSpPr/>
          <p:nvPr/>
        </p:nvSpPr>
        <p:spPr>
          <a:xfrm>
            <a:off x="4892040" y="3291840"/>
            <a:ext cx="3474720" cy="32004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Ayaz</a:t>
            </a:r>
            <a:endParaRPr lang="en-US" sz="1200" dirty="0"/>
          </a:p>
        </p:txBody>
      </p:sp>
      <p:sp>
        <p:nvSpPr>
          <p:cNvPr id="20" name="Text 18"/>
          <p:cNvSpPr/>
          <p:nvPr/>
        </p:nvSpPr>
        <p:spPr>
          <a:xfrm>
            <a:off x="4892040" y="3657600"/>
            <a:ext cx="3474720" cy="868680"/>
          </a:xfrm>
          <a:prstGeom prst="rect">
            <a:avLst/>
          </a:prstGeom>
          <a:noFill/>
          <a:ln/>
        </p:spPr>
        <p:txBody>
          <a:bodyPr wrap="square" rtlCol="0" anchor="t"/>
          <a:lstStyle/>
          <a:p>
            <a:pPr indent="0" marL="0">
              <a:lnSpc>
                <a:spcPct val="130000"/>
              </a:lnSpc>
              <a:buNone/>
            </a:pPr>
            <a:r>
              <a:rPr lang="en-US" sz="800" dirty="0">
                <a:solidFill>
                  <a:srgbClr val="CBD5E1"/>
                </a:solidFill>
                <a:latin typeface="Segoe UI" pitchFamily="34" charset="0"/>
                <a:ea typeface="Segoe UI" pitchFamily="34" charset="-122"/>
                <a:cs typeface="Segoe UI" pitchFamily="34" charset="-120"/>
              </a:rPr>
              <a:t>Senior Account Manager &amp; Producer</a:t>
            </a:r>
            <a:endParaRPr lang="en-US" sz="800" dirty="0"/>
          </a:p>
          <a:p>
            <a:pPr indent="0" marL="0">
              <a:lnSpc>
                <a:spcPct val="130000"/>
              </a:lnSpc>
              <a:buNone/>
            </a:pPr>
            <a:r>
              <a:rPr lang="en-US" sz="800" dirty="0">
                <a:solidFill>
                  <a:srgbClr val="CBD5E1"/>
                </a:solidFill>
                <a:latin typeface="Segoe UI" pitchFamily="34" charset="0"/>
                <a:ea typeface="Segoe UI" pitchFamily="34" charset="-122"/>
                <a:cs typeface="Segoe UI" pitchFamily="34" charset="-120"/>
              </a:rPr>
              <a:t>Neo Gen Technologies (Creative &amp; Animation Division)</a:t>
            </a:r>
            <a:endParaRPr lang="en-US" sz="800" dirty="0"/>
          </a:p>
          <a:p>
            <a:pPr indent="0" marL="0">
              <a:lnSpc>
                <a:spcPct val="130000"/>
              </a:lnSpc>
              <a:buNone/>
            </a:pPr>
            <a:r>
              <a:rPr lang="en-US" sz="800" dirty="0">
                <a:solidFill>
                  <a:srgbClr val="CBD5E1"/>
                </a:solidFill>
                <a:latin typeface="Segoe UI" pitchFamily="34" charset="0"/>
                <a:ea typeface="Segoe UI" pitchFamily="34" charset="-122"/>
                <a:cs typeface="Segoe UI" pitchFamily="34" charset="-120"/>
              </a:rPr>
              <a:t>Direct Email: ayaz@neogentechnologies.com</a:t>
            </a:r>
            <a:endParaRPr lang="en-US" sz="800" dirty="0"/>
          </a:p>
          <a:p>
            <a:pPr indent="0" marL="0">
              <a:lnSpc>
                <a:spcPct val="130000"/>
              </a:lnSpc>
              <a:buNone/>
            </a:pPr>
            <a:r>
              <a:rPr lang="en-US" sz="800" dirty="0">
                <a:solidFill>
                  <a:srgbClr val="CBD5E1"/>
                </a:solidFill>
                <a:latin typeface="Segoe UI" pitchFamily="34" charset="0"/>
                <a:ea typeface="Segoe UI" pitchFamily="34" charset="-122"/>
                <a:cs typeface="Segoe UI" pitchFamily="34" charset="-120"/>
              </a:rPr>
              <a:t>Date: ____________________________________</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Neo Gen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Scope of Work: Rocky-The Rockefeller Christmas Tree</dc:title>
  <dc:subject>Executive 2D Animation &amp; Viral Vertical Series Master Proposal</dc:subject>
  <dc:creator>Neo Gen Technologies</dc:creator>
  <cp:lastModifiedBy>Neo Gen Technologies</cp:lastModifiedBy>
  <cp:revision>1</cp:revision>
  <dcterms:created xsi:type="dcterms:W3CDTF">2026-09-18T21:34:35Z</dcterms:created>
  <dcterms:modified xsi:type="dcterms:W3CDTF">2026-09-18T21:34:35Z</dcterms:modified>
</cp:coreProperties>
</file>